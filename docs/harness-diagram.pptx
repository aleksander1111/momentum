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 Terracotta Editorial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actions. Swipe right approves: one commit, verified; an implementable entity with nothing implementing it starts an implementation run. Swipe left sends back with a comment: a chat run works on the entity. Chat, run an automation on demand through the voice tools where its trigger allows, stop a run, manage projects, edit entities and change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everything works together. One loop per project. Triggers queue runs; each run works in the project's one working directory, on the main line, one run at a time; summarization turns its artifacts into cards; the consistency guard validates the transaction and lands it as one commit; the index follows the main line and the feed ranks what is unverified; the user approves, sends back or chats. A card the user commits needs no run and no guard: it lands as committed, with the verification its frontmatter says, unverified by default, and the consistency check reads it like any other. The runs the user starts wait only for the run working in their project, and go ahead of the queued automation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Entities. The unit of the knowledge base. The type is the path on disk. The entity is its card, within the character limit. References link entities and are walked by Graph RAG. A summary is an entity with artifacts beneath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types. Every entity has one of the types in docs/entity-types.tsv, grouped in domains, each with the colour and glyph the app shows; four examples per domain. The type is the path of the entity in the knowledge graph. The Harness domain holds the entities of Momentum itself: automations, triggers, issues, plans, research, patterns and reports of what runs removed. Wherever the app names an entity, in a card, a chat, an answer or a list, it shows this glyph and colour and opens it on a 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states. Verification is the user's judgement: approval verifies, any rewrite by a run makes the entity unverified again. Sync is the entity against its artifacts and implementation. Contradictions count the open contradiction issues over the 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Automations. Twelve automations around the knowledge graph, each with its trigger: schedule, event, the user, the Stop hook or enabling the project. Interview and search start only when the user asks; search answers in one turn and is not a run. A project has one working directory: its runs go one at a time there, the ones the user starts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Triggers. Nine automations have a trigger entity in each workspace, holding its schedule, its events and whether it starts on demand; the optimization trigger exists in the harness workspace only, and a trigger is in effect as it lands, before the user reviews it. Exploration every two hours, preparation every two hours at half past, validation at 02:00 and after every implementation, consistency check at 03:00, retention at 04:00, optimization at 05:00. An approved entity with nothing implementing it starts implementation; a finished implementation starts validation. Chat and interview start only when the user asks. Summarization runs in the Stop hook of every run, graph build while the project is enabled, and search answers in one turn without a run, so none of the three has a trigger entity. Scheduled loops and the graph build pause while the feed is at its limit; events still start their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management. Automations are configured through the knowledge base, not through settings. The definition is an entity in the harness workspace, one per automation, with the Claude Code files as its artifacts; the triggers are an entity per automation in each workspace. An edit the user commits lands on the main line as committed. A definition change optimization proposes passes the consistency guard and lands unverified: it is in effect as it lands, materialized into every project from the harness main line, and waits in the feed for the user's review; a trigger change is in effect as it lands in the same way. A project overrides an automation's prompt by committing its own agent file at the same automations/&lt;name&gt;/agents/ path to its main line: the project's file is materialized there in place of the harness's, as it lands, the commit message gives the reasons, and the timeline shows the override and its removal with that message; the other projects keep the shared definition. Optimization reads every chat and proposes a skill, memory, sub-agent or definition change only for a pattern seen at least three times, as a Harness/Pattern with its evidence; nothing is learnt from one chat. Runs start on demand through the voice tools, for automations whose trigger allows it, and stop from the chat; models and concurrency are settings, and the Settings tab leads to the rest in the knowledge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tools. What a run's agent can call. Claude Code's built-in tools work in the project's working directory with the project's settings. momentum-kb is an in-process MCP server over the knowledge base: search (full text, semantic, expanded along references), read, references, types, write (validated as it writes) and record_agent_metric. momentum-run carries what the run reports to the harness: the graph build's progress and documents, and an interview's next question. The summarization sub-agent takes the run's artifacts over through the Agent tool at Stop, and the harness checks it ran before trusting it. Hooks wrap the tools: after every write the consistency guard returns its issues at once; at Stop the run summarizes, fixes what the guard cannot accept and writes its commit message. The momentum MCP server over HTTP is not for runs: it gives the user's voice tools the API's handlers, ask included, without the UI; only reading a repository file, changing a logo and signing out have no tool. A question typed in the explorer search is not a run: the search finds the entities, and the search automation answers from them in one turn without tools, linking each it drew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Summarization. When a run stops, its Stop hook hands the artifacts it added, changed or deleted to the summarization sub-agent, which writes one summary entity per piece of work. Artifacts changed by the user's own commits make the entities over them artifact_ahead, and a summarization run rewrites their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completeness. How complete a project's knowledge graph is, measured by the harness on the main line and never estimated by a run: the mean of two halves. Understanding is the questions every product's graph must answer, eight slots, each filled by an entity of one of its types: what the product is, what it is for, what it does, how it is built, where the code is, where it runs, how it is tested, and what rules and decisions shape it. Territory is every area of the repository accounted for: a top-level directory, or each child of one that holds only directories, with the files at the root as one more. An area counts by its parts, its direct subdirectories and its own files, and weighs the logarithm of its file count. An entity accounts for a part by listing it, anything in it, or a directory above it as an artifact, so one card listing examples claims the whole of it. Cards of implementation-detail types, a file, a class, a function, claim nothing: the graph exists to spare the reader those. Each graph build run is told what is missing; it reports complete only once nothing missing can be filled from the repository. The Settings tab shows the score, the questions answered, the share of the repository accounted for and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guard. Every write is checked while the run works. When it ends, the transaction passes the guard: type, references, the links on each card, and diagrams in PlantUML, never mermaid. Everything lands as one commit; what fails carries an issue entity; in the harness repository a file outside the automation's scope is put back and named in it. The consistency check reads the knowledge graph only, never the artifacts, and counts contradictions on each 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types. The kinds of issue the consistency check raises over the knowledge graph. By rule: unresolved references, card links missing from the references, types outside entity-types.tsv or their directory. By reading, in three severities: high for contradiction, logical and ambiguity; medium for design gap, naming and repetition; low for verbose, struct and split. Each finding is its own issue entity, concerning the entity at fault first and the entities it clashes with, repeats or belongs with, with two to four options to resolve it; the check fixes nothing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resolution. Every issue the consistency check raises offers two to four options to resolve it, each a label and one sentence of what it changes, with the obviously best one recommended when there is one. The feed card shows them with the recommended option picked; a tap picks another. Swipe right resolves with the picked option, swipe left with the user's own resolution: either starts a chat run that applies it to the concerned entities and retires the issue, and the changed entities come back to the feed unverified. Won't resolve keeps the issue, verified, with the reason: the check does not raise it again and it no longer counts as a contradiction.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One branch per workspace, in one working directory: no worktree, no copy. A run works in the project's folder and lands as one commit on top of the main line as it stands there, on top of whatever the user committed meanwhile. Approval is one more commit, and the working directory follows it, merged into the files a run is changing. Runs queue one at a time per project; the user's chats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The Metrics tab, per project, over 24 hours, 7 days or 30 days, each metric charted over time. Usage is the account's share of the rolling 5-hour and weekly limits; each rise is split evenly among the runs running, so every automation shows what it used. Attention is the user's reactions: the time spent on a card, approvals, rejections, send-backs and the patterns accepted. Understanding and implementation are recorded with every validated transaction: consistency is the share of entities whose references all resolve, beside the open issues, the bugs not yet verified and synced, and the defects validation raised. Agents are the runs of each automation, their failures, time and usage, and the misalignments and recurring issues optimization records. Retrieval is rated by Haiku after every run that searched: precision, the calls that brought back something useful; coverage, how much of what the turn needed was found; their mean, the RAG score; and each tool's relevance against the best of the turn. A count nothing has measured yet is no data,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The Settings tab: theme on this device; included projects, each enabled or disabled, with its knowledge graph build; feed size, the items before loops pause; cards, the character limit and presentation rules; paths never summarized; lifetimes per entity type; concurrent runs in total; models, one for all, per automation or by implementation risk; and links into the knowledge graph, where the automations, entity types, risk rules, triggers and patterns are kept. Values shown are the harness defaults, with models shown by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slideLayout" Target="../slideLayouts/slideLayout1.xml"/><Relationship Id="rId1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Harness &amp; Products</a:t>
            </a:r>
            <a:endParaRPr lang="en-US" sz="2000" dirty="0"/>
          </a:p>
        </p:txBody>
      </p:sp>
      <p:sp>
        <p:nvSpPr>
          <p:cNvPr id="4" name="Text 1"/>
          <p:cNvSpPr txBox="1"/>
          <p:nvPr/>
        </p:nvSpPr>
        <p:spPr>
          <a:xfrm>
            <a:off x="320040" y="914400"/>
            <a:ext cx="2743200" cy="292608"/>
          </a:xfrm>
          <a:prstGeom prst="rect">
            <a:avLst/>
          </a:prstGeom>
          <a:noFill/>
          <a:ln/>
        </p:spPr>
        <p:txBody>
          <a:bodyPr wrap="square" lIns="0" tIns="0" rIns="0" bIns="0" rtlCol="0" anchor="ctr"/>
          <a:lstStyle/>
          <a:p>
            <a:pPr indent="0" marL="0">
              <a:buNone/>
            </a:pPr>
            <a:r>
              <a:rPr lang="en-US" sz="1500" b="1" dirty="0">
                <a:solidFill>
                  <a:srgbClr val="2F3E46"/>
                </a:solidFill>
                <a:latin typeface="Cambria" pitchFamily="34" charset="0"/>
                <a:ea typeface="Cambria" pitchFamily="34" charset="-122"/>
                <a:cs typeface="Cambria" pitchFamily="34" charset="-120"/>
              </a:rPr>
              <a:t>Harness</a:t>
            </a:r>
            <a:endParaRPr lang="en-US" sz="1500" dirty="0"/>
          </a:p>
        </p:txBody>
      </p:sp>
      <p:sp>
        <p:nvSpPr>
          <p:cNvPr id="5" name="Text 2"/>
          <p:cNvSpPr txBox="1"/>
          <p:nvPr/>
        </p:nvSpPr>
        <p:spPr>
          <a:xfrm>
            <a:off x="4389120" y="914400"/>
            <a:ext cx="2743200" cy="292608"/>
          </a:xfrm>
          <a:prstGeom prst="rect">
            <a:avLst/>
          </a:prstGeom>
          <a:noFill/>
          <a:ln/>
        </p:spPr>
        <p:txBody>
          <a:bodyPr wrap="square" lIns="0" tIns="0" rIns="0" bIns="0" rtlCol="0" anchor="ctr"/>
          <a:lstStyle/>
          <a:p>
            <a:pPr indent="0" marL="0">
              <a:buNone/>
            </a:pPr>
            <a:r>
              <a:rPr lang="en-US" sz="1500" b="1" dirty="0">
                <a:solidFill>
                  <a:srgbClr val="2F3E46"/>
                </a:solidFill>
                <a:latin typeface="Cambria" pitchFamily="34" charset="0"/>
                <a:ea typeface="Cambria" pitchFamily="34" charset="-122"/>
                <a:cs typeface="Cambria" pitchFamily="34" charset="-120"/>
              </a:rPr>
              <a:t>Products</a:t>
            </a:r>
            <a:endParaRPr lang="en-US" sz="1500" dirty="0"/>
          </a:p>
        </p:txBody>
      </p:sp>
      <p:sp>
        <p:nvSpPr>
          <p:cNvPr id="6" name="Shape 3"/>
          <p:cNvSpPr/>
          <p:nvPr/>
        </p:nvSpPr>
        <p:spPr>
          <a:xfrm>
            <a:off x="320040" y="1325880"/>
            <a:ext cx="1874520" cy="932688"/>
          </a:xfrm>
          <a:prstGeom prst="roundRect">
            <a:avLst>
              <a:gd name="adj" fmla="val 14706"/>
            </a:avLst>
          </a:prstGeom>
          <a:solidFill>
            <a:srgbClr val="EEF1EC"/>
          </a:solidFill>
          <a:ln/>
        </p:spPr>
      </p:sp>
      <p:sp>
        <p:nvSpPr>
          <p:cNvPr id="7" name="Text 4"/>
          <p:cNvSpPr txBox="1"/>
          <p:nvPr/>
        </p:nvSpPr>
        <p:spPr>
          <a:xfrm>
            <a:off x="320040" y="1325880"/>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Feed</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Ranked cards of all projects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Swipe right to approve</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Swipe left to send back</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Issues resolved by option</a:t>
            </a:r>
            <a:endParaRPr lang="en-US" sz="1000" dirty="0"/>
          </a:p>
        </p:txBody>
      </p:sp>
      <p:sp>
        <p:nvSpPr>
          <p:cNvPr id="8" name="Shape 5"/>
          <p:cNvSpPr/>
          <p:nvPr/>
        </p:nvSpPr>
        <p:spPr>
          <a:xfrm>
            <a:off x="1847088" y="1399032"/>
            <a:ext cx="274320" cy="27432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1915668" y="1467612"/>
            <a:ext cx="137160" cy="137160"/>
          </a:xfrm>
          <a:prstGeom prst="rect">
            <a:avLst/>
          </a:prstGeom>
        </p:spPr>
      </p:pic>
      <p:sp>
        <p:nvSpPr>
          <p:cNvPr id="10" name="Shape 6"/>
          <p:cNvSpPr/>
          <p:nvPr/>
        </p:nvSpPr>
        <p:spPr>
          <a:xfrm>
            <a:off x="2331720" y="1325880"/>
            <a:ext cx="1874520" cy="932688"/>
          </a:xfrm>
          <a:prstGeom prst="roundRect">
            <a:avLst>
              <a:gd name="adj" fmla="val 14706"/>
            </a:avLst>
          </a:prstGeom>
          <a:solidFill>
            <a:srgbClr val="EEF1EC"/>
          </a:solidFill>
          <a:ln/>
        </p:spPr>
      </p:sp>
      <p:sp>
        <p:nvSpPr>
          <p:cNvPr id="11" name="Text 7"/>
          <p:cNvSpPr txBox="1"/>
          <p:nvPr/>
        </p:nvSpPr>
        <p:spPr>
          <a:xfrm>
            <a:off x="2331720" y="1325880"/>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Explorer</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Domain and type tree</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Search by words, meaning</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Answers from the graph</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Linked entities</a:t>
            </a:r>
            <a:endParaRPr lang="en-US" sz="1000" dirty="0"/>
          </a:p>
        </p:txBody>
      </p:sp>
      <p:sp>
        <p:nvSpPr>
          <p:cNvPr id="12" name="Shape 8"/>
          <p:cNvSpPr/>
          <p:nvPr/>
        </p:nvSpPr>
        <p:spPr>
          <a:xfrm>
            <a:off x="3858768" y="1399032"/>
            <a:ext cx="274320" cy="27432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3927348" y="1467612"/>
            <a:ext cx="137160" cy="137160"/>
          </a:xfrm>
          <a:prstGeom prst="rect">
            <a:avLst/>
          </a:prstGeom>
        </p:spPr>
      </p:pic>
      <p:sp>
        <p:nvSpPr>
          <p:cNvPr id="14" name="Shape 9"/>
          <p:cNvSpPr/>
          <p:nvPr/>
        </p:nvSpPr>
        <p:spPr>
          <a:xfrm>
            <a:off x="320040" y="2350008"/>
            <a:ext cx="1874520" cy="932688"/>
          </a:xfrm>
          <a:prstGeom prst="roundRect">
            <a:avLst>
              <a:gd name="adj" fmla="val 14706"/>
            </a:avLst>
          </a:prstGeom>
          <a:solidFill>
            <a:srgbClr val="EEF1EC"/>
          </a:solidFill>
          <a:ln/>
        </p:spPr>
      </p:sp>
      <p:sp>
        <p:nvSpPr>
          <p:cNvPr id="15" name="Text 10"/>
          <p:cNvSpPr txBox="1"/>
          <p:nvPr/>
        </p:nvSpPr>
        <p:spPr>
          <a:xfrm>
            <a:off x="320040" y="2350008"/>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Chat</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Chats and interviews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Card parts as context</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Spoken by the mic</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Stop at any time</a:t>
            </a:r>
            <a:endParaRPr lang="en-US" sz="1000" dirty="0"/>
          </a:p>
        </p:txBody>
      </p:sp>
      <p:sp>
        <p:nvSpPr>
          <p:cNvPr id="16" name="Shape 11"/>
          <p:cNvSpPr/>
          <p:nvPr/>
        </p:nvSpPr>
        <p:spPr>
          <a:xfrm>
            <a:off x="1847088" y="2423160"/>
            <a:ext cx="274320" cy="27432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1915668" y="2491740"/>
            <a:ext cx="137160" cy="137160"/>
          </a:xfrm>
          <a:prstGeom prst="rect">
            <a:avLst/>
          </a:prstGeom>
        </p:spPr>
      </p:pic>
      <p:sp>
        <p:nvSpPr>
          <p:cNvPr id="18" name="Shape 12"/>
          <p:cNvSpPr/>
          <p:nvPr/>
        </p:nvSpPr>
        <p:spPr>
          <a:xfrm>
            <a:off x="2331720" y="2350008"/>
            <a:ext cx="1874520" cy="932688"/>
          </a:xfrm>
          <a:prstGeom prst="roundRect">
            <a:avLst>
              <a:gd name="adj" fmla="val 14706"/>
            </a:avLst>
          </a:prstGeom>
          <a:solidFill>
            <a:srgbClr val="EEF1EC"/>
          </a:solidFill>
          <a:ln/>
        </p:spPr>
      </p:sp>
      <p:sp>
        <p:nvSpPr>
          <p:cNvPr id="19" name="Text 13"/>
          <p:cNvSpPr txBox="1"/>
          <p:nvPr/>
        </p:nvSpPr>
        <p:spPr>
          <a:xfrm>
            <a:off x="2331720" y="2350008"/>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Timeline</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What you did</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One event per run</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What runs removed</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What the harness did</a:t>
            </a:r>
            <a:endParaRPr lang="en-US" sz="1000" dirty="0"/>
          </a:p>
        </p:txBody>
      </p:sp>
      <p:sp>
        <p:nvSpPr>
          <p:cNvPr id="20" name="Shape 14"/>
          <p:cNvSpPr/>
          <p:nvPr/>
        </p:nvSpPr>
        <p:spPr>
          <a:xfrm>
            <a:off x="3858768" y="2423160"/>
            <a:ext cx="274320" cy="27432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3927348" y="2491740"/>
            <a:ext cx="137160" cy="137160"/>
          </a:xfrm>
          <a:prstGeom prst="rect">
            <a:avLst/>
          </a:prstGeom>
        </p:spPr>
      </p:pic>
      <p:sp>
        <p:nvSpPr>
          <p:cNvPr id="22" name="Shape 15"/>
          <p:cNvSpPr/>
          <p:nvPr/>
        </p:nvSpPr>
        <p:spPr>
          <a:xfrm>
            <a:off x="320040" y="3374136"/>
            <a:ext cx="1874520" cy="932688"/>
          </a:xfrm>
          <a:prstGeom prst="roundRect">
            <a:avLst>
              <a:gd name="adj" fmla="val 14706"/>
            </a:avLst>
          </a:prstGeom>
          <a:solidFill>
            <a:srgbClr val="EEF1EC"/>
          </a:solidFill>
          <a:ln/>
        </p:spPr>
      </p:sp>
      <p:sp>
        <p:nvSpPr>
          <p:cNvPr id="23" name="Text 16"/>
          <p:cNvSpPr txBox="1"/>
          <p:nvPr/>
        </p:nvSpPr>
        <p:spPr>
          <a:xfrm>
            <a:off x="320040" y="3374136"/>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Metrics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Share of the usage limits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Entities by state</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Runs per automation</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24 h, 7 d or 30 d</a:t>
            </a:r>
            <a:endParaRPr lang="en-US" sz="1000" dirty="0"/>
          </a:p>
        </p:txBody>
      </p:sp>
      <p:sp>
        <p:nvSpPr>
          <p:cNvPr id="24" name="Shape 17"/>
          <p:cNvSpPr/>
          <p:nvPr/>
        </p:nvSpPr>
        <p:spPr>
          <a:xfrm>
            <a:off x="1847088" y="3447288"/>
            <a:ext cx="274320" cy="274320"/>
          </a:xfrm>
          <a:prstGeom prst="ellipse">
            <a:avLst/>
          </a:prstGeom>
          <a:solidFill>
            <a:srgbClr val="FFFFFF"/>
          </a:solidFill>
          <a:ln/>
        </p:spPr>
      </p:sp>
      <p:pic>
        <p:nvPicPr>
          <p:cNvPr id="25" name="Image 4" descr="preencoded.png">    </p:cNvPr>
          <p:cNvPicPr>
            <a:picLocks noChangeAspect="1"/>
          </p:cNvPicPr>
          <p:nvPr/>
        </p:nvPicPr>
        <p:blipFill>
          <a:blip r:embed="rId5"/>
          <a:stretch>
            <a:fillRect/>
          </a:stretch>
        </p:blipFill>
        <p:spPr>
          <a:xfrm>
            <a:off x="1915668" y="3515868"/>
            <a:ext cx="137160" cy="137160"/>
          </a:xfrm>
          <a:prstGeom prst="rect">
            <a:avLst/>
          </a:prstGeom>
        </p:spPr>
      </p:pic>
      <p:sp>
        <p:nvSpPr>
          <p:cNvPr id="26" name="Shape 18"/>
          <p:cNvSpPr/>
          <p:nvPr/>
        </p:nvSpPr>
        <p:spPr>
          <a:xfrm>
            <a:off x="2331720" y="3374136"/>
            <a:ext cx="1874520" cy="932688"/>
          </a:xfrm>
          <a:prstGeom prst="roundRect">
            <a:avLst>
              <a:gd name="adj" fmla="val 14706"/>
            </a:avLst>
          </a:prstGeom>
          <a:solidFill>
            <a:srgbClr val="EEF1EC"/>
          </a:solidFill>
          <a:ln/>
        </p:spPr>
      </p:sp>
      <p:sp>
        <p:nvSpPr>
          <p:cNvPr id="27" name="Text 19"/>
          <p:cNvSpPr txBox="1"/>
          <p:nvPr/>
        </p:nvSpPr>
        <p:spPr>
          <a:xfrm>
            <a:off x="2331720" y="3374136"/>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Settings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Projects and graph build</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Feed size</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Cards and lifetimes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Concurrent runs</a:t>
            </a:r>
            <a:endParaRPr lang="en-US" sz="1000" dirty="0"/>
          </a:p>
        </p:txBody>
      </p:sp>
      <p:sp>
        <p:nvSpPr>
          <p:cNvPr id="28" name="Shape 20"/>
          <p:cNvSpPr/>
          <p:nvPr/>
        </p:nvSpPr>
        <p:spPr>
          <a:xfrm>
            <a:off x="3858768" y="3447288"/>
            <a:ext cx="274320" cy="274320"/>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3927348" y="3515868"/>
            <a:ext cx="137160" cy="137160"/>
          </a:xfrm>
          <a:prstGeom prst="rect">
            <a:avLst/>
          </a:prstGeom>
        </p:spPr>
      </p:pic>
      <p:sp>
        <p:nvSpPr>
          <p:cNvPr id="30" name="Shape 21"/>
          <p:cNvSpPr/>
          <p:nvPr/>
        </p:nvSpPr>
        <p:spPr>
          <a:xfrm>
            <a:off x="320040" y="4398264"/>
            <a:ext cx="1874520" cy="932688"/>
          </a:xfrm>
          <a:prstGeom prst="roundRect">
            <a:avLst>
              <a:gd name="adj" fmla="val 14706"/>
            </a:avLst>
          </a:prstGeom>
          <a:solidFill>
            <a:srgbClr val="EEF1EC"/>
          </a:solidFill>
          <a:ln/>
        </p:spPr>
      </p:sp>
      <p:sp>
        <p:nvSpPr>
          <p:cNvPr id="31" name="Text 22"/>
          <p:cNvSpPr txBox="1"/>
          <p:nvPr/>
        </p:nvSpPr>
        <p:spPr>
          <a:xfrm>
            <a:off x="320040" y="4398264"/>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API</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Typed routes, OpenAPI</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Session on every route but sign-in</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Voice sockets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MCP tools</a:t>
            </a:r>
            <a:endParaRPr lang="en-US" sz="1000" dirty="0"/>
          </a:p>
        </p:txBody>
      </p:sp>
      <p:sp>
        <p:nvSpPr>
          <p:cNvPr id="32" name="Shape 23"/>
          <p:cNvSpPr/>
          <p:nvPr/>
        </p:nvSpPr>
        <p:spPr>
          <a:xfrm>
            <a:off x="1847088" y="4471416"/>
            <a:ext cx="274320" cy="274320"/>
          </a:xfrm>
          <a:prstGeom prst="ellipse">
            <a:avLst/>
          </a:prstGeom>
          <a:solidFill>
            <a:srgbClr val="FFFFFF"/>
          </a:solidFill>
          <a:ln/>
        </p:spPr>
      </p:sp>
      <p:pic>
        <p:nvPicPr>
          <p:cNvPr id="33" name="Image 6" descr="preencoded.png">    </p:cNvPr>
          <p:cNvPicPr>
            <a:picLocks noChangeAspect="1"/>
          </p:cNvPicPr>
          <p:nvPr/>
        </p:nvPicPr>
        <p:blipFill>
          <a:blip r:embed="rId7"/>
          <a:stretch>
            <a:fillRect/>
          </a:stretch>
        </p:blipFill>
        <p:spPr>
          <a:xfrm>
            <a:off x="1915668" y="4539996"/>
            <a:ext cx="137160" cy="137160"/>
          </a:xfrm>
          <a:prstGeom prst="rect">
            <a:avLst/>
          </a:prstGeom>
        </p:spPr>
      </p:pic>
      <p:sp>
        <p:nvSpPr>
          <p:cNvPr id="34" name="Shape 24"/>
          <p:cNvSpPr/>
          <p:nvPr/>
        </p:nvSpPr>
        <p:spPr>
          <a:xfrm>
            <a:off x="2331720" y="4398264"/>
            <a:ext cx="1874520" cy="932688"/>
          </a:xfrm>
          <a:prstGeom prst="roundRect">
            <a:avLst>
              <a:gd name="adj" fmla="val 14706"/>
            </a:avLst>
          </a:prstGeom>
          <a:solidFill>
            <a:srgbClr val="EEF1EC"/>
          </a:solidFill>
          <a:ln/>
        </p:spPr>
      </p:sp>
      <p:sp>
        <p:nvSpPr>
          <p:cNvPr id="35" name="Text 25"/>
          <p:cNvSpPr txBox="1"/>
          <p:nvPr/>
        </p:nvSpPr>
        <p:spPr>
          <a:xfrm>
            <a:off x="2331720" y="4398264"/>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Orchestrator</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Triggers due, feed room left</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Events start runs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One run per project</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Your runs first</a:t>
            </a:r>
            <a:endParaRPr lang="en-US" sz="1000" dirty="0"/>
          </a:p>
        </p:txBody>
      </p:sp>
      <p:sp>
        <p:nvSpPr>
          <p:cNvPr id="36" name="Shape 26"/>
          <p:cNvSpPr/>
          <p:nvPr/>
        </p:nvSpPr>
        <p:spPr>
          <a:xfrm>
            <a:off x="3858768" y="4471416"/>
            <a:ext cx="274320" cy="274320"/>
          </a:xfrm>
          <a:prstGeom prst="ellipse">
            <a:avLst/>
          </a:prstGeom>
          <a:solidFill>
            <a:srgbClr val="FFFFFF"/>
          </a:solidFill>
          <a:ln/>
        </p:spPr>
      </p:sp>
      <p:pic>
        <p:nvPicPr>
          <p:cNvPr id="37" name="Image 7" descr="preencoded.png">    </p:cNvPr>
          <p:cNvPicPr>
            <a:picLocks noChangeAspect="1"/>
          </p:cNvPicPr>
          <p:nvPr/>
        </p:nvPicPr>
        <p:blipFill>
          <a:blip r:embed="rId8"/>
          <a:stretch>
            <a:fillRect/>
          </a:stretch>
        </p:blipFill>
        <p:spPr>
          <a:xfrm>
            <a:off x="3927348" y="4539996"/>
            <a:ext cx="137160" cy="137160"/>
          </a:xfrm>
          <a:prstGeom prst="rect">
            <a:avLst/>
          </a:prstGeom>
        </p:spPr>
      </p:pic>
      <p:sp>
        <p:nvSpPr>
          <p:cNvPr id="38" name="Shape 27"/>
          <p:cNvSpPr/>
          <p:nvPr/>
        </p:nvSpPr>
        <p:spPr>
          <a:xfrm>
            <a:off x="320040" y="5422392"/>
            <a:ext cx="1874520" cy="932688"/>
          </a:xfrm>
          <a:prstGeom prst="roundRect">
            <a:avLst>
              <a:gd name="adj" fmla="val 14706"/>
            </a:avLst>
          </a:prstGeom>
          <a:solidFill>
            <a:srgbClr val="EEF1EC"/>
          </a:solidFill>
          <a:ln/>
        </p:spPr>
      </p:sp>
      <p:sp>
        <p:nvSpPr>
          <p:cNvPr id="39" name="Text 28"/>
          <p:cNvSpPr txBox="1"/>
          <p:nvPr/>
        </p:nvSpPr>
        <p:spPr>
          <a:xfrm>
            <a:off x="320040" y="5422392"/>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Runner</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Claude Code, one per run</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In the project folder</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Stop hook summarizes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Lost runs resume</a:t>
            </a:r>
            <a:endParaRPr lang="en-US" sz="1000" dirty="0"/>
          </a:p>
        </p:txBody>
      </p:sp>
      <p:sp>
        <p:nvSpPr>
          <p:cNvPr id="40" name="Shape 29"/>
          <p:cNvSpPr/>
          <p:nvPr/>
        </p:nvSpPr>
        <p:spPr>
          <a:xfrm>
            <a:off x="1847088" y="5495544"/>
            <a:ext cx="274320" cy="274320"/>
          </a:xfrm>
          <a:prstGeom prst="ellipse">
            <a:avLst/>
          </a:prstGeom>
          <a:solidFill>
            <a:srgbClr val="FFFFFF"/>
          </a:solidFill>
          <a:ln/>
        </p:spPr>
      </p:sp>
      <p:pic>
        <p:nvPicPr>
          <p:cNvPr id="41" name="Image 8" descr="preencoded.png">    </p:cNvPr>
          <p:cNvPicPr>
            <a:picLocks noChangeAspect="1"/>
          </p:cNvPicPr>
          <p:nvPr/>
        </p:nvPicPr>
        <p:blipFill>
          <a:blip r:embed="rId9"/>
          <a:stretch>
            <a:fillRect/>
          </a:stretch>
        </p:blipFill>
        <p:spPr>
          <a:xfrm>
            <a:off x="1915668" y="5564124"/>
            <a:ext cx="137160" cy="137160"/>
          </a:xfrm>
          <a:prstGeom prst="rect">
            <a:avLst/>
          </a:prstGeom>
        </p:spPr>
      </p:pic>
      <p:sp>
        <p:nvSpPr>
          <p:cNvPr id="42" name="Shape 30"/>
          <p:cNvSpPr/>
          <p:nvPr/>
        </p:nvSpPr>
        <p:spPr>
          <a:xfrm>
            <a:off x="2331720" y="5422392"/>
            <a:ext cx="1874520" cy="932688"/>
          </a:xfrm>
          <a:prstGeom prst="roundRect">
            <a:avLst>
              <a:gd name="adj" fmla="val 14706"/>
            </a:avLst>
          </a:prstGeom>
          <a:solidFill>
            <a:srgbClr val="EEF1EC"/>
          </a:solidFill>
          <a:ln/>
        </p:spPr>
      </p:sp>
      <p:sp>
        <p:nvSpPr>
          <p:cNvPr id="43" name="Text 31"/>
          <p:cNvSpPr txBox="1"/>
          <p:nvPr/>
        </p:nvSpPr>
        <p:spPr>
          <a:xfrm>
            <a:off x="2331720" y="5422392"/>
            <a:ext cx="1527048" cy="932688"/>
          </a:xfrm>
          <a:prstGeom prst="rect">
            <a:avLst/>
          </a:prstGeom>
          <a:noFill/>
          <a:ln/>
        </p:spPr>
        <p:txBody>
          <a:bodyPr wrap="square" lIns="101600" tIns="38100" rIns="76200" bIns="50800" rtlCol="0" anchor="t"/>
          <a:lstStyle/>
          <a:p>
            <a:pPr indent="0" marL="0">
              <a:spcAft>
                <a:spcPts val="200"/>
              </a:spcAft>
              <a:buNone/>
            </a:pPr>
            <a:r>
              <a:rPr lang="en-US" sz="1000" b="1" dirty="0">
                <a:solidFill>
                  <a:srgbClr val="2F3E46"/>
                </a:solidFill>
                <a:latin typeface="Cambria" pitchFamily="34" charset="0"/>
                <a:ea typeface="Cambria" pitchFamily="34" charset="-122"/>
                <a:cs typeface="Cambria" pitchFamily="34" charset="-120"/>
              </a:rPr>
              <a:t>Consistency Guard</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Checks every write</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One commit per run</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Issues and reports</a:t>
            </a:r>
            <a:endParaRPr lang="en-US" sz="1000" dirty="0"/>
          </a:p>
          <a:p>
            <a:pPr indent="0" marL="0">
              <a:buNone/>
            </a:pPr>
            <a:r>
              <a:rPr lang="en-US" sz="900" dirty="0">
                <a:solidFill>
                  <a:srgbClr val="52606A"/>
                </a:solidFill>
                <a:latin typeface="Calibri" pitchFamily="34" charset="0"/>
                <a:ea typeface="Calibri" pitchFamily="34" charset="-122"/>
                <a:cs typeface="Calibri" pitchFamily="34" charset="-120"/>
              </a:rPr>
              <a:t>Index true to the main line</a:t>
            </a:r>
            <a:endParaRPr lang="en-US" sz="1000" dirty="0"/>
          </a:p>
        </p:txBody>
      </p:sp>
      <p:sp>
        <p:nvSpPr>
          <p:cNvPr id="44" name="Shape 32"/>
          <p:cNvSpPr/>
          <p:nvPr/>
        </p:nvSpPr>
        <p:spPr>
          <a:xfrm>
            <a:off x="3858768" y="5495544"/>
            <a:ext cx="274320" cy="274320"/>
          </a:xfrm>
          <a:prstGeom prst="ellipse">
            <a:avLst/>
          </a:prstGeom>
          <a:solidFill>
            <a:srgbClr val="FFFFFF"/>
          </a:solidFill>
          <a:ln/>
        </p:spPr>
      </p:sp>
      <p:pic>
        <p:nvPicPr>
          <p:cNvPr id="45" name="Image 9" descr="preencoded.png">    </p:cNvPr>
          <p:cNvPicPr>
            <a:picLocks noChangeAspect="1"/>
          </p:cNvPicPr>
          <p:nvPr/>
        </p:nvPicPr>
        <p:blipFill>
          <a:blip r:embed="rId10"/>
          <a:stretch>
            <a:fillRect/>
          </a:stretch>
        </p:blipFill>
        <p:spPr>
          <a:xfrm>
            <a:off x="3927348" y="5564124"/>
            <a:ext cx="137160" cy="137160"/>
          </a:xfrm>
          <a:prstGeom prst="rect">
            <a:avLst/>
          </a:prstGeom>
        </p:spPr>
      </p:pic>
      <p:sp>
        <p:nvSpPr>
          <p:cNvPr id="46" name="Shape 33"/>
          <p:cNvSpPr/>
          <p:nvPr/>
        </p:nvSpPr>
        <p:spPr>
          <a:xfrm>
            <a:off x="4389120" y="1325880"/>
            <a:ext cx="7498080" cy="1600200"/>
          </a:xfrm>
          <a:prstGeom prst="roundRect">
            <a:avLst>
              <a:gd name="adj" fmla="val 8571"/>
            </a:avLst>
          </a:prstGeom>
          <a:solidFill>
            <a:srgbClr val="F4DCD6"/>
          </a:solidFill>
          <a:ln/>
        </p:spPr>
      </p:sp>
      <p:sp>
        <p:nvSpPr>
          <p:cNvPr id="47" name="Text 34"/>
          <p:cNvSpPr txBox="1"/>
          <p:nvPr/>
        </p:nvSpPr>
        <p:spPr>
          <a:xfrm>
            <a:off x="10625328" y="1975104"/>
            <a:ext cx="1188720" cy="256032"/>
          </a:xfrm>
          <a:prstGeom prst="roundRect">
            <a:avLst>
              <a:gd name="adj" fmla="val 46429"/>
            </a:avLst>
          </a:prstGeom>
          <a:solidFill>
            <a:srgbClr val="FFFFFF"/>
          </a:solidFill>
          <a:ln/>
        </p:spPr>
        <p:txBody>
          <a:bodyPr wrap="square" lIns="0" tIns="0" rIns="0" bIns="0" rtlCol="0" anchor="ctr"/>
          <a:lstStyle/>
          <a:p>
            <a:pPr algn="ctr" indent="0" marL="0">
              <a:buNone/>
            </a:pPr>
            <a:r>
              <a:rPr lang="en-US" sz="850" b="1" dirty="0">
                <a:solidFill>
                  <a:srgbClr val="A0402F"/>
                </a:solidFill>
                <a:latin typeface="Calibri" pitchFamily="34" charset="0"/>
                <a:ea typeface="Calibri" pitchFamily="34" charset="-122"/>
                <a:cs typeface="Calibri" pitchFamily="34" charset="-120"/>
              </a:rPr>
              <a:t>Attention Layer</a:t>
            </a:r>
            <a:endParaRPr lang="en-US" sz="850" dirty="0"/>
          </a:p>
        </p:txBody>
      </p:sp>
      <p:sp>
        <p:nvSpPr>
          <p:cNvPr id="48" name="Shape 35"/>
          <p:cNvSpPr/>
          <p:nvPr/>
        </p:nvSpPr>
        <p:spPr>
          <a:xfrm>
            <a:off x="4389120" y="3017520"/>
            <a:ext cx="7498080" cy="1005840"/>
          </a:xfrm>
          <a:prstGeom prst="roundRect">
            <a:avLst>
              <a:gd name="adj" fmla="val 13636"/>
            </a:avLst>
          </a:prstGeom>
          <a:solidFill>
            <a:srgbClr val="EFE8D2"/>
          </a:solidFill>
          <a:ln/>
        </p:spPr>
      </p:sp>
      <p:sp>
        <p:nvSpPr>
          <p:cNvPr id="49" name="Text 36"/>
          <p:cNvSpPr txBox="1"/>
          <p:nvPr/>
        </p:nvSpPr>
        <p:spPr>
          <a:xfrm>
            <a:off x="10625328" y="3392424"/>
            <a:ext cx="1188720" cy="256032"/>
          </a:xfrm>
          <a:prstGeom prst="roundRect">
            <a:avLst>
              <a:gd name="adj" fmla="val 46429"/>
            </a:avLst>
          </a:prstGeom>
          <a:solidFill>
            <a:srgbClr val="FFFFFF"/>
          </a:solidFill>
          <a:ln/>
        </p:spPr>
        <p:txBody>
          <a:bodyPr wrap="square" lIns="0" tIns="0" rIns="0" bIns="0" rtlCol="0" anchor="ctr"/>
          <a:lstStyle/>
          <a:p>
            <a:pPr algn="ctr" indent="0" marL="0">
              <a:buNone/>
            </a:pPr>
            <a:r>
              <a:rPr lang="en-US" sz="850" b="1" dirty="0">
                <a:solidFill>
                  <a:srgbClr val="7C6224"/>
                </a:solidFill>
                <a:latin typeface="Calibri" pitchFamily="34" charset="0"/>
                <a:ea typeface="Calibri" pitchFamily="34" charset="-122"/>
                <a:cs typeface="Calibri" pitchFamily="34" charset="-120"/>
              </a:rPr>
              <a:t>Understanding Layer</a:t>
            </a:r>
            <a:endParaRPr lang="en-US" sz="850" dirty="0"/>
          </a:p>
        </p:txBody>
      </p:sp>
      <p:sp>
        <p:nvSpPr>
          <p:cNvPr id="50" name="Shape 37"/>
          <p:cNvSpPr/>
          <p:nvPr/>
        </p:nvSpPr>
        <p:spPr>
          <a:xfrm>
            <a:off x="4389120" y="4114800"/>
            <a:ext cx="7498080" cy="2240280"/>
          </a:xfrm>
          <a:prstGeom prst="roundRect">
            <a:avLst>
              <a:gd name="adj" fmla="val 6122"/>
            </a:avLst>
          </a:prstGeom>
          <a:solidFill>
            <a:srgbClr val="DCE7DF"/>
          </a:solidFill>
          <a:ln/>
        </p:spPr>
      </p:sp>
      <p:sp>
        <p:nvSpPr>
          <p:cNvPr id="51" name="Text 38"/>
          <p:cNvSpPr txBox="1"/>
          <p:nvPr/>
        </p:nvSpPr>
        <p:spPr>
          <a:xfrm>
            <a:off x="10625328" y="4855464"/>
            <a:ext cx="1188720" cy="256032"/>
          </a:xfrm>
          <a:prstGeom prst="roundRect">
            <a:avLst>
              <a:gd name="adj" fmla="val 46429"/>
            </a:avLst>
          </a:prstGeom>
          <a:solidFill>
            <a:srgbClr val="FFFFFF"/>
          </a:solidFill>
          <a:ln/>
        </p:spPr>
        <p:txBody>
          <a:bodyPr wrap="square" lIns="0" tIns="0" rIns="0" bIns="0" rtlCol="0" anchor="ctr"/>
          <a:lstStyle/>
          <a:p>
            <a:pPr algn="ctr" indent="0" marL="0">
              <a:buNone/>
            </a:pPr>
            <a:r>
              <a:rPr lang="en-US" sz="850" b="1" dirty="0">
                <a:solidFill>
                  <a:srgbClr val="3F6B52"/>
                </a:solidFill>
                <a:latin typeface="Calibri" pitchFamily="34" charset="0"/>
                <a:ea typeface="Calibri" pitchFamily="34" charset="-122"/>
                <a:cs typeface="Calibri" pitchFamily="34" charset="-120"/>
              </a:rPr>
              <a:t>Implementation Layer</a:t>
            </a:r>
            <a:endParaRPr lang="en-US" sz="850" dirty="0"/>
          </a:p>
        </p:txBody>
      </p:sp>
      <p:sp>
        <p:nvSpPr>
          <p:cNvPr id="52" name="Shape 39"/>
          <p:cNvSpPr/>
          <p:nvPr/>
        </p:nvSpPr>
        <p:spPr>
          <a:xfrm>
            <a:off x="8138160" y="2020824"/>
            <a:ext cx="0" cy="4334256"/>
          </a:xfrm>
          <a:prstGeom prst="line">
            <a:avLst/>
          </a:prstGeom>
          <a:noFill/>
          <a:ln w="19050">
            <a:solidFill>
              <a:srgbClr val="A0402F"/>
            </a:solidFill>
            <a:prstDash val="dash"/>
          </a:ln>
        </p:spPr>
      </p:sp>
      <p:sp>
        <p:nvSpPr>
          <p:cNvPr id="53" name="Text 40"/>
          <p:cNvSpPr txBox="1"/>
          <p:nvPr/>
        </p:nvSpPr>
        <p:spPr>
          <a:xfrm>
            <a:off x="6236208" y="1417320"/>
            <a:ext cx="1005840" cy="274320"/>
          </a:xfrm>
          <a:prstGeom prst="rect">
            <a:avLst/>
          </a:prstGeom>
          <a:noFill/>
          <a:ln/>
        </p:spPr>
        <p:txBody>
          <a:bodyPr wrap="square" lIns="0" tIns="0" rIns="0" bIns="0" rtlCol="0" anchor="ctr"/>
          <a:lstStyle/>
          <a:p>
            <a:pPr algn="l" indent="0" marL="0">
              <a:buNone/>
            </a:pPr>
            <a:r>
              <a:rPr lang="en-US" sz="1200" b="1" dirty="0">
                <a:solidFill>
                  <a:srgbClr val="8A6D2B"/>
                </a:solidFill>
                <a:latin typeface="Cambria" pitchFamily="34" charset="0"/>
                <a:ea typeface="Cambria" pitchFamily="34" charset="-122"/>
                <a:cs typeface="Cambria" pitchFamily="34" charset="-120"/>
              </a:rPr>
              <a:t>Unverified</a:t>
            </a:r>
            <a:endParaRPr lang="en-US" sz="1200" dirty="0"/>
          </a:p>
        </p:txBody>
      </p:sp>
      <p:pic>
        <p:nvPicPr>
          <p:cNvPr id="54" name="Image 10" descr="preencoded.png">    </p:cNvPr>
          <p:cNvPicPr>
            <a:picLocks noChangeAspect="1"/>
          </p:cNvPicPr>
          <p:nvPr/>
        </p:nvPicPr>
        <p:blipFill>
          <a:blip r:embed="rId11"/>
          <a:stretch>
            <a:fillRect/>
          </a:stretch>
        </p:blipFill>
        <p:spPr>
          <a:xfrm>
            <a:off x="5989320" y="1463040"/>
            <a:ext cx="182880" cy="182880"/>
          </a:xfrm>
          <a:prstGeom prst="rect">
            <a:avLst/>
          </a:prstGeom>
        </p:spPr>
      </p:pic>
      <p:sp>
        <p:nvSpPr>
          <p:cNvPr id="55" name="Text 41"/>
          <p:cNvSpPr txBox="1"/>
          <p:nvPr/>
        </p:nvSpPr>
        <p:spPr>
          <a:xfrm>
            <a:off x="9518904" y="1417320"/>
            <a:ext cx="1005840" cy="274320"/>
          </a:xfrm>
          <a:prstGeom prst="rect">
            <a:avLst/>
          </a:prstGeom>
          <a:noFill/>
          <a:ln/>
        </p:spPr>
        <p:txBody>
          <a:bodyPr wrap="square" lIns="0" tIns="0" rIns="0" bIns="0" rtlCol="0" anchor="ctr"/>
          <a:lstStyle/>
          <a:p>
            <a:pPr algn="l" indent="0" marL="0">
              <a:buNone/>
            </a:pPr>
            <a:r>
              <a:rPr lang="en-US" sz="1200" b="1" dirty="0">
                <a:solidFill>
                  <a:srgbClr val="3F6B52"/>
                </a:solidFill>
                <a:latin typeface="Cambria" pitchFamily="34" charset="0"/>
                <a:ea typeface="Cambria" pitchFamily="34" charset="-122"/>
                <a:cs typeface="Cambria" pitchFamily="34" charset="-120"/>
              </a:rPr>
              <a:t>Verified</a:t>
            </a:r>
            <a:endParaRPr lang="en-US" sz="1200" dirty="0"/>
          </a:p>
        </p:txBody>
      </p:sp>
      <p:pic>
        <p:nvPicPr>
          <p:cNvPr id="56" name="Image 11" descr="preencoded.png">    </p:cNvPr>
          <p:cNvPicPr>
            <a:picLocks noChangeAspect="1"/>
          </p:cNvPicPr>
          <p:nvPr/>
        </p:nvPicPr>
        <p:blipFill>
          <a:blip r:embed="rId12"/>
          <a:stretch>
            <a:fillRect/>
          </a:stretch>
        </p:blipFill>
        <p:spPr>
          <a:xfrm>
            <a:off x="9272016" y="1463040"/>
            <a:ext cx="182880" cy="182880"/>
          </a:xfrm>
          <a:prstGeom prst="rect">
            <a:avLst/>
          </a:prstGeom>
        </p:spPr>
      </p:pic>
      <p:sp>
        <p:nvSpPr>
          <p:cNvPr id="57" name="Text 42"/>
          <p:cNvSpPr txBox="1"/>
          <p:nvPr/>
        </p:nvSpPr>
        <p:spPr>
          <a:xfrm>
            <a:off x="7360920" y="6400800"/>
            <a:ext cx="1554480" cy="274320"/>
          </a:xfrm>
          <a:prstGeom prst="rect">
            <a:avLst/>
          </a:prstGeom>
          <a:noFill/>
          <a:ln/>
        </p:spPr>
        <p:txBody>
          <a:bodyPr wrap="square" lIns="0" tIns="0" rIns="0" bIns="0" rtlCol="0" anchor="ctr"/>
          <a:lstStyle/>
          <a:p>
            <a:pPr algn="ctr" indent="0" marL="0">
              <a:buNone/>
            </a:pPr>
            <a:r>
              <a:rPr lang="en-US" sz="1000" i="1" dirty="0">
                <a:solidFill>
                  <a:srgbClr val="A0402F"/>
                </a:solidFill>
                <a:latin typeface="Calibri" pitchFamily="34" charset="0"/>
                <a:ea typeface="Calibri" pitchFamily="34" charset="-122"/>
                <a:cs typeface="Calibri" pitchFamily="34" charset="-120"/>
              </a:rPr>
              <a:t>Consistency border</a:t>
            </a:r>
            <a:endParaRPr lang="en-US" sz="1000" dirty="0"/>
          </a:p>
        </p:txBody>
      </p:sp>
      <p:sp>
        <p:nvSpPr>
          <p:cNvPr id="58" name="Shape 43"/>
          <p:cNvSpPr/>
          <p:nvPr/>
        </p:nvSpPr>
        <p:spPr>
          <a:xfrm>
            <a:off x="8138160" y="749808"/>
            <a:ext cx="0" cy="850392"/>
          </a:xfrm>
          <a:prstGeom prst="line">
            <a:avLst/>
          </a:prstGeom>
          <a:noFill/>
          <a:ln w="22225">
            <a:solidFill>
              <a:srgbClr val="52606A"/>
            </a:solidFill>
            <a:prstDash val="solid"/>
            <a:tailEnd type="triangle"/>
          </a:ln>
        </p:spPr>
      </p:sp>
      <p:sp>
        <p:nvSpPr>
          <p:cNvPr id="59" name="Shape 44"/>
          <p:cNvSpPr/>
          <p:nvPr/>
        </p:nvSpPr>
        <p:spPr>
          <a:xfrm flipV="1">
            <a:off x="7454075" y="2020824"/>
            <a:ext cx="408051" cy="310896"/>
          </a:xfrm>
          <a:prstGeom prst="line">
            <a:avLst/>
          </a:prstGeom>
          <a:noFill/>
          <a:ln w="22225">
            <a:solidFill>
              <a:srgbClr val="52606A"/>
            </a:solidFill>
            <a:prstDash val="solid"/>
            <a:tailEnd type="triangle"/>
          </a:ln>
        </p:spPr>
      </p:sp>
      <p:sp>
        <p:nvSpPr>
          <p:cNvPr id="60" name="Shape 45"/>
          <p:cNvSpPr/>
          <p:nvPr/>
        </p:nvSpPr>
        <p:spPr>
          <a:xfrm>
            <a:off x="8414195" y="2020824"/>
            <a:ext cx="408051" cy="310896"/>
          </a:xfrm>
          <a:prstGeom prst="line">
            <a:avLst/>
          </a:prstGeom>
          <a:noFill/>
          <a:ln w="22225">
            <a:solidFill>
              <a:srgbClr val="52606A"/>
            </a:solidFill>
            <a:prstDash val="solid"/>
            <a:tailEnd type="triangle"/>
          </a:ln>
        </p:spPr>
      </p:sp>
      <p:sp>
        <p:nvSpPr>
          <p:cNvPr id="61" name="Shape 46"/>
          <p:cNvSpPr/>
          <p:nvPr/>
        </p:nvSpPr>
        <p:spPr>
          <a:xfrm flipV="1">
            <a:off x="6496086" y="2752344"/>
            <a:ext cx="495229" cy="557784"/>
          </a:xfrm>
          <a:prstGeom prst="line">
            <a:avLst/>
          </a:prstGeom>
          <a:noFill/>
          <a:ln w="22225">
            <a:solidFill>
              <a:srgbClr val="52606A"/>
            </a:solidFill>
            <a:prstDash val="solid"/>
            <a:tailEnd type="triangle"/>
          </a:ln>
        </p:spPr>
      </p:sp>
      <p:sp>
        <p:nvSpPr>
          <p:cNvPr id="62" name="Shape 47"/>
          <p:cNvSpPr/>
          <p:nvPr/>
        </p:nvSpPr>
        <p:spPr>
          <a:xfrm>
            <a:off x="6949440" y="3520440"/>
            <a:ext cx="548640" cy="0"/>
          </a:xfrm>
          <a:prstGeom prst="line">
            <a:avLst/>
          </a:prstGeom>
          <a:noFill/>
          <a:ln w="22225">
            <a:solidFill>
              <a:srgbClr val="52606A"/>
            </a:solidFill>
            <a:prstDash val="solid"/>
            <a:headEnd type="triangle"/>
            <a:tailEnd type="triangle"/>
          </a:ln>
        </p:spPr>
      </p:sp>
      <p:sp>
        <p:nvSpPr>
          <p:cNvPr id="63" name="Shape 48"/>
          <p:cNvSpPr/>
          <p:nvPr/>
        </p:nvSpPr>
        <p:spPr>
          <a:xfrm>
            <a:off x="8778240" y="3520440"/>
            <a:ext cx="548640" cy="0"/>
          </a:xfrm>
          <a:prstGeom prst="line">
            <a:avLst/>
          </a:prstGeom>
          <a:noFill/>
          <a:ln w="22225">
            <a:solidFill>
              <a:srgbClr val="52606A"/>
            </a:solidFill>
            <a:prstDash val="solid"/>
            <a:headEnd type="triangle"/>
            <a:tailEnd type="triangle"/>
          </a:ln>
        </p:spPr>
      </p:sp>
      <p:sp>
        <p:nvSpPr>
          <p:cNvPr id="64" name="Shape 49"/>
          <p:cNvSpPr/>
          <p:nvPr/>
        </p:nvSpPr>
        <p:spPr>
          <a:xfrm>
            <a:off x="9285006" y="2752344"/>
            <a:ext cx="495229" cy="557784"/>
          </a:xfrm>
          <a:prstGeom prst="line">
            <a:avLst/>
          </a:prstGeom>
          <a:noFill/>
          <a:ln w="22225">
            <a:solidFill>
              <a:srgbClr val="52606A"/>
            </a:solidFill>
            <a:prstDash val="solid"/>
            <a:tailEnd type="triangle"/>
          </a:ln>
        </p:spPr>
      </p:sp>
      <p:sp>
        <p:nvSpPr>
          <p:cNvPr id="65" name="Shape 50"/>
          <p:cNvSpPr/>
          <p:nvPr/>
        </p:nvSpPr>
        <p:spPr>
          <a:xfrm>
            <a:off x="10063286" y="3730752"/>
            <a:ext cx="933944" cy="2039112"/>
          </a:xfrm>
          <a:prstGeom prst="line">
            <a:avLst/>
          </a:prstGeom>
          <a:noFill/>
          <a:ln w="22225">
            <a:solidFill>
              <a:srgbClr val="52606A"/>
            </a:solidFill>
            <a:prstDash val="solid"/>
            <a:tailEnd type="triangle"/>
          </a:ln>
        </p:spPr>
      </p:sp>
      <p:sp>
        <p:nvSpPr>
          <p:cNvPr id="66" name="Shape 51"/>
          <p:cNvSpPr/>
          <p:nvPr/>
        </p:nvSpPr>
        <p:spPr>
          <a:xfrm flipV="1">
            <a:off x="5279089" y="3730752"/>
            <a:ext cx="933944" cy="2039112"/>
          </a:xfrm>
          <a:prstGeom prst="line">
            <a:avLst/>
          </a:prstGeom>
          <a:noFill/>
          <a:ln w="22225">
            <a:solidFill>
              <a:srgbClr val="52606A"/>
            </a:solidFill>
            <a:prstDash val="solid"/>
            <a:tailEnd type="triangle"/>
          </a:ln>
        </p:spPr>
      </p:sp>
      <p:sp>
        <p:nvSpPr>
          <p:cNvPr id="67" name="Shape 52"/>
          <p:cNvSpPr/>
          <p:nvPr/>
        </p:nvSpPr>
        <p:spPr>
          <a:xfrm flipH="1">
            <a:off x="7863840" y="4453128"/>
            <a:ext cx="548640" cy="0"/>
          </a:xfrm>
          <a:prstGeom prst="line">
            <a:avLst/>
          </a:prstGeom>
          <a:noFill/>
          <a:ln w="22225">
            <a:solidFill>
              <a:srgbClr val="52606A"/>
            </a:solidFill>
            <a:prstDash val="solid"/>
            <a:tailEnd type="triangle"/>
          </a:ln>
        </p:spPr>
      </p:sp>
      <p:sp>
        <p:nvSpPr>
          <p:cNvPr id="68" name="Shape 53"/>
          <p:cNvSpPr/>
          <p:nvPr/>
        </p:nvSpPr>
        <p:spPr>
          <a:xfrm flipH="1">
            <a:off x="7863840" y="4818888"/>
            <a:ext cx="548640" cy="0"/>
          </a:xfrm>
          <a:prstGeom prst="line">
            <a:avLst/>
          </a:prstGeom>
          <a:noFill/>
          <a:ln w="22225">
            <a:solidFill>
              <a:srgbClr val="52606A"/>
            </a:solidFill>
            <a:prstDash val="solid"/>
            <a:tailEnd type="triangle"/>
          </a:ln>
        </p:spPr>
      </p:sp>
      <p:sp>
        <p:nvSpPr>
          <p:cNvPr id="69" name="Shape 54"/>
          <p:cNvSpPr/>
          <p:nvPr/>
        </p:nvSpPr>
        <p:spPr>
          <a:xfrm flipH="1">
            <a:off x="7863840" y="5184648"/>
            <a:ext cx="548640" cy="0"/>
          </a:xfrm>
          <a:prstGeom prst="line">
            <a:avLst/>
          </a:prstGeom>
          <a:noFill/>
          <a:ln w="22225">
            <a:solidFill>
              <a:srgbClr val="52606A"/>
            </a:solidFill>
            <a:prstDash val="solid"/>
            <a:tailEnd type="triangle"/>
          </a:ln>
        </p:spPr>
      </p:sp>
      <p:sp>
        <p:nvSpPr>
          <p:cNvPr id="70" name="Shape 55"/>
          <p:cNvSpPr/>
          <p:nvPr/>
        </p:nvSpPr>
        <p:spPr>
          <a:xfrm flipH="1">
            <a:off x="7863840" y="5550408"/>
            <a:ext cx="548640" cy="0"/>
          </a:xfrm>
          <a:prstGeom prst="line">
            <a:avLst/>
          </a:prstGeom>
          <a:noFill/>
          <a:ln w="22225">
            <a:solidFill>
              <a:srgbClr val="52606A"/>
            </a:solidFill>
            <a:prstDash val="solid"/>
            <a:tailEnd type="triangle"/>
          </a:ln>
        </p:spPr>
      </p:sp>
      <p:sp>
        <p:nvSpPr>
          <p:cNvPr id="71" name="Shape 56"/>
          <p:cNvSpPr/>
          <p:nvPr/>
        </p:nvSpPr>
        <p:spPr>
          <a:xfrm flipH="1">
            <a:off x="7863840" y="5916168"/>
            <a:ext cx="548640" cy="0"/>
          </a:xfrm>
          <a:prstGeom prst="line">
            <a:avLst/>
          </a:prstGeom>
          <a:noFill/>
          <a:ln w="22225">
            <a:solidFill>
              <a:srgbClr val="52606A"/>
            </a:solidFill>
            <a:prstDash val="solid"/>
            <a:tailEnd type="triangle"/>
          </a:ln>
        </p:spPr>
      </p:sp>
      <p:sp>
        <p:nvSpPr>
          <p:cNvPr id="72" name="Shape 57"/>
          <p:cNvSpPr/>
          <p:nvPr/>
        </p:nvSpPr>
        <p:spPr>
          <a:xfrm>
            <a:off x="9601200" y="4453128"/>
            <a:ext cx="868680" cy="1463040"/>
          </a:xfrm>
          <a:custGeom>
            <a:avLst/>
            <a:gdLst/>
            <a:ahLst/>
            <a:cxnLst/>
            <a:rect l="l" t="t" r="r" b="b"/>
            <a:pathLst>
              <a:path w="868680" h="1463040">
                <a:moveTo>
                  <a:pt x="868680" y="1463040"/>
                </a:moveTo>
                <a:cubicBezTo>
                  <a:pt x="390906" y="1463040"/>
                  <a:pt x="477774" y="0"/>
                  <a:pt x="0" y="0"/>
                </a:cubicBezTo>
              </a:path>
            </a:pathLst>
          </a:custGeom>
          <a:ln w="22225">
            <a:solidFill>
              <a:srgbClr val="52606A"/>
            </a:solidFill>
            <a:prstDash val="solid"/>
            <a:tailEnd type="triangle"/>
          </a:ln>
        </p:spPr>
      </p:sp>
      <p:sp>
        <p:nvSpPr>
          <p:cNvPr id="73" name="Shape 58"/>
          <p:cNvSpPr/>
          <p:nvPr/>
        </p:nvSpPr>
        <p:spPr>
          <a:xfrm>
            <a:off x="5806440" y="4453128"/>
            <a:ext cx="868680" cy="1463040"/>
          </a:xfrm>
          <a:custGeom>
            <a:avLst/>
            <a:gdLst/>
            <a:ahLst/>
            <a:cxnLst/>
            <a:rect l="l" t="t" r="r" b="b"/>
            <a:pathLst>
              <a:path w="868680" h="1463040">
                <a:moveTo>
                  <a:pt x="868680" y="0"/>
                </a:moveTo>
                <a:cubicBezTo>
                  <a:pt x="390906" y="0"/>
                  <a:pt x="477774" y="1463040"/>
                  <a:pt x="0" y="1463040"/>
                </a:cubicBezTo>
              </a:path>
            </a:pathLst>
          </a:custGeom>
          <a:ln w="22225">
            <a:solidFill>
              <a:srgbClr val="52606A"/>
            </a:solidFill>
            <a:prstDash val="solid"/>
            <a:tailEnd type="triangle"/>
          </a:ln>
        </p:spPr>
      </p:sp>
      <p:sp>
        <p:nvSpPr>
          <p:cNvPr id="74" name="Shape 59"/>
          <p:cNvSpPr/>
          <p:nvPr/>
        </p:nvSpPr>
        <p:spPr>
          <a:xfrm>
            <a:off x="9601200" y="4818888"/>
            <a:ext cx="868680" cy="1097280"/>
          </a:xfrm>
          <a:custGeom>
            <a:avLst/>
            <a:gdLst/>
            <a:ahLst/>
            <a:cxnLst/>
            <a:rect l="l" t="t" r="r" b="b"/>
            <a:pathLst>
              <a:path w="868680" h="1097280">
                <a:moveTo>
                  <a:pt x="868680" y="1097280"/>
                </a:moveTo>
                <a:cubicBezTo>
                  <a:pt x="390906" y="1097280"/>
                  <a:pt x="477774" y="0"/>
                  <a:pt x="0" y="0"/>
                </a:cubicBezTo>
              </a:path>
            </a:pathLst>
          </a:custGeom>
          <a:ln w="22225">
            <a:solidFill>
              <a:srgbClr val="52606A"/>
            </a:solidFill>
            <a:prstDash val="solid"/>
            <a:tailEnd type="triangle"/>
          </a:ln>
        </p:spPr>
      </p:sp>
      <p:sp>
        <p:nvSpPr>
          <p:cNvPr id="75" name="Shape 60"/>
          <p:cNvSpPr/>
          <p:nvPr/>
        </p:nvSpPr>
        <p:spPr>
          <a:xfrm>
            <a:off x="5806440" y="4818888"/>
            <a:ext cx="868680" cy="1097280"/>
          </a:xfrm>
          <a:custGeom>
            <a:avLst/>
            <a:gdLst/>
            <a:ahLst/>
            <a:cxnLst/>
            <a:rect l="l" t="t" r="r" b="b"/>
            <a:pathLst>
              <a:path w="868680" h="1097280">
                <a:moveTo>
                  <a:pt x="868680" y="0"/>
                </a:moveTo>
                <a:cubicBezTo>
                  <a:pt x="390906" y="0"/>
                  <a:pt x="477774" y="1097280"/>
                  <a:pt x="0" y="1097280"/>
                </a:cubicBezTo>
              </a:path>
            </a:pathLst>
          </a:custGeom>
          <a:ln w="22225">
            <a:solidFill>
              <a:srgbClr val="52606A"/>
            </a:solidFill>
            <a:prstDash val="solid"/>
            <a:tailEnd type="triangle"/>
          </a:ln>
        </p:spPr>
      </p:sp>
      <p:sp>
        <p:nvSpPr>
          <p:cNvPr id="76" name="Shape 61"/>
          <p:cNvSpPr/>
          <p:nvPr/>
        </p:nvSpPr>
        <p:spPr>
          <a:xfrm>
            <a:off x="9601200" y="5184648"/>
            <a:ext cx="868680" cy="731520"/>
          </a:xfrm>
          <a:custGeom>
            <a:avLst/>
            <a:gdLst/>
            <a:ahLst/>
            <a:cxnLst/>
            <a:rect l="l" t="t" r="r" b="b"/>
            <a:pathLst>
              <a:path w="868680" h="731520">
                <a:moveTo>
                  <a:pt x="868680" y="731520"/>
                </a:moveTo>
                <a:cubicBezTo>
                  <a:pt x="390906" y="731520"/>
                  <a:pt x="477774" y="0"/>
                  <a:pt x="0" y="0"/>
                </a:cubicBezTo>
              </a:path>
            </a:pathLst>
          </a:custGeom>
          <a:ln w="22225">
            <a:solidFill>
              <a:srgbClr val="52606A"/>
            </a:solidFill>
            <a:prstDash val="solid"/>
            <a:tailEnd type="triangle"/>
          </a:ln>
        </p:spPr>
      </p:sp>
      <p:sp>
        <p:nvSpPr>
          <p:cNvPr id="77" name="Shape 62"/>
          <p:cNvSpPr/>
          <p:nvPr/>
        </p:nvSpPr>
        <p:spPr>
          <a:xfrm>
            <a:off x="5806440" y="5184648"/>
            <a:ext cx="868680" cy="731520"/>
          </a:xfrm>
          <a:custGeom>
            <a:avLst/>
            <a:gdLst/>
            <a:ahLst/>
            <a:cxnLst/>
            <a:rect l="l" t="t" r="r" b="b"/>
            <a:pathLst>
              <a:path w="868680" h="731520">
                <a:moveTo>
                  <a:pt x="868680" y="0"/>
                </a:moveTo>
                <a:cubicBezTo>
                  <a:pt x="390906" y="0"/>
                  <a:pt x="477774" y="731520"/>
                  <a:pt x="0" y="731520"/>
                </a:cubicBezTo>
              </a:path>
            </a:pathLst>
          </a:custGeom>
          <a:ln w="22225">
            <a:solidFill>
              <a:srgbClr val="52606A"/>
            </a:solidFill>
            <a:prstDash val="solid"/>
            <a:tailEnd type="triangle"/>
          </a:ln>
        </p:spPr>
      </p:sp>
      <p:sp>
        <p:nvSpPr>
          <p:cNvPr id="78" name="Shape 63"/>
          <p:cNvSpPr/>
          <p:nvPr/>
        </p:nvSpPr>
        <p:spPr>
          <a:xfrm>
            <a:off x="9601200" y="5550408"/>
            <a:ext cx="868680" cy="365760"/>
          </a:xfrm>
          <a:custGeom>
            <a:avLst/>
            <a:gdLst/>
            <a:ahLst/>
            <a:cxnLst/>
            <a:rect l="l" t="t" r="r" b="b"/>
            <a:pathLst>
              <a:path w="868680" h="365760">
                <a:moveTo>
                  <a:pt x="868680" y="365760"/>
                </a:moveTo>
                <a:cubicBezTo>
                  <a:pt x="390906" y="365760"/>
                  <a:pt x="477774" y="0"/>
                  <a:pt x="0" y="0"/>
                </a:cubicBezTo>
              </a:path>
            </a:pathLst>
          </a:custGeom>
          <a:ln w="22225">
            <a:solidFill>
              <a:srgbClr val="52606A"/>
            </a:solidFill>
            <a:prstDash val="solid"/>
            <a:tailEnd type="triangle"/>
          </a:ln>
        </p:spPr>
      </p:sp>
      <p:sp>
        <p:nvSpPr>
          <p:cNvPr id="79" name="Shape 64"/>
          <p:cNvSpPr/>
          <p:nvPr/>
        </p:nvSpPr>
        <p:spPr>
          <a:xfrm>
            <a:off x="5806440" y="5550408"/>
            <a:ext cx="868680" cy="365760"/>
          </a:xfrm>
          <a:custGeom>
            <a:avLst/>
            <a:gdLst/>
            <a:ahLst/>
            <a:cxnLst/>
            <a:rect l="l" t="t" r="r" b="b"/>
            <a:pathLst>
              <a:path w="868680" h="365760">
                <a:moveTo>
                  <a:pt x="868680" y="0"/>
                </a:moveTo>
                <a:cubicBezTo>
                  <a:pt x="390906" y="0"/>
                  <a:pt x="477774" y="365760"/>
                  <a:pt x="0" y="365760"/>
                </a:cubicBezTo>
              </a:path>
            </a:pathLst>
          </a:custGeom>
          <a:ln w="22225">
            <a:solidFill>
              <a:srgbClr val="52606A"/>
            </a:solidFill>
            <a:prstDash val="solid"/>
            <a:tailEnd type="triangle"/>
          </a:ln>
        </p:spPr>
      </p:sp>
      <p:sp>
        <p:nvSpPr>
          <p:cNvPr id="80" name="Shape 65"/>
          <p:cNvSpPr/>
          <p:nvPr/>
        </p:nvSpPr>
        <p:spPr>
          <a:xfrm flipH="1">
            <a:off x="9601200" y="5916168"/>
            <a:ext cx="868680" cy="0"/>
          </a:xfrm>
          <a:prstGeom prst="line">
            <a:avLst/>
          </a:prstGeom>
          <a:noFill/>
          <a:ln w="22225">
            <a:solidFill>
              <a:srgbClr val="52606A"/>
            </a:solidFill>
            <a:prstDash val="solid"/>
            <a:tailEnd type="triangle"/>
          </a:ln>
        </p:spPr>
      </p:sp>
      <p:sp>
        <p:nvSpPr>
          <p:cNvPr id="81" name="Shape 66"/>
          <p:cNvSpPr/>
          <p:nvPr/>
        </p:nvSpPr>
        <p:spPr>
          <a:xfrm flipH="1">
            <a:off x="5806440" y="5916168"/>
            <a:ext cx="868680" cy="0"/>
          </a:xfrm>
          <a:prstGeom prst="line">
            <a:avLst/>
          </a:prstGeom>
          <a:noFill/>
          <a:ln w="22225">
            <a:solidFill>
              <a:srgbClr val="52606A"/>
            </a:solidFill>
            <a:prstDash val="solid"/>
            <a:tailEnd type="triangle"/>
          </a:ln>
        </p:spPr>
      </p:sp>
      <p:sp>
        <p:nvSpPr>
          <p:cNvPr id="82" name="Text 67"/>
          <p:cNvSpPr txBox="1"/>
          <p:nvPr/>
        </p:nvSpPr>
        <p:spPr>
          <a:xfrm>
            <a:off x="7498080" y="1600200"/>
            <a:ext cx="1280160" cy="420624"/>
          </a:xfrm>
          <a:prstGeom prst="roundRect">
            <a:avLst>
              <a:gd name="adj" fmla="val 50000"/>
            </a:avLst>
          </a:prstGeom>
          <a:solidFill>
            <a:srgbClr val="FFFFFF"/>
          </a:solidFill>
          <a:ln w="19050">
            <a:solidFill>
              <a:srgbClr val="A0402F"/>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50" b="1" dirty="0">
                <a:solidFill>
                  <a:srgbClr val="2F3E46"/>
                </a:solidFill>
                <a:latin typeface="Calibri" pitchFamily="34" charset="0"/>
                <a:ea typeface="Calibri" pitchFamily="34" charset="-122"/>
                <a:cs typeface="Calibri" pitchFamily="34" charset="-120"/>
              </a:rPr>
              <a:t>Attention Feed</a:t>
            </a:r>
            <a:endParaRPr lang="en-US" sz="1050" dirty="0"/>
          </a:p>
        </p:txBody>
      </p:sp>
      <p:sp>
        <p:nvSpPr>
          <p:cNvPr id="83" name="Text 68"/>
          <p:cNvSpPr txBox="1"/>
          <p:nvPr/>
        </p:nvSpPr>
        <p:spPr>
          <a:xfrm>
            <a:off x="6537960" y="2331720"/>
            <a:ext cx="1280160" cy="420624"/>
          </a:xfrm>
          <a:prstGeom prst="roundRect">
            <a:avLst>
              <a:gd name="adj" fmla="val 50000"/>
            </a:avLst>
          </a:prstGeom>
          <a:solidFill>
            <a:srgbClr val="FFFFFF"/>
          </a:solidFill>
          <a:ln w="19050">
            <a:solidFill>
              <a:srgbClr val="A0402F"/>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50" b="1" dirty="0">
                <a:solidFill>
                  <a:srgbClr val="2F3E46"/>
                </a:solidFill>
                <a:latin typeface="Calibri" pitchFamily="34" charset="0"/>
                <a:ea typeface="Calibri" pitchFamily="34" charset="-122"/>
                <a:cs typeface="Calibri" pitchFamily="34" charset="-120"/>
              </a:rPr>
              <a:t>Ranking</a:t>
            </a:r>
            <a:endParaRPr lang="en-US" sz="1050" dirty="0"/>
          </a:p>
        </p:txBody>
      </p:sp>
      <p:sp>
        <p:nvSpPr>
          <p:cNvPr id="84" name="Text 69"/>
          <p:cNvSpPr txBox="1"/>
          <p:nvPr/>
        </p:nvSpPr>
        <p:spPr>
          <a:xfrm>
            <a:off x="8458200" y="2331720"/>
            <a:ext cx="1280160" cy="420624"/>
          </a:xfrm>
          <a:prstGeom prst="roundRect">
            <a:avLst>
              <a:gd name="adj" fmla="val 50000"/>
            </a:avLst>
          </a:prstGeom>
          <a:solidFill>
            <a:srgbClr val="FFFFFF"/>
          </a:solidFill>
          <a:ln w="19050">
            <a:solidFill>
              <a:srgbClr val="A0402F"/>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50" b="1" dirty="0">
                <a:solidFill>
                  <a:srgbClr val="2F3E46"/>
                </a:solidFill>
                <a:latin typeface="Calibri" pitchFamily="34" charset="0"/>
                <a:ea typeface="Calibri" pitchFamily="34" charset="-122"/>
                <a:cs typeface="Calibri" pitchFamily="34" charset="-120"/>
              </a:rPr>
              <a:t>Approval</a:t>
            </a:r>
            <a:endParaRPr lang="en-US" sz="1050" dirty="0"/>
          </a:p>
        </p:txBody>
      </p:sp>
      <p:sp>
        <p:nvSpPr>
          <p:cNvPr id="85" name="Text 70"/>
          <p:cNvSpPr txBox="1"/>
          <p:nvPr/>
        </p:nvSpPr>
        <p:spPr>
          <a:xfrm>
            <a:off x="5669280" y="3310128"/>
            <a:ext cx="1280160" cy="420624"/>
          </a:xfrm>
          <a:prstGeom prst="roundRect">
            <a:avLst>
              <a:gd name="adj" fmla="val 50000"/>
            </a:avLst>
          </a:prstGeom>
          <a:solidFill>
            <a:srgbClr val="FFFFFF"/>
          </a:solidFill>
          <a:ln w="19050">
            <a:solidFill>
              <a:srgbClr val="7C6224"/>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50" b="1" dirty="0">
                <a:solidFill>
                  <a:srgbClr val="2F3E46"/>
                </a:solidFill>
                <a:latin typeface="Calibri" pitchFamily="34" charset="0"/>
                <a:ea typeface="Calibri" pitchFamily="34" charset="-122"/>
                <a:cs typeface="Calibri" pitchFamily="34" charset="-120"/>
              </a:rPr>
              <a:t>Entity Cards</a:t>
            </a:r>
            <a:endParaRPr lang="en-US" sz="1050" dirty="0"/>
          </a:p>
        </p:txBody>
      </p:sp>
      <p:sp>
        <p:nvSpPr>
          <p:cNvPr id="86" name="Text 71"/>
          <p:cNvSpPr txBox="1"/>
          <p:nvPr/>
        </p:nvSpPr>
        <p:spPr>
          <a:xfrm>
            <a:off x="7498080" y="3310128"/>
            <a:ext cx="1280160" cy="420624"/>
          </a:xfrm>
          <a:prstGeom prst="roundRect">
            <a:avLst>
              <a:gd name="adj" fmla="val 50000"/>
            </a:avLst>
          </a:prstGeom>
          <a:solidFill>
            <a:srgbClr val="FFFFFF"/>
          </a:solidFill>
          <a:ln w="19050">
            <a:solidFill>
              <a:srgbClr val="7C6224"/>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50" b="1" dirty="0">
                <a:solidFill>
                  <a:srgbClr val="2F3E46"/>
                </a:solidFill>
                <a:latin typeface="Calibri" pitchFamily="34" charset="0"/>
                <a:ea typeface="Calibri" pitchFamily="34" charset="-122"/>
                <a:cs typeface="Calibri" pitchFamily="34" charset="-120"/>
              </a:rPr>
              <a:t>Consistency Guard</a:t>
            </a:r>
            <a:endParaRPr lang="en-US" sz="1050" dirty="0"/>
          </a:p>
        </p:txBody>
      </p:sp>
      <p:sp>
        <p:nvSpPr>
          <p:cNvPr id="87" name="Text 72"/>
          <p:cNvSpPr txBox="1"/>
          <p:nvPr/>
        </p:nvSpPr>
        <p:spPr>
          <a:xfrm>
            <a:off x="9326880" y="3310128"/>
            <a:ext cx="1280160" cy="420624"/>
          </a:xfrm>
          <a:prstGeom prst="roundRect">
            <a:avLst>
              <a:gd name="adj" fmla="val 50000"/>
            </a:avLst>
          </a:prstGeom>
          <a:solidFill>
            <a:srgbClr val="FFFFFF"/>
          </a:solidFill>
          <a:ln w="19050">
            <a:solidFill>
              <a:srgbClr val="7C6224"/>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50" b="1" dirty="0">
                <a:solidFill>
                  <a:srgbClr val="2F3E46"/>
                </a:solidFill>
                <a:latin typeface="Calibri" pitchFamily="34" charset="0"/>
                <a:ea typeface="Calibri" pitchFamily="34" charset="-122"/>
                <a:cs typeface="Calibri" pitchFamily="34" charset="-120"/>
              </a:rPr>
              <a:t>Knowledge Graph</a:t>
            </a:r>
            <a:endParaRPr lang="en-US" sz="1050" dirty="0"/>
          </a:p>
        </p:txBody>
      </p:sp>
      <p:sp>
        <p:nvSpPr>
          <p:cNvPr id="88" name="Shape 73"/>
          <p:cNvSpPr/>
          <p:nvPr/>
        </p:nvSpPr>
        <p:spPr>
          <a:xfrm>
            <a:off x="6675120" y="4306824"/>
            <a:ext cx="1188720" cy="292608"/>
          </a:xfrm>
          <a:prstGeom prst="roundRect">
            <a:avLst>
              <a:gd name="adj" fmla="val 50000"/>
            </a:avLst>
          </a:prstGeom>
          <a:solidFill>
            <a:srgbClr val="FFFFFF"/>
          </a:solidFill>
          <a:ln w="19050">
            <a:solidFill>
              <a:srgbClr val="3F6B52"/>
            </a:solidFill>
            <a:prstDash val="solid"/>
          </a:ln>
          <a:effectLst>
            <a:outerShdw sx="100000" sy="100000" kx="0" ky="0" algn="bl" rotWithShape="0" blurRad="101600" dist="25400" dir="5400000">
              <a:srgbClr val="1E293B">
                <a:alpha val="12000"/>
              </a:srgbClr>
            </a:outerShdw>
          </a:effectLst>
        </p:spPr>
      </p:sp>
      <p:pic>
        <p:nvPicPr>
          <p:cNvPr id="89" name="Image 12" descr="preencoded.png">    </p:cNvPr>
          <p:cNvPicPr>
            <a:picLocks noChangeAspect="1"/>
          </p:cNvPicPr>
          <p:nvPr/>
        </p:nvPicPr>
        <p:blipFill>
          <a:blip r:embed="rId13"/>
          <a:stretch>
            <a:fillRect/>
          </a:stretch>
        </p:blipFill>
        <p:spPr>
          <a:xfrm>
            <a:off x="7016009" y="4375404"/>
            <a:ext cx="155448" cy="155448"/>
          </a:xfrm>
          <a:prstGeom prst="rect">
            <a:avLst/>
          </a:prstGeom>
        </p:spPr>
      </p:pic>
      <p:sp>
        <p:nvSpPr>
          <p:cNvPr id="90" name="Text 74"/>
          <p:cNvSpPr txBox="1"/>
          <p:nvPr/>
        </p:nvSpPr>
        <p:spPr>
          <a:xfrm>
            <a:off x="7235465" y="4306824"/>
            <a:ext cx="424646" cy="292608"/>
          </a:xfrm>
          <a:prstGeom prst="rect">
            <a:avLst/>
          </a:prstGeom>
          <a:noFill/>
          <a:ln/>
        </p:spPr>
        <p:txBody>
          <a:bodyPr wrap="square" lIns="0" tIns="0" rIns="0" bIns="0" rtlCol="0" anchor="ctr"/>
          <a:lstStyle/>
          <a:p>
            <a:pPr algn="l" indent="0" marL="0">
              <a:buNone/>
            </a:pPr>
            <a:r>
              <a:rPr lang="en-US" sz="1000" b="1" dirty="0">
                <a:solidFill>
                  <a:srgbClr val="2F3E46"/>
                </a:solidFill>
                <a:latin typeface="Calibri" pitchFamily="34" charset="0"/>
                <a:ea typeface="Calibri" pitchFamily="34" charset="-122"/>
                <a:cs typeface="Calibri" pitchFamily="34" charset="-120"/>
              </a:rPr>
              <a:t>Chats</a:t>
            </a:r>
            <a:endParaRPr lang="en-US" sz="1000" dirty="0"/>
          </a:p>
        </p:txBody>
      </p:sp>
      <p:sp>
        <p:nvSpPr>
          <p:cNvPr id="91" name="Shape 75"/>
          <p:cNvSpPr/>
          <p:nvPr/>
        </p:nvSpPr>
        <p:spPr>
          <a:xfrm>
            <a:off x="6675120" y="4672584"/>
            <a:ext cx="1188720" cy="292608"/>
          </a:xfrm>
          <a:prstGeom prst="roundRect">
            <a:avLst>
              <a:gd name="adj" fmla="val 50000"/>
            </a:avLst>
          </a:prstGeom>
          <a:solidFill>
            <a:srgbClr val="FFFFFF"/>
          </a:solidFill>
          <a:ln w="19050">
            <a:solidFill>
              <a:srgbClr val="3F6B52"/>
            </a:solidFill>
            <a:prstDash val="solid"/>
          </a:ln>
          <a:effectLst>
            <a:outerShdw sx="100000" sy="100000" kx="0" ky="0" algn="bl" rotWithShape="0" blurRad="101600" dist="25400" dir="5400000">
              <a:srgbClr val="1E293B">
                <a:alpha val="12000"/>
              </a:srgbClr>
            </a:outerShdw>
          </a:effectLst>
        </p:spPr>
      </p:sp>
      <p:pic>
        <p:nvPicPr>
          <p:cNvPr id="92" name="Image 13" descr="preencoded.png">    </p:cNvPr>
          <p:cNvPicPr>
            <a:picLocks noChangeAspect="1"/>
          </p:cNvPicPr>
          <p:nvPr/>
        </p:nvPicPr>
        <p:blipFill>
          <a:blip r:embed="rId14"/>
          <a:stretch>
            <a:fillRect/>
          </a:stretch>
        </p:blipFill>
        <p:spPr>
          <a:xfrm>
            <a:off x="6890311" y="4741164"/>
            <a:ext cx="155448" cy="155448"/>
          </a:xfrm>
          <a:prstGeom prst="rect">
            <a:avLst/>
          </a:prstGeom>
        </p:spPr>
      </p:pic>
      <p:sp>
        <p:nvSpPr>
          <p:cNvPr id="93" name="Text 76"/>
          <p:cNvSpPr txBox="1"/>
          <p:nvPr/>
        </p:nvSpPr>
        <p:spPr>
          <a:xfrm>
            <a:off x="7109767" y="4672584"/>
            <a:ext cx="676042" cy="292608"/>
          </a:xfrm>
          <a:prstGeom prst="rect">
            <a:avLst/>
          </a:prstGeom>
          <a:noFill/>
          <a:ln/>
        </p:spPr>
        <p:txBody>
          <a:bodyPr wrap="square" lIns="0" tIns="0" rIns="0" bIns="0" rtlCol="0" anchor="ctr"/>
          <a:lstStyle/>
          <a:p>
            <a:pPr algn="l" indent="0" marL="0">
              <a:buNone/>
            </a:pPr>
            <a:r>
              <a:rPr lang="en-US" sz="1000" b="1" dirty="0">
                <a:solidFill>
                  <a:srgbClr val="2F3E46"/>
                </a:solidFill>
                <a:latin typeface="Calibri" pitchFamily="34" charset="0"/>
                <a:ea typeface="Calibri" pitchFamily="34" charset="-122"/>
                <a:cs typeface="Calibri" pitchFamily="34" charset="-120"/>
              </a:rPr>
              <a:t>Interviews</a:t>
            </a:r>
            <a:endParaRPr lang="en-US" sz="1000" dirty="0"/>
          </a:p>
        </p:txBody>
      </p:sp>
      <p:sp>
        <p:nvSpPr>
          <p:cNvPr id="94" name="Shape 77"/>
          <p:cNvSpPr/>
          <p:nvPr/>
        </p:nvSpPr>
        <p:spPr>
          <a:xfrm>
            <a:off x="6675120" y="5038344"/>
            <a:ext cx="1188720" cy="292608"/>
          </a:xfrm>
          <a:prstGeom prst="roundRect">
            <a:avLst>
              <a:gd name="adj" fmla="val 50000"/>
            </a:avLst>
          </a:prstGeom>
          <a:solidFill>
            <a:srgbClr val="FFFFFF"/>
          </a:solidFill>
          <a:ln w="19050">
            <a:solidFill>
              <a:srgbClr val="3F6B52"/>
            </a:solidFill>
            <a:prstDash val="solid"/>
          </a:ln>
          <a:effectLst>
            <a:outerShdw sx="100000" sy="100000" kx="0" ky="0" algn="bl" rotWithShape="0" blurRad="101600" dist="25400" dir="5400000">
              <a:srgbClr val="1E293B">
                <a:alpha val="12000"/>
              </a:srgbClr>
            </a:outerShdw>
          </a:effectLst>
        </p:spPr>
      </p:sp>
      <p:pic>
        <p:nvPicPr>
          <p:cNvPr id="95" name="Image 14" descr="preencoded.png">    </p:cNvPr>
          <p:cNvPicPr>
            <a:picLocks noChangeAspect="1"/>
          </p:cNvPicPr>
          <p:nvPr/>
        </p:nvPicPr>
        <p:blipFill>
          <a:blip r:embed="rId15"/>
          <a:stretch>
            <a:fillRect/>
          </a:stretch>
        </p:blipFill>
        <p:spPr>
          <a:xfrm>
            <a:off x="7023760" y="5106924"/>
            <a:ext cx="155448" cy="155448"/>
          </a:xfrm>
          <a:prstGeom prst="rect">
            <a:avLst/>
          </a:prstGeom>
        </p:spPr>
      </p:pic>
      <p:sp>
        <p:nvSpPr>
          <p:cNvPr id="96" name="Text 78"/>
          <p:cNvSpPr txBox="1"/>
          <p:nvPr/>
        </p:nvSpPr>
        <p:spPr>
          <a:xfrm>
            <a:off x="7243216" y="5038344"/>
            <a:ext cx="409143" cy="292608"/>
          </a:xfrm>
          <a:prstGeom prst="rect">
            <a:avLst/>
          </a:prstGeom>
          <a:noFill/>
          <a:ln/>
        </p:spPr>
        <p:txBody>
          <a:bodyPr wrap="square" lIns="0" tIns="0" rIns="0" bIns="0" rtlCol="0" anchor="ctr"/>
          <a:lstStyle/>
          <a:p>
            <a:pPr algn="l" indent="0" marL="0">
              <a:buNone/>
            </a:pPr>
            <a:r>
              <a:rPr lang="en-US" sz="1000" b="1" dirty="0">
                <a:solidFill>
                  <a:srgbClr val="2F3E46"/>
                </a:solidFill>
                <a:latin typeface="Calibri" pitchFamily="34" charset="0"/>
                <a:ea typeface="Calibri" pitchFamily="34" charset="-122"/>
                <a:cs typeface="Calibri" pitchFamily="34" charset="-120"/>
              </a:rPr>
              <a:t>Plans</a:t>
            </a:r>
            <a:endParaRPr lang="en-US" sz="1000" dirty="0"/>
          </a:p>
        </p:txBody>
      </p:sp>
      <p:sp>
        <p:nvSpPr>
          <p:cNvPr id="97" name="Shape 79"/>
          <p:cNvSpPr/>
          <p:nvPr/>
        </p:nvSpPr>
        <p:spPr>
          <a:xfrm>
            <a:off x="6675120" y="5404104"/>
            <a:ext cx="1188720" cy="292608"/>
          </a:xfrm>
          <a:prstGeom prst="roundRect">
            <a:avLst>
              <a:gd name="adj" fmla="val 50000"/>
            </a:avLst>
          </a:prstGeom>
          <a:solidFill>
            <a:srgbClr val="FFFFFF"/>
          </a:solidFill>
          <a:ln w="19050">
            <a:solidFill>
              <a:srgbClr val="3F6B52"/>
            </a:solidFill>
            <a:prstDash val="solid"/>
          </a:ln>
          <a:effectLst>
            <a:outerShdw sx="100000" sy="100000" kx="0" ky="0" algn="bl" rotWithShape="0" blurRad="101600" dist="25400" dir="5400000">
              <a:srgbClr val="1E293B">
                <a:alpha val="12000"/>
              </a:srgbClr>
            </a:outerShdw>
          </a:effectLst>
        </p:spPr>
      </p:sp>
      <p:pic>
        <p:nvPicPr>
          <p:cNvPr id="98" name="Image 15" descr="preencoded.png">    </p:cNvPr>
          <p:cNvPicPr>
            <a:picLocks noChangeAspect="1"/>
          </p:cNvPicPr>
          <p:nvPr/>
        </p:nvPicPr>
        <p:blipFill>
          <a:blip r:embed="rId16"/>
          <a:stretch>
            <a:fillRect/>
          </a:stretch>
        </p:blipFill>
        <p:spPr>
          <a:xfrm>
            <a:off x="7027450" y="5472684"/>
            <a:ext cx="155448" cy="155448"/>
          </a:xfrm>
          <a:prstGeom prst="rect">
            <a:avLst/>
          </a:prstGeom>
        </p:spPr>
      </p:pic>
      <p:sp>
        <p:nvSpPr>
          <p:cNvPr id="99" name="Text 80"/>
          <p:cNvSpPr txBox="1"/>
          <p:nvPr/>
        </p:nvSpPr>
        <p:spPr>
          <a:xfrm>
            <a:off x="7246906" y="5404104"/>
            <a:ext cx="401764" cy="292608"/>
          </a:xfrm>
          <a:prstGeom prst="rect">
            <a:avLst/>
          </a:prstGeom>
          <a:noFill/>
          <a:ln/>
        </p:spPr>
        <p:txBody>
          <a:bodyPr wrap="square" lIns="0" tIns="0" rIns="0" bIns="0" rtlCol="0" anchor="ctr"/>
          <a:lstStyle/>
          <a:p>
            <a:pPr algn="l" indent="0" marL="0">
              <a:buNone/>
            </a:pPr>
            <a:r>
              <a:rPr lang="en-US" sz="1000" b="1" dirty="0">
                <a:solidFill>
                  <a:srgbClr val="2F3E46"/>
                </a:solidFill>
                <a:latin typeface="Calibri" pitchFamily="34" charset="0"/>
                <a:ea typeface="Calibri" pitchFamily="34" charset="-122"/>
                <a:cs typeface="Calibri" pitchFamily="34" charset="-120"/>
              </a:rPr>
              <a:t>Code</a:t>
            </a:r>
            <a:endParaRPr lang="en-US" sz="1000" dirty="0"/>
          </a:p>
        </p:txBody>
      </p:sp>
      <p:sp>
        <p:nvSpPr>
          <p:cNvPr id="100" name="Shape 81"/>
          <p:cNvSpPr/>
          <p:nvPr/>
        </p:nvSpPr>
        <p:spPr>
          <a:xfrm>
            <a:off x="6675120" y="5769864"/>
            <a:ext cx="1188720" cy="292608"/>
          </a:xfrm>
          <a:prstGeom prst="roundRect">
            <a:avLst>
              <a:gd name="adj" fmla="val 50000"/>
            </a:avLst>
          </a:prstGeom>
          <a:solidFill>
            <a:srgbClr val="FFFFFF"/>
          </a:solidFill>
          <a:ln w="19050">
            <a:solidFill>
              <a:srgbClr val="3F6B52"/>
            </a:solidFill>
            <a:prstDash val="solid"/>
          </a:ln>
          <a:effectLst>
            <a:outerShdw sx="100000" sy="100000" kx="0" ky="0" algn="bl" rotWithShape="0" blurRad="101600" dist="25400" dir="5400000">
              <a:srgbClr val="1E293B">
                <a:alpha val="12000"/>
              </a:srgbClr>
            </a:outerShdw>
          </a:effectLst>
        </p:spPr>
      </p:sp>
      <p:pic>
        <p:nvPicPr>
          <p:cNvPr id="101" name="Image 16" descr="preencoded.png">    </p:cNvPr>
          <p:cNvPicPr>
            <a:picLocks noChangeAspect="1"/>
          </p:cNvPicPr>
          <p:nvPr/>
        </p:nvPicPr>
        <p:blipFill>
          <a:blip r:embed="rId17"/>
          <a:stretch>
            <a:fillRect/>
          </a:stretch>
        </p:blipFill>
        <p:spPr>
          <a:xfrm>
            <a:off x="6865196" y="5838444"/>
            <a:ext cx="155448" cy="155448"/>
          </a:xfrm>
          <a:prstGeom prst="rect">
            <a:avLst/>
          </a:prstGeom>
        </p:spPr>
      </p:pic>
      <p:sp>
        <p:nvSpPr>
          <p:cNvPr id="102" name="Text 82"/>
          <p:cNvSpPr txBox="1"/>
          <p:nvPr/>
        </p:nvSpPr>
        <p:spPr>
          <a:xfrm>
            <a:off x="7084652" y="5769864"/>
            <a:ext cx="726271" cy="292608"/>
          </a:xfrm>
          <a:prstGeom prst="rect">
            <a:avLst/>
          </a:prstGeom>
          <a:noFill/>
          <a:ln/>
        </p:spPr>
        <p:txBody>
          <a:bodyPr wrap="square" lIns="0" tIns="0" rIns="0" bIns="0" rtlCol="0" anchor="ctr"/>
          <a:lstStyle/>
          <a:p>
            <a:pPr algn="l" indent="0" marL="0">
              <a:buNone/>
            </a:pPr>
            <a:r>
              <a:rPr lang="en-US" sz="1000" b="1" dirty="0">
                <a:solidFill>
                  <a:srgbClr val="2F3E46"/>
                </a:solidFill>
                <a:latin typeface="Calibri" pitchFamily="34" charset="0"/>
                <a:ea typeface="Calibri" pitchFamily="34" charset="-122"/>
                <a:cs typeface="Calibri" pitchFamily="34" charset="-120"/>
              </a:rPr>
              <a:t>Documents</a:t>
            </a:r>
            <a:endParaRPr lang="en-US" sz="1000" dirty="0"/>
          </a:p>
        </p:txBody>
      </p:sp>
      <p:sp>
        <p:nvSpPr>
          <p:cNvPr id="103" name="Text 83"/>
          <p:cNvSpPr txBox="1"/>
          <p:nvPr/>
        </p:nvSpPr>
        <p:spPr>
          <a:xfrm>
            <a:off x="8412480" y="430682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Chat</a:t>
            </a:r>
            <a:endParaRPr lang="en-US" sz="1000" dirty="0"/>
          </a:p>
        </p:txBody>
      </p:sp>
      <p:sp>
        <p:nvSpPr>
          <p:cNvPr id="104" name="Text 84"/>
          <p:cNvSpPr txBox="1"/>
          <p:nvPr/>
        </p:nvSpPr>
        <p:spPr>
          <a:xfrm>
            <a:off x="8412480" y="467258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Interview</a:t>
            </a:r>
            <a:endParaRPr lang="en-US" sz="1000" dirty="0"/>
          </a:p>
        </p:txBody>
      </p:sp>
      <p:sp>
        <p:nvSpPr>
          <p:cNvPr id="105" name="Text 85"/>
          <p:cNvSpPr txBox="1"/>
          <p:nvPr/>
        </p:nvSpPr>
        <p:spPr>
          <a:xfrm>
            <a:off x="8412480" y="503834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Preparation</a:t>
            </a:r>
            <a:endParaRPr lang="en-US" sz="1000" dirty="0"/>
          </a:p>
        </p:txBody>
      </p:sp>
      <p:sp>
        <p:nvSpPr>
          <p:cNvPr id="106" name="Text 86"/>
          <p:cNvSpPr txBox="1"/>
          <p:nvPr/>
        </p:nvSpPr>
        <p:spPr>
          <a:xfrm>
            <a:off x="8412480" y="540410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Implementation</a:t>
            </a:r>
            <a:endParaRPr lang="en-US" sz="1000" dirty="0"/>
          </a:p>
        </p:txBody>
      </p:sp>
      <p:sp>
        <p:nvSpPr>
          <p:cNvPr id="107" name="Text 87"/>
          <p:cNvSpPr txBox="1"/>
          <p:nvPr/>
        </p:nvSpPr>
        <p:spPr>
          <a:xfrm>
            <a:off x="8412480" y="576986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Graph Build</a:t>
            </a:r>
            <a:endParaRPr lang="en-US" sz="1000" dirty="0"/>
          </a:p>
        </p:txBody>
      </p:sp>
      <p:sp>
        <p:nvSpPr>
          <p:cNvPr id="108" name="Text 88"/>
          <p:cNvSpPr txBox="1"/>
          <p:nvPr/>
        </p:nvSpPr>
        <p:spPr>
          <a:xfrm>
            <a:off x="4617720" y="576986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Summarization</a:t>
            </a:r>
            <a:endParaRPr lang="en-US" sz="1000" dirty="0"/>
          </a:p>
        </p:txBody>
      </p:sp>
      <p:sp>
        <p:nvSpPr>
          <p:cNvPr id="109" name="Text 89"/>
          <p:cNvSpPr txBox="1"/>
          <p:nvPr/>
        </p:nvSpPr>
        <p:spPr>
          <a:xfrm>
            <a:off x="10469880" y="5769864"/>
            <a:ext cx="1188720" cy="292608"/>
          </a:xfrm>
          <a:prstGeom prst="roundRect">
            <a:avLst>
              <a:gd name="adj" fmla="val 50000"/>
            </a:avLst>
          </a:prstGeom>
          <a:solidFill>
            <a:srgbClr val="FFFFFF"/>
          </a:solidFill>
          <a:ln w="19050">
            <a:solidFill>
              <a:srgbClr val="3F6B52"/>
            </a:solidFill>
          </a:ln>
          <a:effectLst>
            <a:outerShdw sx="100000" sy="100000" kx="0" ky="0" algn="bl" rotWithShape="0" blurRad="101600" dist="25400" dir="5400000">
              <a:srgbClr val="1E293B">
                <a:alpha val="12000"/>
              </a:srgbClr>
            </a:outerShdw>
          </a:effectLst>
        </p:spPr>
        <p:txBody>
          <a:bodyPr wrap="square" lIns="0" tIns="0" rIns="0" bIns="0" rtlCol="0" anchor="ctr"/>
          <a:lstStyle/>
          <a:p>
            <a:pPr algn="ctr" indent="0" marL="0">
              <a:buNone/>
            </a:pPr>
            <a:r>
              <a:rPr lang="en-US" sz="1000" b="1" dirty="0">
                <a:solidFill>
                  <a:srgbClr val="2F3E46"/>
                </a:solidFill>
                <a:latin typeface="Calibri" pitchFamily="34" charset="0"/>
                <a:ea typeface="Calibri" pitchFamily="34" charset="-122"/>
                <a:cs typeface="Calibri" pitchFamily="34" charset="-120"/>
              </a:rPr>
              <a:t>Orchestrator</a:t>
            </a:r>
            <a:endParaRPr lang="en-US" sz="1000" dirty="0"/>
          </a:p>
        </p:txBody>
      </p:sp>
      <p:sp>
        <p:nvSpPr>
          <p:cNvPr id="110" name="Shape 90"/>
          <p:cNvSpPr/>
          <p:nvPr/>
        </p:nvSpPr>
        <p:spPr>
          <a:xfrm>
            <a:off x="7255764" y="6126480"/>
            <a:ext cx="27432" cy="27432"/>
          </a:xfrm>
          <a:prstGeom prst="ellipse">
            <a:avLst/>
          </a:prstGeom>
          <a:solidFill>
            <a:srgbClr val="52606A"/>
          </a:solidFill>
          <a:ln/>
        </p:spPr>
      </p:sp>
      <p:sp>
        <p:nvSpPr>
          <p:cNvPr id="111" name="Shape 91"/>
          <p:cNvSpPr/>
          <p:nvPr/>
        </p:nvSpPr>
        <p:spPr>
          <a:xfrm>
            <a:off x="7255764" y="6172200"/>
            <a:ext cx="27432" cy="27432"/>
          </a:xfrm>
          <a:prstGeom prst="ellipse">
            <a:avLst/>
          </a:prstGeom>
          <a:solidFill>
            <a:srgbClr val="52606A"/>
          </a:solidFill>
          <a:ln/>
        </p:spPr>
      </p:sp>
      <p:sp>
        <p:nvSpPr>
          <p:cNvPr id="112" name="Shape 92"/>
          <p:cNvSpPr/>
          <p:nvPr/>
        </p:nvSpPr>
        <p:spPr>
          <a:xfrm>
            <a:off x="7255764" y="6217920"/>
            <a:ext cx="27432" cy="27432"/>
          </a:xfrm>
          <a:prstGeom prst="ellipse">
            <a:avLst/>
          </a:prstGeom>
          <a:solidFill>
            <a:srgbClr val="52606A"/>
          </a:solidFill>
          <a:ln/>
        </p:spPr>
      </p:sp>
      <p:sp>
        <p:nvSpPr>
          <p:cNvPr id="113" name="Shape 93"/>
          <p:cNvSpPr/>
          <p:nvPr/>
        </p:nvSpPr>
        <p:spPr>
          <a:xfrm>
            <a:off x="8993124" y="6126480"/>
            <a:ext cx="27432" cy="27432"/>
          </a:xfrm>
          <a:prstGeom prst="ellipse">
            <a:avLst/>
          </a:prstGeom>
          <a:solidFill>
            <a:srgbClr val="52606A"/>
          </a:solidFill>
          <a:ln/>
        </p:spPr>
      </p:sp>
      <p:sp>
        <p:nvSpPr>
          <p:cNvPr id="114" name="Shape 94"/>
          <p:cNvSpPr/>
          <p:nvPr/>
        </p:nvSpPr>
        <p:spPr>
          <a:xfrm>
            <a:off x="8993124" y="6172200"/>
            <a:ext cx="27432" cy="27432"/>
          </a:xfrm>
          <a:prstGeom prst="ellipse">
            <a:avLst/>
          </a:prstGeom>
          <a:solidFill>
            <a:srgbClr val="52606A"/>
          </a:solidFill>
          <a:ln/>
        </p:spPr>
      </p:sp>
      <p:sp>
        <p:nvSpPr>
          <p:cNvPr id="115" name="Shape 95"/>
          <p:cNvSpPr/>
          <p:nvPr/>
        </p:nvSpPr>
        <p:spPr>
          <a:xfrm>
            <a:off x="8993124" y="6217920"/>
            <a:ext cx="27432" cy="27432"/>
          </a:xfrm>
          <a:prstGeom prst="ellipse">
            <a:avLst/>
          </a:prstGeom>
          <a:solidFill>
            <a:srgbClr val="52606A"/>
          </a:solidFill>
          <a:ln/>
        </p:spPr>
      </p:sp>
      <p:sp>
        <p:nvSpPr>
          <p:cNvPr id="116" name="Shape 96"/>
          <p:cNvSpPr/>
          <p:nvPr/>
        </p:nvSpPr>
        <p:spPr>
          <a:xfrm>
            <a:off x="8028432" y="73152"/>
            <a:ext cx="219456" cy="219456"/>
          </a:xfrm>
          <a:prstGeom prst="ellipse">
            <a:avLst/>
          </a:prstGeom>
          <a:solidFill>
            <a:srgbClr val="2F3E46"/>
          </a:solidFill>
          <a:ln/>
        </p:spPr>
      </p:sp>
      <p:sp>
        <p:nvSpPr>
          <p:cNvPr id="117" name="Text 97"/>
          <p:cNvSpPr txBox="1"/>
          <p:nvPr/>
        </p:nvSpPr>
        <p:spPr>
          <a:xfrm>
            <a:off x="7882128" y="320040"/>
            <a:ext cx="512064" cy="429768"/>
          </a:xfrm>
          <a:prstGeom prst="roundRect">
            <a:avLst>
              <a:gd name="adj" fmla="val 34043"/>
            </a:avLst>
          </a:prstGeom>
          <a:solidFill>
            <a:srgbClr val="2F3E46"/>
          </a:solidFill>
          <a:ln/>
        </p:spPr>
        <p:txBody>
          <a:bodyPr wrap="square" lIns="0" tIns="0" rIns="0" bIns="0" rtlCol="0" anchor="ctr"/>
          <a:lstStyle/>
          <a:p>
            <a:pPr algn="ctr" indent="0" marL="0">
              <a:buNone/>
            </a:pPr>
            <a:r>
              <a:rPr lang="en-US" sz="1100" dirty="0">
                <a:solidFill>
                  <a:srgbClr val="FFFFFF"/>
                </a:solidFill>
                <a:latin typeface="Cambria" pitchFamily="34" charset="0"/>
                <a:ea typeface="Cambria" pitchFamily="34" charset="-122"/>
                <a:cs typeface="Cambria" pitchFamily="34" charset="-120"/>
              </a:rPr>
              <a:t>User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User actions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How everything works together</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Entities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Entity types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Entity states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Automations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Triggers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Automation management</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Agent tools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Summarization</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Graph completeness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Consistency guard</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Issue types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Issue resolution</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Git</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Metrics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320040" y="274320"/>
            <a:ext cx="4937760" cy="457200"/>
          </a:xfrm>
          <a:prstGeom prst="rect">
            <a:avLst/>
          </a:prstGeom>
          <a:solidFill>
            <a:srgbClr val="2F3E46"/>
          </a:solidFill>
          <a:ln/>
        </p:spPr>
        <p:txBody>
          <a:bodyPr wrap="square" lIns="177800" tIns="63500" rIns="177800" bIns="0" rtlCol="0" anchor="ctr"/>
          <a:lstStyle/>
          <a:p>
            <a:pPr algn="l" indent="0" marL="0">
              <a:buNone/>
            </a:pPr>
            <a:r>
              <a:rPr lang="en-US" sz="2000" dirty="0">
                <a:solidFill>
                  <a:srgbClr val="FFFFFF"/>
                </a:solidFill>
                <a:latin typeface="Cambria" pitchFamily="34" charset="0"/>
                <a:ea typeface="Cambria" pitchFamily="34" charset="-122"/>
                <a:cs typeface="Cambria" pitchFamily="34" charset="-120"/>
              </a:rPr>
              <a:t>Settings</a:t>
            </a:r>
            <a:endParaRPr lang="en-US" sz="2000" dirty="0"/>
          </a:p>
        </p:txBody>
      </p:sp>
      <p:pic>
        <p:nvPicPr>
          <p:cNvPr id="4" name="Image 0" descr="preencoded.png">    </p:cNvPr>
          <p:cNvPicPr>
            <a:picLocks noChangeAspect="1"/>
          </p:cNvPicPr>
          <p:nvPr/>
        </p:nvPicPr>
        <p:blipFill>
          <a:blip r:embed="rId1"/>
          <a:stretch>
            <a:fillRect/>
          </a:stretch>
        </p:blipFill>
        <p:spPr>
          <a:xfrm>
            <a:off x="0" y="822960"/>
            <a:ext cx="12191695" cy="60323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 &amp; Products</dc:title>
  <dc:subject>PptxGenJS Presentation</dc:subject>
  <dc:creator>PptxGenJS</dc:creator>
  <cp:lastModifiedBy>PptxGenJS</cp:lastModifiedBy>
  <cp:revision>1</cp:revision>
  <dcterms:created xsi:type="dcterms:W3CDTF">2026-10-18T15:34:33Z</dcterms:created>
  <dcterms:modified xsi:type="dcterms:W3CDTF">2026-10-18T15:34:33Z</dcterms:modified>
</cp:coreProperties>
</file>