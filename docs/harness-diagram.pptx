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 — mobile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 — how everything works together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 — entities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 — entity states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 — automations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 — summarization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 — consistency gate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 — git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 — user actions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388620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4389120" y="274320"/>
            <a:ext cx="1920240" cy="457200"/>
          </a:xfrm>
          <a:prstGeom prst="rect">
            <a:avLst/>
          </a:prstGeom>
          <a:solidFill>
            <a:srgbClr val="B85042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320040" y="914400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20040" y="914400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projects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size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847088" y="987552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5668" y="1056132"/>
            <a:ext cx="137160" cy="1371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331720" y="914400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2331720" y="914400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Graph Explorer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browsing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search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navigation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858768" y="987552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348" y="1056132"/>
            <a:ext cx="137160" cy="13716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20040" y="2024482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320040" y="2024482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Importance Rank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847088" y="2097634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668" y="2166214"/>
            <a:ext cx="137160" cy="13716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2331720" y="2024482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2331720" y="2024482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answering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steering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launching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3858768" y="2097634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7348" y="2166214"/>
            <a:ext cx="137160" cy="13716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320040" y="3134563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22" name="Text 15"/>
          <p:cNvSpPr txBox="1"/>
          <p:nvPr/>
        </p:nvSpPr>
        <p:spPr>
          <a:xfrm>
            <a:off x="320040" y="3134563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issues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usage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duration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1847088" y="3207715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5668" y="3276295"/>
            <a:ext cx="137160" cy="13716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2331720" y="3134563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2331720" y="3134563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extraction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extraction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extraction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3858768" y="3207715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7348" y="3276295"/>
            <a:ext cx="137160" cy="13716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320040" y="4244645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30" name="Text 21"/>
          <p:cNvSpPr txBox="1"/>
          <p:nvPr/>
        </p:nvSpPr>
        <p:spPr>
          <a:xfrm>
            <a:off x="320040" y="4244645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Orchestrator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deployment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deployment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collection</a:t>
            </a:r>
            <a:endParaRPr lang="en-US" sz="1000" dirty="0"/>
          </a:p>
        </p:txBody>
      </p:sp>
      <p:sp>
        <p:nvSpPr>
          <p:cNvPr id="31" name="Shape 22"/>
          <p:cNvSpPr/>
          <p:nvPr/>
        </p:nvSpPr>
        <p:spPr>
          <a:xfrm>
            <a:off x="1847088" y="4317797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15668" y="4386377"/>
            <a:ext cx="137160" cy="13716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2331720" y="4244645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34" name="Text 24"/>
          <p:cNvSpPr txBox="1"/>
          <p:nvPr/>
        </p:nvSpPr>
        <p:spPr>
          <a:xfrm>
            <a:off x="2331720" y="4244645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entry point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polling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results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3858768" y="4317797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7348" y="4386377"/>
            <a:ext cx="137160" cy="137160"/>
          </a:xfrm>
          <a:prstGeom prst="rect">
            <a:avLst/>
          </a:prstGeom>
        </p:spPr>
      </p:pic>
      <p:sp>
        <p:nvSpPr>
          <p:cNvPr id="37" name="Shape 26"/>
          <p:cNvSpPr/>
          <p:nvPr/>
        </p:nvSpPr>
        <p:spPr>
          <a:xfrm>
            <a:off x="320040" y="5354726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320040" y="5354726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Tools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capability access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UI-free control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calls</a:t>
            </a:r>
            <a:endParaRPr lang="en-US" sz="1000" dirty="0"/>
          </a:p>
        </p:txBody>
      </p:sp>
      <p:sp>
        <p:nvSpPr>
          <p:cNvPr id="39" name="Shape 28"/>
          <p:cNvSpPr/>
          <p:nvPr/>
        </p:nvSpPr>
        <p:spPr>
          <a:xfrm>
            <a:off x="1847088" y="542787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15668" y="5496458"/>
            <a:ext cx="137160" cy="137160"/>
          </a:xfrm>
          <a:prstGeom prst="rect">
            <a:avLst/>
          </a:prstGeom>
        </p:spPr>
      </p:pic>
      <p:sp>
        <p:nvSpPr>
          <p:cNvPr id="41" name="Shape 29"/>
          <p:cNvSpPr/>
          <p:nvPr/>
        </p:nvSpPr>
        <p:spPr>
          <a:xfrm>
            <a:off x="2331720" y="5354726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42" name="Text 30"/>
          <p:cNvSpPr txBox="1"/>
          <p:nvPr/>
        </p:nvSpPr>
        <p:spPr>
          <a:xfrm>
            <a:off x="2331720" y="5354726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retrieval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context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context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traversal</a:t>
            </a:r>
            <a:endParaRPr lang="en-US" sz="1000" dirty="0"/>
          </a:p>
        </p:txBody>
      </p:sp>
      <p:sp>
        <p:nvSpPr>
          <p:cNvPr id="43" name="Shape 31"/>
          <p:cNvSpPr/>
          <p:nvPr/>
        </p:nvSpPr>
        <p:spPr>
          <a:xfrm>
            <a:off x="3858768" y="542787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7348" y="5496458"/>
            <a:ext cx="137160" cy="137160"/>
          </a:xfrm>
          <a:prstGeom prst="rect">
            <a:avLst/>
          </a:prstGeom>
        </p:spPr>
      </p:pic>
      <p:sp>
        <p:nvSpPr>
          <p:cNvPr id="45" name="Shape 32"/>
          <p:cNvSpPr/>
          <p:nvPr/>
        </p:nvSpPr>
        <p:spPr>
          <a:xfrm>
            <a:off x="4389120" y="914400"/>
            <a:ext cx="7498080" cy="1828800"/>
          </a:xfrm>
          <a:prstGeom prst="rect">
            <a:avLst/>
          </a:prstGeom>
          <a:solidFill>
            <a:srgbClr val="F4DCD6"/>
          </a:solidFill>
          <a:ln/>
        </p:spPr>
      </p:sp>
      <p:sp>
        <p:nvSpPr>
          <p:cNvPr id="46" name="Text 33"/>
          <p:cNvSpPr txBox="1"/>
          <p:nvPr/>
        </p:nvSpPr>
        <p:spPr>
          <a:xfrm>
            <a:off x="1088136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0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A0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</a:t>
            </a:r>
            <a:endParaRPr lang="en-US" sz="1300" dirty="0"/>
          </a:p>
        </p:txBody>
      </p:sp>
      <p:sp>
        <p:nvSpPr>
          <p:cNvPr id="47" name="Shape 34"/>
          <p:cNvSpPr/>
          <p:nvPr/>
        </p:nvSpPr>
        <p:spPr>
          <a:xfrm>
            <a:off x="4389120" y="2743200"/>
            <a:ext cx="7498080" cy="1143000"/>
          </a:xfrm>
          <a:prstGeom prst="rect">
            <a:avLst/>
          </a:prstGeom>
          <a:solidFill>
            <a:srgbClr val="EFE8D2"/>
          </a:solidFill>
          <a:ln/>
        </p:spPr>
      </p:sp>
      <p:sp>
        <p:nvSpPr>
          <p:cNvPr id="48" name="Text 35"/>
          <p:cNvSpPr txBox="1"/>
          <p:nvPr/>
        </p:nvSpPr>
        <p:spPr>
          <a:xfrm>
            <a:off x="10881360" y="30815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C62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C62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</a:t>
            </a:r>
            <a:endParaRPr lang="en-US" sz="1300" dirty="0"/>
          </a:p>
        </p:txBody>
      </p:sp>
      <p:sp>
        <p:nvSpPr>
          <p:cNvPr id="49" name="Shape 36"/>
          <p:cNvSpPr/>
          <p:nvPr/>
        </p:nvSpPr>
        <p:spPr>
          <a:xfrm>
            <a:off x="4389120" y="3886200"/>
            <a:ext cx="7498080" cy="2468880"/>
          </a:xfrm>
          <a:prstGeom prst="rect">
            <a:avLst/>
          </a:prstGeom>
          <a:solidFill>
            <a:srgbClr val="DCE7DF"/>
          </a:solidFill>
          <a:ln/>
        </p:spPr>
      </p:sp>
      <p:sp>
        <p:nvSpPr>
          <p:cNvPr id="50" name="Text 37"/>
          <p:cNvSpPr txBox="1"/>
          <p:nvPr/>
        </p:nvSpPr>
        <p:spPr>
          <a:xfrm>
            <a:off x="10881360" y="4617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</a:t>
            </a:r>
            <a:endParaRPr lang="en-US" sz="1300" dirty="0"/>
          </a:p>
        </p:txBody>
      </p:sp>
      <p:sp>
        <p:nvSpPr>
          <p:cNvPr id="51" name="Shape 38"/>
          <p:cNvSpPr/>
          <p:nvPr/>
        </p:nvSpPr>
        <p:spPr>
          <a:xfrm>
            <a:off x="8138160" y="1627632"/>
            <a:ext cx="0" cy="4727448"/>
          </a:xfrm>
          <a:prstGeom prst="line">
            <a:avLst/>
          </a:prstGeom>
          <a:noFill/>
          <a:ln w="15875">
            <a:solidFill>
              <a:srgbClr val="B85042"/>
            </a:solidFill>
            <a:prstDash val="dash"/>
          </a:ln>
        </p:spPr>
      </p:sp>
      <p:sp>
        <p:nvSpPr>
          <p:cNvPr id="52" name="Text 39"/>
          <p:cNvSpPr txBox="1"/>
          <p:nvPr/>
        </p:nvSpPr>
        <p:spPr>
          <a:xfrm>
            <a:off x="6236208" y="10241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A6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Unverified</a:t>
            </a:r>
            <a:endParaRPr lang="en-US" sz="1200" dirty="0"/>
          </a:p>
        </p:txBody>
      </p:sp>
      <p:pic>
        <p:nvPicPr>
          <p:cNvPr id="5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89320" y="1069848"/>
            <a:ext cx="182880" cy="182880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9518904" y="10241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</a:t>
            </a:r>
            <a:endParaRPr lang="en-US" sz="1200" dirty="0"/>
          </a:p>
        </p:txBody>
      </p:sp>
      <p:pic>
        <p:nvPicPr>
          <p:cNvPr id="5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72016" y="1069848"/>
            <a:ext cx="182880" cy="182880"/>
          </a:xfrm>
          <a:prstGeom prst="rect">
            <a:avLst/>
          </a:prstGeom>
        </p:spPr>
      </p:pic>
      <p:sp>
        <p:nvSpPr>
          <p:cNvPr id="56" name="Text 41"/>
          <p:cNvSpPr txBox="1"/>
          <p:nvPr/>
        </p:nvSpPr>
        <p:spPr>
          <a:xfrm>
            <a:off x="7360920" y="64008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border</a:t>
            </a:r>
            <a:endParaRPr lang="en-US" sz="1000" dirty="0"/>
          </a:p>
        </p:txBody>
      </p:sp>
      <p:sp>
        <p:nvSpPr>
          <p:cNvPr id="57" name="Shape 42"/>
          <p:cNvSpPr/>
          <p:nvPr/>
        </p:nvSpPr>
        <p:spPr>
          <a:xfrm>
            <a:off x="8138160" y="749808"/>
            <a:ext cx="0" cy="45720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58" name="Shape 43"/>
          <p:cNvSpPr/>
          <p:nvPr/>
        </p:nvSpPr>
        <p:spPr>
          <a:xfrm flipV="1">
            <a:off x="7423404" y="1627632"/>
            <a:ext cx="469392" cy="402336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59" name="Shape 44"/>
          <p:cNvSpPr/>
          <p:nvPr/>
        </p:nvSpPr>
        <p:spPr>
          <a:xfrm>
            <a:off x="8383524" y="1627632"/>
            <a:ext cx="469392" cy="402336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0" name="Shape 45"/>
          <p:cNvSpPr/>
          <p:nvPr/>
        </p:nvSpPr>
        <p:spPr>
          <a:xfrm flipV="1">
            <a:off x="6480126" y="2450592"/>
            <a:ext cx="527148" cy="649224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1" name="Shape 46"/>
          <p:cNvSpPr/>
          <p:nvPr/>
        </p:nvSpPr>
        <p:spPr>
          <a:xfrm>
            <a:off x="6949440" y="3310128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headEnd type="triangle"/>
            <a:tailEnd type="triangle"/>
          </a:ln>
        </p:spPr>
      </p:sp>
      <p:sp>
        <p:nvSpPr>
          <p:cNvPr id="62" name="Shape 47"/>
          <p:cNvSpPr/>
          <p:nvPr/>
        </p:nvSpPr>
        <p:spPr>
          <a:xfrm>
            <a:off x="8778240" y="3310128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headEnd type="triangle"/>
            <a:tailEnd type="triangle"/>
          </a:ln>
        </p:spPr>
      </p:sp>
      <p:sp>
        <p:nvSpPr>
          <p:cNvPr id="63" name="Shape 48"/>
          <p:cNvSpPr/>
          <p:nvPr/>
        </p:nvSpPr>
        <p:spPr>
          <a:xfrm>
            <a:off x="9269046" y="2450592"/>
            <a:ext cx="527148" cy="649224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4" name="Shape 49"/>
          <p:cNvSpPr/>
          <p:nvPr/>
        </p:nvSpPr>
        <p:spPr>
          <a:xfrm>
            <a:off x="10055203" y="3520440"/>
            <a:ext cx="943814" cy="2249424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5" name="Shape 50"/>
          <p:cNvSpPr/>
          <p:nvPr/>
        </p:nvSpPr>
        <p:spPr>
          <a:xfrm flipV="1">
            <a:off x="5277303" y="3520440"/>
            <a:ext cx="943814" cy="2249424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6" name="Shape 51"/>
          <p:cNvSpPr/>
          <p:nvPr/>
        </p:nvSpPr>
        <p:spPr>
          <a:xfrm flipH="1">
            <a:off x="7863840" y="4315968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7" name="Shape 52"/>
          <p:cNvSpPr/>
          <p:nvPr/>
        </p:nvSpPr>
        <p:spPr>
          <a:xfrm flipH="1">
            <a:off x="7863840" y="4718304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8" name="Shape 53"/>
          <p:cNvSpPr/>
          <p:nvPr/>
        </p:nvSpPr>
        <p:spPr>
          <a:xfrm flipH="1">
            <a:off x="7863840" y="5120640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9" name="Shape 54"/>
          <p:cNvSpPr/>
          <p:nvPr/>
        </p:nvSpPr>
        <p:spPr>
          <a:xfrm flipH="1">
            <a:off x="7863840" y="5522976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0" name="Shape 55"/>
          <p:cNvSpPr/>
          <p:nvPr/>
        </p:nvSpPr>
        <p:spPr>
          <a:xfrm flipH="1">
            <a:off x="7863840" y="5925312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1" name="Shape 56"/>
          <p:cNvSpPr/>
          <p:nvPr/>
        </p:nvSpPr>
        <p:spPr>
          <a:xfrm>
            <a:off x="9601200" y="4315968"/>
            <a:ext cx="868680" cy="1609344"/>
          </a:xfrm>
          <a:custGeom>
            <a:avLst/>
            <a:gdLst/>
            <a:ahLst/>
            <a:cxnLst/>
            <a:rect l="l" t="t" r="r" b="b"/>
            <a:pathLst>
              <a:path w="868680" h="1609344">
                <a:moveTo>
                  <a:pt x="868680" y="1609344"/>
                </a:moveTo>
                <a:cubicBezTo>
                  <a:pt x="390906" y="1609344"/>
                  <a:pt x="477774" y="0"/>
                  <a:pt x="0" y="0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2" name="Shape 57"/>
          <p:cNvSpPr/>
          <p:nvPr/>
        </p:nvSpPr>
        <p:spPr>
          <a:xfrm>
            <a:off x="5806440" y="4315968"/>
            <a:ext cx="868680" cy="1609344"/>
          </a:xfrm>
          <a:custGeom>
            <a:avLst/>
            <a:gdLst/>
            <a:ahLst/>
            <a:cxnLst/>
            <a:rect l="l" t="t" r="r" b="b"/>
            <a:pathLst>
              <a:path w="868680" h="1609344">
                <a:moveTo>
                  <a:pt x="868680" y="0"/>
                </a:moveTo>
                <a:cubicBezTo>
                  <a:pt x="390906" y="0"/>
                  <a:pt x="477774" y="1609344"/>
                  <a:pt x="0" y="1609344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3" name="Shape 58"/>
          <p:cNvSpPr/>
          <p:nvPr/>
        </p:nvSpPr>
        <p:spPr>
          <a:xfrm>
            <a:off x="9601200" y="4718304"/>
            <a:ext cx="868680" cy="1207008"/>
          </a:xfrm>
          <a:custGeom>
            <a:avLst/>
            <a:gdLst/>
            <a:ahLst/>
            <a:cxnLst/>
            <a:rect l="l" t="t" r="r" b="b"/>
            <a:pathLst>
              <a:path w="868680" h="1207008">
                <a:moveTo>
                  <a:pt x="868680" y="1207008"/>
                </a:moveTo>
                <a:cubicBezTo>
                  <a:pt x="390906" y="1207008"/>
                  <a:pt x="477774" y="0"/>
                  <a:pt x="0" y="0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4" name="Shape 59"/>
          <p:cNvSpPr/>
          <p:nvPr/>
        </p:nvSpPr>
        <p:spPr>
          <a:xfrm>
            <a:off x="5806440" y="4718304"/>
            <a:ext cx="868680" cy="1207008"/>
          </a:xfrm>
          <a:custGeom>
            <a:avLst/>
            <a:gdLst/>
            <a:ahLst/>
            <a:cxnLst/>
            <a:rect l="l" t="t" r="r" b="b"/>
            <a:pathLst>
              <a:path w="868680" h="1207008">
                <a:moveTo>
                  <a:pt x="868680" y="0"/>
                </a:moveTo>
                <a:cubicBezTo>
                  <a:pt x="390906" y="0"/>
                  <a:pt x="477774" y="1207008"/>
                  <a:pt x="0" y="1207008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5" name="Shape 60"/>
          <p:cNvSpPr/>
          <p:nvPr/>
        </p:nvSpPr>
        <p:spPr>
          <a:xfrm>
            <a:off x="9601200" y="5120640"/>
            <a:ext cx="868680" cy="804672"/>
          </a:xfrm>
          <a:custGeom>
            <a:avLst/>
            <a:gdLst/>
            <a:ahLst/>
            <a:cxnLst/>
            <a:rect l="l" t="t" r="r" b="b"/>
            <a:pathLst>
              <a:path w="868680" h="804672">
                <a:moveTo>
                  <a:pt x="868680" y="804672"/>
                </a:moveTo>
                <a:cubicBezTo>
                  <a:pt x="390906" y="804672"/>
                  <a:pt x="477774" y="0"/>
                  <a:pt x="0" y="0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6" name="Shape 61"/>
          <p:cNvSpPr/>
          <p:nvPr/>
        </p:nvSpPr>
        <p:spPr>
          <a:xfrm>
            <a:off x="5806440" y="5120640"/>
            <a:ext cx="868680" cy="804672"/>
          </a:xfrm>
          <a:custGeom>
            <a:avLst/>
            <a:gdLst/>
            <a:ahLst/>
            <a:cxnLst/>
            <a:rect l="l" t="t" r="r" b="b"/>
            <a:pathLst>
              <a:path w="868680" h="804672">
                <a:moveTo>
                  <a:pt x="868680" y="0"/>
                </a:moveTo>
                <a:cubicBezTo>
                  <a:pt x="390906" y="0"/>
                  <a:pt x="477774" y="804672"/>
                  <a:pt x="0" y="804672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7" name="Shape 62"/>
          <p:cNvSpPr/>
          <p:nvPr/>
        </p:nvSpPr>
        <p:spPr>
          <a:xfrm>
            <a:off x="9601200" y="5522976"/>
            <a:ext cx="868680" cy="402336"/>
          </a:xfrm>
          <a:custGeom>
            <a:avLst/>
            <a:gdLst/>
            <a:ahLst/>
            <a:cxnLst/>
            <a:rect l="l" t="t" r="r" b="b"/>
            <a:pathLst>
              <a:path w="868680" h="402336">
                <a:moveTo>
                  <a:pt x="868680" y="402336"/>
                </a:moveTo>
                <a:cubicBezTo>
                  <a:pt x="390906" y="402336"/>
                  <a:pt x="477774" y="0"/>
                  <a:pt x="0" y="0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8" name="Shape 63"/>
          <p:cNvSpPr/>
          <p:nvPr/>
        </p:nvSpPr>
        <p:spPr>
          <a:xfrm>
            <a:off x="5806440" y="5522976"/>
            <a:ext cx="868680" cy="402336"/>
          </a:xfrm>
          <a:custGeom>
            <a:avLst/>
            <a:gdLst/>
            <a:ahLst/>
            <a:cxnLst/>
            <a:rect l="l" t="t" r="r" b="b"/>
            <a:pathLst>
              <a:path w="868680" h="402336">
                <a:moveTo>
                  <a:pt x="868680" y="0"/>
                </a:moveTo>
                <a:cubicBezTo>
                  <a:pt x="390906" y="0"/>
                  <a:pt x="477774" y="402336"/>
                  <a:pt x="0" y="402336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9" name="Shape 64"/>
          <p:cNvSpPr/>
          <p:nvPr/>
        </p:nvSpPr>
        <p:spPr>
          <a:xfrm flipH="1">
            <a:off x="9601200" y="5925312"/>
            <a:ext cx="8686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80" name="Shape 65"/>
          <p:cNvSpPr/>
          <p:nvPr/>
        </p:nvSpPr>
        <p:spPr>
          <a:xfrm flipH="1">
            <a:off x="5806440" y="5925312"/>
            <a:ext cx="8686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81" name="Text 66"/>
          <p:cNvSpPr txBox="1"/>
          <p:nvPr/>
        </p:nvSpPr>
        <p:spPr>
          <a:xfrm>
            <a:off x="7498080" y="1207008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Feed</a:t>
            </a:r>
            <a:endParaRPr lang="en-US" sz="1050" dirty="0"/>
          </a:p>
        </p:txBody>
      </p:sp>
      <p:sp>
        <p:nvSpPr>
          <p:cNvPr id="82" name="Text 67"/>
          <p:cNvSpPr txBox="1"/>
          <p:nvPr/>
        </p:nvSpPr>
        <p:spPr>
          <a:xfrm>
            <a:off x="6537960" y="2029968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Prioritizer</a:t>
            </a:r>
            <a:endParaRPr lang="en-US" sz="1050" dirty="0"/>
          </a:p>
        </p:txBody>
      </p:sp>
      <p:sp>
        <p:nvSpPr>
          <p:cNvPr id="83" name="Text 68"/>
          <p:cNvSpPr txBox="1"/>
          <p:nvPr/>
        </p:nvSpPr>
        <p:spPr>
          <a:xfrm>
            <a:off x="8458200" y="2029968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</a:t>
            </a:r>
            <a:endParaRPr lang="en-US" sz="1050" dirty="0"/>
          </a:p>
        </p:txBody>
      </p:sp>
      <p:sp>
        <p:nvSpPr>
          <p:cNvPr id="84" name="Text 69"/>
          <p:cNvSpPr txBox="1"/>
          <p:nvPr/>
        </p:nvSpPr>
        <p:spPr>
          <a:xfrm>
            <a:off x="5669280" y="3099816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Cards</a:t>
            </a:r>
            <a:endParaRPr lang="en-US" sz="1050" dirty="0"/>
          </a:p>
        </p:txBody>
      </p:sp>
      <p:sp>
        <p:nvSpPr>
          <p:cNvPr id="85" name="Text 70"/>
          <p:cNvSpPr txBox="1"/>
          <p:nvPr/>
        </p:nvSpPr>
        <p:spPr>
          <a:xfrm>
            <a:off x="7498080" y="3099816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Gate</a:t>
            </a:r>
            <a:endParaRPr lang="en-US" sz="1050" dirty="0"/>
          </a:p>
        </p:txBody>
      </p:sp>
      <p:sp>
        <p:nvSpPr>
          <p:cNvPr id="86" name="Text 71"/>
          <p:cNvSpPr txBox="1"/>
          <p:nvPr/>
        </p:nvSpPr>
        <p:spPr>
          <a:xfrm>
            <a:off x="9326880" y="3099816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050" dirty="0"/>
          </a:p>
        </p:txBody>
      </p:sp>
      <p:sp>
        <p:nvSpPr>
          <p:cNvPr id="87" name="Shape 72"/>
          <p:cNvSpPr/>
          <p:nvPr/>
        </p:nvSpPr>
        <p:spPr>
          <a:xfrm>
            <a:off x="6675120" y="4160520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8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24939" y="4238244"/>
            <a:ext cx="155448" cy="155448"/>
          </a:xfrm>
          <a:prstGeom prst="rect">
            <a:avLst/>
          </a:prstGeom>
        </p:spPr>
      </p:pic>
      <p:sp>
        <p:nvSpPr>
          <p:cNvPr id="89" name="Text 73"/>
          <p:cNvSpPr txBox="1"/>
          <p:nvPr/>
        </p:nvSpPr>
        <p:spPr>
          <a:xfrm>
            <a:off x="7244395" y="4160520"/>
            <a:ext cx="4067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</a:t>
            </a:r>
            <a:endParaRPr lang="en-US" sz="1000" dirty="0"/>
          </a:p>
        </p:txBody>
      </p:sp>
      <p:sp>
        <p:nvSpPr>
          <p:cNvPr id="90" name="Shape 74"/>
          <p:cNvSpPr/>
          <p:nvPr/>
        </p:nvSpPr>
        <p:spPr>
          <a:xfrm>
            <a:off x="6675120" y="4562856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9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48596" y="4640580"/>
            <a:ext cx="155448" cy="155448"/>
          </a:xfrm>
          <a:prstGeom prst="rect">
            <a:avLst/>
          </a:prstGeom>
        </p:spPr>
      </p:pic>
      <p:sp>
        <p:nvSpPr>
          <p:cNvPr id="92" name="Text 75"/>
          <p:cNvSpPr txBox="1"/>
          <p:nvPr/>
        </p:nvSpPr>
        <p:spPr>
          <a:xfrm>
            <a:off x="7268052" y="4562856"/>
            <a:ext cx="359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93" name="Shape 76"/>
          <p:cNvSpPr/>
          <p:nvPr/>
        </p:nvSpPr>
        <p:spPr>
          <a:xfrm>
            <a:off x="6675120" y="4965192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9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67268" y="5042916"/>
            <a:ext cx="155448" cy="155448"/>
          </a:xfrm>
          <a:prstGeom prst="rect">
            <a:avLst/>
          </a:prstGeom>
        </p:spPr>
      </p:pic>
      <p:sp>
        <p:nvSpPr>
          <p:cNvPr id="95" name="Text 77"/>
          <p:cNvSpPr txBox="1"/>
          <p:nvPr/>
        </p:nvSpPr>
        <p:spPr>
          <a:xfrm>
            <a:off x="7186724" y="4965192"/>
            <a:ext cx="52212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000" dirty="0"/>
          </a:p>
        </p:txBody>
      </p:sp>
      <p:sp>
        <p:nvSpPr>
          <p:cNvPr id="96" name="Shape 78"/>
          <p:cNvSpPr/>
          <p:nvPr/>
        </p:nvSpPr>
        <p:spPr>
          <a:xfrm>
            <a:off x="6675120" y="5367528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9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61960" y="5445252"/>
            <a:ext cx="155448" cy="155448"/>
          </a:xfrm>
          <a:prstGeom prst="rect">
            <a:avLst/>
          </a:prstGeom>
        </p:spPr>
      </p:pic>
      <p:sp>
        <p:nvSpPr>
          <p:cNvPr id="98" name="Text 79"/>
          <p:cNvSpPr txBox="1"/>
          <p:nvPr/>
        </p:nvSpPr>
        <p:spPr>
          <a:xfrm>
            <a:off x="7281416" y="5367528"/>
            <a:ext cx="3327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</a:t>
            </a:r>
            <a:endParaRPr lang="en-US" sz="1000" dirty="0"/>
          </a:p>
        </p:txBody>
      </p:sp>
      <p:sp>
        <p:nvSpPr>
          <p:cNvPr id="99" name="Shape 80"/>
          <p:cNvSpPr/>
          <p:nvPr/>
        </p:nvSpPr>
        <p:spPr>
          <a:xfrm>
            <a:off x="6675120" y="5769864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10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40137" y="5847588"/>
            <a:ext cx="155448" cy="155448"/>
          </a:xfrm>
          <a:prstGeom prst="rect">
            <a:avLst/>
          </a:prstGeom>
        </p:spPr>
      </p:pic>
      <p:sp>
        <p:nvSpPr>
          <p:cNvPr id="101" name="Text 81"/>
          <p:cNvSpPr txBox="1"/>
          <p:nvPr/>
        </p:nvSpPr>
        <p:spPr>
          <a:xfrm>
            <a:off x="7159593" y="5769864"/>
            <a:ext cx="5763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</a:t>
            </a:r>
            <a:endParaRPr lang="en-US" sz="1000" dirty="0"/>
          </a:p>
        </p:txBody>
      </p:sp>
      <p:sp>
        <p:nvSpPr>
          <p:cNvPr id="102" name="Text 82"/>
          <p:cNvSpPr txBox="1"/>
          <p:nvPr/>
        </p:nvSpPr>
        <p:spPr>
          <a:xfrm>
            <a:off x="8412480" y="4160520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000" dirty="0"/>
          </a:p>
        </p:txBody>
      </p:sp>
      <p:sp>
        <p:nvSpPr>
          <p:cNvPr id="103" name="Text 83"/>
          <p:cNvSpPr txBox="1"/>
          <p:nvPr/>
        </p:nvSpPr>
        <p:spPr>
          <a:xfrm>
            <a:off x="8412480" y="4562856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</a:t>
            </a:r>
            <a:endParaRPr lang="en-US" sz="1000" dirty="0"/>
          </a:p>
        </p:txBody>
      </p:sp>
      <p:sp>
        <p:nvSpPr>
          <p:cNvPr id="104" name="Text 84"/>
          <p:cNvSpPr txBox="1"/>
          <p:nvPr/>
        </p:nvSpPr>
        <p:spPr>
          <a:xfrm>
            <a:off x="8412480" y="4965192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105" name="Text 85"/>
          <p:cNvSpPr txBox="1"/>
          <p:nvPr/>
        </p:nvSpPr>
        <p:spPr>
          <a:xfrm>
            <a:off x="8412480" y="5367528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000" dirty="0"/>
          </a:p>
        </p:txBody>
      </p:sp>
      <p:sp>
        <p:nvSpPr>
          <p:cNvPr id="106" name="Text 86"/>
          <p:cNvSpPr txBox="1"/>
          <p:nvPr/>
        </p:nvSpPr>
        <p:spPr>
          <a:xfrm>
            <a:off x="8412480" y="5769864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07" name="Text 87"/>
          <p:cNvSpPr txBox="1"/>
          <p:nvPr/>
        </p:nvSpPr>
        <p:spPr>
          <a:xfrm>
            <a:off x="4617720" y="5769864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Summarizer</a:t>
            </a:r>
            <a:endParaRPr lang="en-US" sz="1000" dirty="0"/>
          </a:p>
        </p:txBody>
      </p:sp>
      <p:sp>
        <p:nvSpPr>
          <p:cNvPr id="108" name="Text 88"/>
          <p:cNvSpPr txBox="1"/>
          <p:nvPr/>
        </p:nvSpPr>
        <p:spPr>
          <a:xfrm>
            <a:off x="10469880" y="5769864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000" dirty="0"/>
          </a:p>
        </p:txBody>
      </p:sp>
      <p:sp>
        <p:nvSpPr>
          <p:cNvPr id="109" name="Shape 89"/>
          <p:cNvSpPr/>
          <p:nvPr/>
        </p:nvSpPr>
        <p:spPr>
          <a:xfrm>
            <a:off x="7255764" y="614476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0" name="Shape 90"/>
          <p:cNvSpPr/>
          <p:nvPr/>
        </p:nvSpPr>
        <p:spPr>
          <a:xfrm>
            <a:off x="7255764" y="619048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1" name="Shape 91"/>
          <p:cNvSpPr/>
          <p:nvPr/>
        </p:nvSpPr>
        <p:spPr>
          <a:xfrm>
            <a:off x="7255764" y="623620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2" name="Shape 92"/>
          <p:cNvSpPr/>
          <p:nvPr/>
        </p:nvSpPr>
        <p:spPr>
          <a:xfrm>
            <a:off x="8993124" y="614476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3" name="Shape 93"/>
          <p:cNvSpPr/>
          <p:nvPr/>
        </p:nvSpPr>
        <p:spPr>
          <a:xfrm>
            <a:off x="8993124" y="619048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4" name="Shape 94"/>
          <p:cNvSpPr/>
          <p:nvPr/>
        </p:nvSpPr>
        <p:spPr>
          <a:xfrm>
            <a:off x="8993124" y="623620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5" name="Shape 95"/>
          <p:cNvSpPr/>
          <p:nvPr/>
        </p:nvSpPr>
        <p:spPr>
          <a:xfrm>
            <a:off x="8028432" y="73152"/>
            <a:ext cx="219456" cy="219456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6" name="Text 96"/>
          <p:cNvSpPr txBox="1"/>
          <p:nvPr/>
        </p:nvSpPr>
        <p:spPr>
          <a:xfrm>
            <a:off x="7882128" y="320040"/>
            <a:ext cx="512064" cy="429768"/>
          </a:xfrm>
          <a:prstGeom prst="roundRect">
            <a:avLst>
              <a:gd name="adj" fmla="val 34043"/>
            </a:avLst>
          </a:prstGeom>
          <a:solidFill>
            <a:srgbClr val="2F3E4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388620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App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182548" y="960120"/>
            <a:ext cx="2487168" cy="5394960"/>
          </a:xfrm>
          <a:prstGeom prst="roundRect">
            <a:avLst>
              <a:gd name="adj" fmla="val 13235"/>
            </a:avLst>
          </a:prstGeom>
          <a:solidFill>
            <a:srgbClr val="F7F5F0"/>
          </a:solidFill>
          <a:ln/>
          <a:effectLst>
            <a:outerShdw sx="100000" sy="100000" kx="0" ky="0" algn="bl" rotWithShape="0" blurRad="152400" dist="50800" dir="5400000">
              <a:srgbClr val="1E293B">
                <a:alpha val="2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347140" y="1289304"/>
            <a:ext cx="2157984" cy="4334256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5D9D3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475156" y="1417320"/>
            <a:ext cx="1901952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 ·  momentum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 guard on every change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Reacts to every change in the knowledge base so it stays consistent at all times, despite free access.</a:t>
            </a:r>
            <a:endParaRPr lang="en-US" sz="800" dirty="0"/>
          </a:p>
          <a:p>
            <a:pPr marL="127000" indent="-127000">
              <a:spcBef>
                <a:spcPts val="8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related changes into a transaction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card limits and references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Raises what it cannot fix as an issue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index and metrics database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2005508" y="4443984"/>
            <a:ext cx="155448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691308" y="4443984"/>
            <a:ext cx="155448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426132" y="4626864"/>
            <a:ext cx="0" cy="310896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1475156" y="4261104"/>
            <a:ext cx="5303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160956" y="4261104"/>
            <a:ext cx="5303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2846756" y="4261104"/>
            <a:ext cx="5303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line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2160956" y="4937760"/>
            <a:ext cx="5303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1273988" y="5696712"/>
            <a:ext cx="2304288" cy="566928"/>
          </a:xfrm>
          <a:prstGeom prst="rect">
            <a:avLst/>
          </a:prstGeom>
          <a:solidFill>
            <a:srgbClr val="F7F5F0"/>
          </a:solidFill>
          <a:ln/>
        </p:spPr>
      </p:sp>
      <p:sp>
        <p:nvSpPr>
          <p:cNvPr id="15" name="Shape 12"/>
          <p:cNvSpPr/>
          <p:nvPr/>
        </p:nvSpPr>
        <p:spPr>
          <a:xfrm>
            <a:off x="1273988" y="5696712"/>
            <a:ext cx="2304288" cy="0"/>
          </a:xfrm>
          <a:prstGeom prst="line">
            <a:avLst/>
          </a:prstGeom>
          <a:noFill/>
          <a:ln w="9525">
            <a:solidFill>
              <a:srgbClr val="D5D9D3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2977" y="57881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273988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7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834" y="5788152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34845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7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4692" y="5788152"/>
            <a:ext cx="182880" cy="1828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195703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7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5549" y="5788152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2656561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7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6407" y="5788152"/>
            <a:ext cx="182880" cy="1828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117418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700" dirty="0"/>
          </a:p>
        </p:txBody>
      </p:sp>
      <p:sp>
        <p:nvSpPr>
          <p:cNvPr id="26" name="Shape 18"/>
          <p:cNvSpPr/>
          <p:nvPr/>
        </p:nvSpPr>
        <p:spPr>
          <a:xfrm>
            <a:off x="1228268" y="1005840"/>
            <a:ext cx="2395728" cy="5303520"/>
          </a:xfrm>
          <a:prstGeom prst="roundRect">
            <a:avLst>
              <a:gd name="adj" fmla="val 11832"/>
            </a:avLst>
          </a:prstGeom>
          <a:ln w="91440">
            <a:solidFill>
              <a:srgbClr val="2F3E46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2078660" y="1088136"/>
            <a:ext cx="694944" cy="128016"/>
          </a:xfrm>
          <a:prstGeom prst="roundRect">
            <a:avLst>
              <a:gd name="adj" fmla="val 50000"/>
            </a:avLst>
          </a:prstGeom>
          <a:solidFill>
            <a:srgbClr val="2F3E46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816788" y="6400800"/>
            <a:ext cx="321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cards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4852264" y="960120"/>
            <a:ext cx="2487168" cy="5394960"/>
          </a:xfrm>
          <a:prstGeom prst="roundRect">
            <a:avLst>
              <a:gd name="adj" fmla="val 13235"/>
            </a:avLst>
          </a:prstGeom>
          <a:solidFill>
            <a:srgbClr val="F7F5F0"/>
          </a:solidFill>
          <a:ln/>
          <a:effectLst>
            <a:outerShdw sx="100000" sy="100000" kx="0" ky="0" algn="bl" rotWithShape="0" blurRad="152400" dist="50800" dir="5400000">
              <a:srgbClr val="1E293B">
                <a:alpha val="22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4943704" y="1051560"/>
            <a:ext cx="2304288" cy="4645152"/>
          </a:xfrm>
          <a:prstGeom prst="rect">
            <a:avLst/>
          </a:prstGeom>
          <a:solidFill>
            <a:srgbClr val="DCE7DF"/>
          </a:solidFill>
          <a:ln/>
        </p:spPr>
      </p:sp>
      <p:sp>
        <p:nvSpPr>
          <p:cNvPr id="31" name="Shape 23"/>
          <p:cNvSpPr/>
          <p:nvPr/>
        </p:nvSpPr>
        <p:spPr>
          <a:xfrm rot="150000">
            <a:off x="5053432" y="1289304"/>
            <a:ext cx="2157984" cy="4334256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5D9D3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16000"/>
              </a:srgbClr>
            </a:outerShdw>
          </a:effectLst>
        </p:spPr>
      </p:sp>
      <p:sp>
        <p:nvSpPr>
          <p:cNvPr id="32" name="Text 24"/>
          <p:cNvSpPr txBox="1"/>
          <p:nvPr/>
        </p:nvSpPr>
        <p:spPr>
          <a:xfrm rot="150000">
            <a:off x="5221333" y="1418190"/>
            <a:ext cx="1901952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 ·  momentum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access over a private mesh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 is exposed to the public internet; clients reach the machine through a WireGuard mesh.</a:t>
            </a:r>
            <a:endParaRPr lang="en-US" sz="800" dirty="0"/>
          </a:p>
          <a:p>
            <a:pPr marL="127000" indent="-127000">
              <a:spcBef>
                <a:spcPts val="8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listens only on the mesh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 per enrolled device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devices revoked centrally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secret in clients</a:t>
            </a:r>
            <a:endParaRPr lang="en-US" sz="800" dirty="0"/>
          </a:p>
        </p:txBody>
      </p:sp>
      <p:sp>
        <p:nvSpPr>
          <p:cNvPr id="33" name="Text 25"/>
          <p:cNvSpPr txBox="1"/>
          <p:nvPr/>
        </p:nvSpPr>
        <p:spPr>
          <a:xfrm rot="150000">
            <a:off x="5142952" y="4187409"/>
            <a:ext cx="658368" cy="274320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850" dirty="0"/>
          </a:p>
        </p:txBody>
      </p:sp>
      <p:sp>
        <p:nvSpPr>
          <p:cNvPr id="34" name="Text 26"/>
          <p:cNvSpPr txBox="1"/>
          <p:nvPr/>
        </p:nvSpPr>
        <p:spPr>
          <a:xfrm rot="150000">
            <a:off x="5800414" y="4228890"/>
            <a:ext cx="1243584" cy="274320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850" dirty="0"/>
          </a:p>
        </p:txBody>
      </p:sp>
      <p:sp>
        <p:nvSpPr>
          <p:cNvPr id="35" name="Text 27"/>
          <p:cNvSpPr txBox="1"/>
          <p:nvPr/>
        </p:nvSpPr>
        <p:spPr>
          <a:xfrm rot="150000">
            <a:off x="5130986" y="4461468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850" dirty="0"/>
          </a:p>
        </p:txBody>
      </p:sp>
      <p:sp>
        <p:nvSpPr>
          <p:cNvPr id="36" name="Text 28"/>
          <p:cNvSpPr txBox="1"/>
          <p:nvPr/>
        </p:nvSpPr>
        <p:spPr>
          <a:xfrm rot="150000">
            <a:off x="5788449" y="4502949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encryption</a:t>
            </a:r>
            <a:endParaRPr lang="en-US" sz="850" dirty="0"/>
          </a:p>
        </p:txBody>
      </p:sp>
      <p:sp>
        <p:nvSpPr>
          <p:cNvPr id="37" name="Text 29"/>
          <p:cNvSpPr txBox="1"/>
          <p:nvPr/>
        </p:nvSpPr>
        <p:spPr>
          <a:xfrm rot="150000">
            <a:off x="5119020" y="4735527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50" dirty="0"/>
          </a:p>
        </p:txBody>
      </p:sp>
      <p:sp>
        <p:nvSpPr>
          <p:cNvPr id="38" name="Text 30"/>
          <p:cNvSpPr txBox="1"/>
          <p:nvPr/>
        </p:nvSpPr>
        <p:spPr>
          <a:xfrm rot="150000">
            <a:off x="5776483" y="4777008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session</a:t>
            </a:r>
            <a:endParaRPr lang="en-US" sz="850" dirty="0"/>
          </a:p>
        </p:txBody>
      </p:sp>
      <p:sp>
        <p:nvSpPr>
          <p:cNvPr id="39" name="Text 31"/>
          <p:cNvSpPr txBox="1"/>
          <p:nvPr/>
        </p:nvSpPr>
        <p:spPr>
          <a:xfrm rot="150000">
            <a:off x="5107055" y="5009586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850" dirty="0"/>
          </a:p>
        </p:txBody>
      </p:sp>
      <p:sp>
        <p:nvSpPr>
          <p:cNvPr id="40" name="Text 32"/>
          <p:cNvSpPr txBox="1"/>
          <p:nvPr/>
        </p:nvSpPr>
        <p:spPr>
          <a:xfrm rot="150000">
            <a:off x="5764517" y="5051067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inbound firewall rule</a:t>
            </a:r>
            <a:endParaRPr lang="en-US" sz="850" dirty="0"/>
          </a:p>
        </p:txBody>
      </p:sp>
      <p:sp>
        <p:nvSpPr>
          <p:cNvPr id="41" name="Text 33"/>
          <p:cNvSpPr txBox="1"/>
          <p:nvPr/>
        </p:nvSpPr>
        <p:spPr>
          <a:xfrm rot="21150000">
            <a:off x="5171067" y="3747748"/>
            <a:ext cx="10058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25400">
            <a:solidFill>
              <a:srgbClr val="3F6B5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6299703" y="3823915"/>
            <a:ext cx="566928" cy="0"/>
          </a:xfrm>
          <a:prstGeom prst="line">
            <a:avLst/>
          </a:prstGeom>
          <a:noFill/>
          <a:ln w="25400">
            <a:solidFill>
              <a:srgbClr val="2F3E46">
                <a:alpha val="85000"/>
              </a:srgbClr>
            </a:solidFill>
            <a:prstDash val="solid"/>
            <a:tailEnd type="triangle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479" y="3869635"/>
            <a:ext cx="237744" cy="237744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4943704" y="5696712"/>
            <a:ext cx="2304288" cy="566928"/>
          </a:xfrm>
          <a:prstGeom prst="rect">
            <a:avLst/>
          </a:prstGeom>
          <a:solidFill>
            <a:srgbClr val="F7F5F0"/>
          </a:solidFill>
          <a:ln/>
        </p:spPr>
      </p:sp>
      <p:sp>
        <p:nvSpPr>
          <p:cNvPr id="45" name="Shape 36"/>
          <p:cNvSpPr/>
          <p:nvPr/>
        </p:nvSpPr>
        <p:spPr>
          <a:xfrm>
            <a:off x="4943704" y="5696712"/>
            <a:ext cx="2304288" cy="0"/>
          </a:xfrm>
          <a:prstGeom prst="line">
            <a:avLst/>
          </a:prstGeom>
          <a:noFill/>
          <a:ln w="9525">
            <a:solidFill>
              <a:srgbClr val="D5D9D3"/>
            </a:solidFill>
            <a:prstDash val="solid"/>
          </a:ln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2692" y="5788152"/>
            <a:ext cx="182880" cy="18288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4943704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700" dirty="0"/>
          </a:p>
        </p:txBody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43550" y="5788152"/>
            <a:ext cx="182880" cy="18288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5404561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700" dirty="0"/>
          </a:p>
        </p:txBody>
      </p:sp>
      <p:pic>
        <p:nvPicPr>
          <p:cNvPr id="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04408" y="5788152"/>
            <a:ext cx="182880" cy="18288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5865419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700" dirty="0"/>
          </a:p>
        </p:txBody>
      </p:sp>
      <p:pic>
        <p:nvPicPr>
          <p:cNvPr id="5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65265" y="5788152"/>
            <a:ext cx="182880" cy="182880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6326276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700" dirty="0"/>
          </a:p>
        </p:txBody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6123" y="5788152"/>
            <a:ext cx="182880" cy="182880"/>
          </a:xfrm>
          <a:prstGeom prst="rect">
            <a:avLst/>
          </a:prstGeom>
        </p:spPr>
      </p:pic>
      <p:sp>
        <p:nvSpPr>
          <p:cNvPr id="55" name="Text 41"/>
          <p:cNvSpPr txBox="1"/>
          <p:nvPr/>
        </p:nvSpPr>
        <p:spPr>
          <a:xfrm>
            <a:off x="6787134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700" dirty="0"/>
          </a:p>
        </p:txBody>
      </p:sp>
      <p:sp>
        <p:nvSpPr>
          <p:cNvPr id="56" name="Shape 42"/>
          <p:cNvSpPr/>
          <p:nvPr/>
        </p:nvSpPr>
        <p:spPr>
          <a:xfrm>
            <a:off x="4897984" y="1005840"/>
            <a:ext cx="2395728" cy="5303520"/>
          </a:xfrm>
          <a:prstGeom prst="roundRect">
            <a:avLst>
              <a:gd name="adj" fmla="val 11832"/>
            </a:avLst>
          </a:prstGeom>
          <a:ln w="91440">
            <a:solidFill>
              <a:srgbClr val="2F3E46"/>
            </a:solidFill>
            <a:prstDash val="solid"/>
          </a:ln>
        </p:spPr>
      </p:sp>
      <p:sp>
        <p:nvSpPr>
          <p:cNvPr id="57" name="Shape 43"/>
          <p:cNvSpPr/>
          <p:nvPr/>
        </p:nvSpPr>
        <p:spPr>
          <a:xfrm>
            <a:off x="5748376" y="1088136"/>
            <a:ext cx="694944" cy="128016"/>
          </a:xfrm>
          <a:prstGeom prst="roundRect">
            <a:avLst>
              <a:gd name="adj" fmla="val 50000"/>
            </a:avLst>
          </a:prstGeom>
          <a:solidFill>
            <a:srgbClr val="2F3E46"/>
          </a:solidFill>
          <a:ln/>
        </p:spPr>
      </p:sp>
      <p:sp>
        <p:nvSpPr>
          <p:cNvPr id="58" name="Text 44"/>
          <p:cNvSpPr txBox="1"/>
          <p:nvPr/>
        </p:nvSpPr>
        <p:spPr>
          <a:xfrm>
            <a:off x="4486504" y="6400800"/>
            <a:ext cx="321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right to approve</a:t>
            </a:r>
            <a:endParaRPr lang="en-US" sz="1000" dirty="0"/>
          </a:p>
        </p:txBody>
      </p:sp>
      <p:sp>
        <p:nvSpPr>
          <p:cNvPr id="59" name="Shape 45"/>
          <p:cNvSpPr/>
          <p:nvPr/>
        </p:nvSpPr>
        <p:spPr>
          <a:xfrm>
            <a:off x="8521979" y="960120"/>
            <a:ext cx="2487168" cy="5394960"/>
          </a:xfrm>
          <a:prstGeom prst="roundRect">
            <a:avLst>
              <a:gd name="adj" fmla="val 13235"/>
            </a:avLst>
          </a:prstGeom>
          <a:solidFill>
            <a:srgbClr val="F7F5F0"/>
          </a:solidFill>
          <a:ln/>
          <a:effectLst>
            <a:outerShdw sx="100000" sy="100000" kx="0" ky="0" algn="bl" rotWithShape="0" blurRad="152400" dist="50800" dir="5400000">
              <a:srgbClr val="1E293B">
                <a:alpha val="22000"/>
              </a:srgbClr>
            </a:outerShdw>
          </a:effectLst>
        </p:spPr>
      </p:sp>
      <p:sp>
        <p:nvSpPr>
          <p:cNvPr id="60" name="Shape 46"/>
          <p:cNvSpPr/>
          <p:nvPr/>
        </p:nvSpPr>
        <p:spPr>
          <a:xfrm>
            <a:off x="8613419" y="1051560"/>
            <a:ext cx="2304288" cy="4645152"/>
          </a:xfrm>
          <a:prstGeom prst="rect">
            <a:avLst/>
          </a:prstGeom>
          <a:solidFill>
            <a:srgbClr val="F4DCD6"/>
          </a:solidFill>
          <a:ln/>
        </p:spPr>
      </p:sp>
      <p:sp>
        <p:nvSpPr>
          <p:cNvPr id="61" name="Shape 47"/>
          <p:cNvSpPr/>
          <p:nvPr/>
        </p:nvSpPr>
        <p:spPr>
          <a:xfrm rot="21450000">
            <a:off x="8649995" y="1289304"/>
            <a:ext cx="2157984" cy="4334256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5D9D3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16000"/>
              </a:srgbClr>
            </a:outerShdw>
          </a:effectLst>
        </p:spPr>
      </p:sp>
      <p:sp>
        <p:nvSpPr>
          <p:cNvPr id="62" name="Text 48"/>
          <p:cNvSpPr txBox="1"/>
          <p:nvPr/>
        </p:nvSpPr>
        <p:spPr>
          <a:xfrm rot="21450000">
            <a:off x="8738126" y="1418190"/>
            <a:ext cx="1901952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 ·  momentum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feed ranking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what should be done right now so the product ends up the best it can be.</a:t>
            </a:r>
            <a:endParaRPr lang="en-US" sz="800" dirty="0"/>
          </a:p>
          <a:p>
            <a:pPr marL="127000" indent="-127000">
              <a:spcBef>
                <a:spcPts val="8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feed across enabled projects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are entities of any type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project priority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straight from the index</a:t>
            </a:r>
            <a:endParaRPr lang="en-US" sz="800" dirty="0"/>
          </a:p>
        </p:txBody>
      </p:sp>
      <p:sp>
        <p:nvSpPr>
          <p:cNvPr id="63" name="Text 49"/>
          <p:cNvSpPr txBox="1"/>
          <p:nvPr/>
        </p:nvSpPr>
        <p:spPr>
          <a:xfrm rot="21450000">
            <a:off x="8817691" y="4241653"/>
            <a:ext cx="658368" cy="274320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</a:t>
            </a:r>
            <a:endParaRPr lang="en-US" sz="850" dirty="0"/>
          </a:p>
        </p:txBody>
      </p:sp>
      <p:sp>
        <p:nvSpPr>
          <p:cNvPr id="64" name="Text 50"/>
          <p:cNvSpPr txBox="1"/>
          <p:nvPr/>
        </p:nvSpPr>
        <p:spPr>
          <a:xfrm rot="21450000">
            <a:off x="9475154" y="4200172"/>
            <a:ext cx="1243584" cy="274320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</a:t>
            </a:r>
            <a:endParaRPr lang="en-US" sz="850" dirty="0"/>
          </a:p>
        </p:txBody>
      </p:sp>
      <p:sp>
        <p:nvSpPr>
          <p:cNvPr id="65" name="Text 51"/>
          <p:cNvSpPr txBox="1"/>
          <p:nvPr/>
        </p:nvSpPr>
        <p:spPr>
          <a:xfrm rot="21450000">
            <a:off x="8829657" y="4515712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50" dirty="0"/>
          </a:p>
        </p:txBody>
      </p:sp>
      <p:sp>
        <p:nvSpPr>
          <p:cNvPr id="66" name="Text 52"/>
          <p:cNvSpPr txBox="1"/>
          <p:nvPr/>
        </p:nvSpPr>
        <p:spPr>
          <a:xfrm rot="21450000">
            <a:off x="9487120" y="4474231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on the product</a:t>
            </a:r>
            <a:endParaRPr lang="en-US" sz="850" dirty="0"/>
          </a:p>
        </p:txBody>
      </p:sp>
      <p:sp>
        <p:nvSpPr>
          <p:cNvPr id="67" name="Text 53"/>
          <p:cNvSpPr txBox="1"/>
          <p:nvPr/>
        </p:nvSpPr>
        <p:spPr>
          <a:xfrm rot="21450000">
            <a:off x="8841622" y="4789771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850" dirty="0"/>
          </a:p>
        </p:txBody>
      </p:sp>
      <p:sp>
        <p:nvSpPr>
          <p:cNvPr id="68" name="Text 54"/>
          <p:cNvSpPr txBox="1"/>
          <p:nvPr/>
        </p:nvSpPr>
        <p:spPr>
          <a:xfrm rot="21450000">
            <a:off x="9499085" y="4748290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on the timeline</a:t>
            </a:r>
            <a:endParaRPr lang="en-US" sz="850" dirty="0"/>
          </a:p>
        </p:txBody>
      </p:sp>
      <p:sp>
        <p:nvSpPr>
          <p:cNvPr id="69" name="Text 55"/>
          <p:cNvSpPr txBox="1"/>
          <p:nvPr/>
        </p:nvSpPr>
        <p:spPr>
          <a:xfrm rot="21450000">
            <a:off x="8853588" y="5063830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</a:t>
            </a:r>
            <a:endParaRPr lang="en-US" sz="850" dirty="0"/>
          </a:p>
        </p:txBody>
      </p:sp>
      <p:sp>
        <p:nvSpPr>
          <p:cNvPr id="70" name="Text 56"/>
          <p:cNvSpPr txBox="1"/>
          <p:nvPr/>
        </p:nvSpPr>
        <p:spPr>
          <a:xfrm rot="21450000">
            <a:off x="9511051" y="5022349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it unlocks</a:t>
            </a:r>
            <a:endParaRPr lang="en-US" sz="850" dirty="0"/>
          </a:p>
        </p:txBody>
      </p:sp>
      <p:sp>
        <p:nvSpPr>
          <p:cNvPr id="71" name="Text 57"/>
          <p:cNvSpPr txBox="1"/>
          <p:nvPr/>
        </p:nvSpPr>
        <p:spPr>
          <a:xfrm rot="450000">
            <a:off x="9684504" y="3747748"/>
            <a:ext cx="10058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25400">
            <a:solidFill>
              <a:srgbClr val="A040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A0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DISAPPROVE</a:t>
            </a:r>
            <a:endParaRPr lang="en-US" sz="1000" dirty="0"/>
          </a:p>
        </p:txBody>
      </p:sp>
      <p:sp>
        <p:nvSpPr>
          <p:cNvPr id="72" name="Shape 58"/>
          <p:cNvSpPr/>
          <p:nvPr/>
        </p:nvSpPr>
        <p:spPr>
          <a:xfrm flipH="1">
            <a:off x="8994780" y="3823915"/>
            <a:ext cx="566928" cy="0"/>
          </a:xfrm>
          <a:prstGeom prst="line">
            <a:avLst/>
          </a:prstGeom>
          <a:noFill/>
          <a:ln w="25400">
            <a:solidFill>
              <a:srgbClr val="2F3E46">
                <a:alpha val="85000"/>
              </a:srgbClr>
            </a:solidFill>
            <a:prstDash val="solid"/>
            <a:tailEnd type="triangle"/>
          </a:ln>
        </p:spPr>
      </p:sp>
      <p:pic>
        <p:nvPicPr>
          <p:cNvPr id="7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48476" y="3869635"/>
            <a:ext cx="237744" cy="237744"/>
          </a:xfrm>
          <a:prstGeom prst="rect">
            <a:avLst/>
          </a:prstGeom>
        </p:spPr>
      </p:pic>
      <p:sp>
        <p:nvSpPr>
          <p:cNvPr id="74" name="Shape 59"/>
          <p:cNvSpPr/>
          <p:nvPr/>
        </p:nvSpPr>
        <p:spPr>
          <a:xfrm>
            <a:off x="8613419" y="5696712"/>
            <a:ext cx="2304288" cy="566928"/>
          </a:xfrm>
          <a:prstGeom prst="rect">
            <a:avLst/>
          </a:prstGeom>
          <a:solidFill>
            <a:srgbClr val="F7F5F0"/>
          </a:solidFill>
          <a:ln/>
        </p:spPr>
      </p:sp>
      <p:sp>
        <p:nvSpPr>
          <p:cNvPr id="75" name="Shape 60"/>
          <p:cNvSpPr/>
          <p:nvPr/>
        </p:nvSpPr>
        <p:spPr>
          <a:xfrm>
            <a:off x="8613419" y="5696712"/>
            <a:ext cx="2304288" cy="0"/>
          </a:xfrm>
          <a:prstGeom prst="line">
            <a:avLst/>
          </a:prstGeom>
          <a:noFill/>
          <a:ln w="9525">
            <a:solidFill>
              <a:srgbClr val="D5D9D3"/>
            </a:solidFill>
            <a:prstDash val="solid"/>
          </a:ln>
        </p:spPr>
      </p:sp>
      <p:pic>
        <p:nvPicPr>
          <p:cNvPr id="7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52408" y="5788152"/>
            <a:ext cx="182880" cy="182880"/>
          </a:xfrm>
          <a:prstGeom prst="rect">
            <a:avLst/>
          </a:prstGeom>
        </p:spPr>
      </p:pic>
      <p:sp>
        <p:nvSpPr>
          <p:cNvPr id="77" name="Text 61"/>
          <p:cNvSpPr txBox="1"/>
          <p:nvPr/>
        </p:nvSpPr>
        <p:spPr>
          <a:xfrm>
            <a:off x="8613419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700" dirty="0"/>
          </a:p>
        </p:txBody>
      </p:sp>
      <p:pic>
        <p:nvPicPr>
          <p:cNvPr id="7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13266" y="5788152"/>
            <a:ext cx="182880" cy="182880"/>
          </a:xfrm>
          <a:prstGeom prst="rect">
            <a:avLst/>
          </a:prstGeom>
        </p:spPr>
      </p:pic>
      <p:sp>
        <p:nvSpPr>
          <p:cNvPr id="79" name="Text 62"/>
          <p:cNvSpPr txBox="1"/>
          <p:nvPr/>
        </p:nvSpPr>
        <p:spPr>
          <a:xfrm>
            <a:off x="9074277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700" dirty="0"/>
          </a:p>
        </p:txBody>
      </p:sp>
      <p:pic>
        <p:nvPicPr>
          <p:cNvPr id="8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74123" y="5788152"/>
            <a:ext cx="182880" cy="182880"/>
          </a:xfrm>
          <a:prstGeom prst="rect">
            <a:avLst/>
          </a:prstGeom>
        </p:spPr>
      </p:pic>
      <p:sp>
        <p:nvSpPr>
          <p:cNvPr id="81" name="Text 63"/>
          <p:cNvSpPr txBox="1"/>
          <p:nvPr/>
        </p:nvSpPr>
        <p:spPr>
          <a:xfrm>
            <a:off x="9535135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700" dirty="0"/>
          </a:p>
        </p:txBody>
      </p:sp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34981" y="5788152"/>
            <a:ext cx="182880" cy="182880"/>
          </a:xfrm>
          <a:prstGeom prst="rect">
            <a:avLst/>
          </a:prstGeom>
        </p:spPr>
      </p:pic>
      <p:sp>
        <p:nvSpPr>
          <p:cNvPr id="83" name="Text 64"/>
          <p:cNvSpPr txBox="1"/>
          <p:nvPr/>
        </p:nvSpPr>
        <p:spPr>
          <a:xfrm>
            <a:off x="9995992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700" dirty="0"/>
          </a:p>
        </p:txBody>
      </p:sp>
      <p:pic>
        <p:nvPicPr>
          <p:cNvPr id="8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595839" y="5788152"/>
            <a:ext cx="182880" cy="182880"/>
          </a:xfrm>
          <a:prstGeom prst="rect">
            <a:avLst/>
          </a:prstGeom>
        </p:spPr>
      </p:pic>
      <p:sp>
        <p:nvSpPr>
          <p:cNvPr id="85" name="Text 65"/>
          <p:cNvSpPr txBox="1"/>
          <p:nvPr/>
        </p:nvSpPr>
        <p:spPr>
          <a:xfrm>
            <a:off x="10456850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700" dirty="0"/>
          </a:p>
        </p:txBody>
      </p:sp>
      <p:sp>
        <p:nvSpPr>
          <p:cNvPr id="86" name="Shape 66"/>
          <p:cNvSpPr/>
          <p:nvPr/>
        </p:nvSpPr>
        <p:spPr>
          <a:xfrm>
            <a:off x="8613419" y="1051560"/>
            <a:ext cx="2304288" cy="3255264"/>
          </a:xfrm>
          <a:prstGeom prst="rect">
            <a:avLst/>
          </a:prstGeom>
          <a:solidFill>
            <a:srgbClr val="1E293B">
              <a:alpha val="18000"/>
            </a:srgbClr>
          </a:solidFill>
          <a:ln/>
        </p:spPr>
      </p:sp>
      <p:sp>
        <p:nvSpPr>
          <p:cNvPr id="87" name="Shape 67"/>
          <p:cNvSpPr/>
          <p:nvPr/>
        </p:nvSpPr>
        <p:spPr>
          <a:xfrm>
            <a:off x="8613419" y="4306824"/>
            <a:ext cx="2304288" cy="2029968"/>
          </a:xfrm>
          <a:prstGeom prst="roundRect">
            <a:avLst>
              <a:gd name="adj" fmla="val 1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16200000">
              <a:srgbClr val="1E293B">
                <a:alpha val="20000"/>
              </a:srgbClr>
            </a:outerShdw>
          </a:effectLst>
        </p:spPr>
      </p:sp>
      <p:sp>
        <p:nvSpPr>
          <p:cNvPr id="88" name="Shape 68"/>
          <p:cNvSpPr/>
          <p:nvPr/>
        </p:nvSpPr>
        <p:spPr>
          <a:xfrm>
            <a:off x="9491243" y="4398264"/>
            <a:ext cx="548640" cy="45720"/>
          </a:xfrm>
          <a:prstGeom prst="roundRect">
            <a:avLst>
              <a:gd name="adj" fmla="val 50000"/>
            </a:avLst>
          </a:prstGeom>
          <a:solidFill>
            <a:srgbClr val="D5D9D3"/>
          </a:solidFill>
          <a:ln/>
        </p:spPr>
      </p:sp>
      <p:sp>
        <p:nvSpPr>
          <p:cNvPr id="89" name="Text 69"/>
          <p:cNvSpPr txBox="1"/>
          <p:nvPr/>
        </p:nvSpPr>
        <p:spPr>
          <a:xfrm>
            <a:off x="8778011" y="4507992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Disapprove</a:t>
            </a:r>
            <a:endParaRPr lang="en-US" sz="1300" dirty="0"/>
          </a:p>
        </p:txBody>
      </p:sp>
      <p:sp>
        <p:nvSpPr>
          <p:cNvPr id="90" name="Text 70"/>
          <p:cNvSpPr txBox="1"/>
          <p:nvPr/>
        </p:nvSpPr>
        <p:spPr>
          <a:xfrm>
            <a:off x="8778011" y="4983480"/>
            <a:ext cx="1975104" cy="566928"/>
          </a:xfrm>
          <a:prstGeom prst="roundRect">
            <a:avLst>
              <a:gd name="adj" fmla="val 12903"/>
            </a:avLst>
          </a:prstGeom>
          <a:solidFill>
            <a:srgbClr val="F7F5F0"/>
          </a:solidFill>
          <a:ln w="12700">
            <a:solidFill>
              <a:srgbClr val="B85042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the Importance Rank instead: dependencies, stability, performance, priority and velocity.</a:t>
            </a:r>
            <a:endParaRPr lang="en-US" sz="900" dirty="0"/>
          </a:p>
        </p:txBody>
      </p:sp>
      <p:sp>
        <p:nvSpPr>
          <p:cNvPr id="91" name="Text 71"/>
          <p:cNvSpPr txBox="1"/>
          <p:nvPr/>
        </p:nvSpPr>
        <p:spPr>
          <a:xfrm>
            <a:off x="8778011" y="5660136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D9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endParaRPr lang="en-US" sz="1000" dirty="0"/>
          </a:p>
        </p:txBody>
      </p:sp>
      <p:sp>
        <p:nvSpPr>
          <p:cNvPr id="92" name="Text 72"/>
          <p:cNvSpPr txBox="1"/>
          <p:nvPr/>
        </p:nvSpPr>
        <p:spPr>
          <a:xfrm>
            <a:off x="9820427" y="5660136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B850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back</a:t>
            </a:r>
            <a:endParaRPr lang="en-US" sz="1000" dirty="0"/>
          </a:p>
        </p:txBody>
      </p:sp>
      <p:sp>
        <p:nvSpPr>
          <p:cNvPr id="93" name="Shape 73"/>
          <p:cNvSpPr/>
          <p:nvPr/>
        </p:nvSpPr>
        <p:spPr>
          <a:xfrm>
            <a:off x="8567699" y="1005840"/>
            <a:ext cx="2395728" cy="5303520"/>
          </a:xfrm>
          <a:prstGeom prst="roundRect">
            <a:avLst>
              <a:gd name="adj" fmla="val 11832"/>
            </a:avLst>
          </a:prstGeom>
          <a:ln w="91440">
            <a:solidFill>
              <a:srgbClr val="2F3E46"/>
            </a:solidFill>
            <a:prstDash val="solid"/>
          </a:ln>
        </p:spPr>
      </p:sp>
      <p:sp>
        <p:nvSpPr>
          <p:cNvPr id="94" name="Shape 74"/>
          <p:cNvSpPr/>
          <p:nvPr/>
        </p:nvSpPr>
        <p:spPr>
          <a:xfrm>
            <a:off x="9418091" y="1088136"/>
            <a:ext cx="694944" cy="128016"/>
          </a:xfrm>
          <a:prstGeom prst="roundRect">
            <a:avLst>
              <a:gd name="adj" fmla="val 50000"/>
            </a:avLst>
          </a:prstGeom>
          <a:solidFill>
            <a:srgbClr val="2F3E46"/>
          </a:solidFill>
          <a:ln/>
        </p:spPr>
      </p:sp>
      <p:sp>
        <p:nvSpPr>
          <p:cNvPr id="95" name="Text 75"/>
          <p:cNvSpPr txBox="1"/>
          <p:nvPr/>
        </p:nvSpPr>
        <p:spPr>
          <a:xfrm>
            <a:off x="8156219" y="6400800"/>
            <a:ext cx="321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left to disapprove with a comment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493776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everything works together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320040" y="777240"/>
            <a:ext cx="11521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60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loop per project: triggers start runs, runs leave entities and artifacts, everything lands on the main line, the user verifies it in the feed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11480" y="141732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DCE7D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Triggers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entities per workspace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Schedule, event or on demand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size as the bound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474720" y="141732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DCE7D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Claude Code process per run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detached checkout of the main line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runs one at a time per project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537960" y="141732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DCE7D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in the checkout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as cards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Artifacts: code, plans, chats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read and write, nothing gated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601200" y="141732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Summarization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hook before the run ends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summary entity per artifact group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within the character limit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416052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F4DCD6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actions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send back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Chat, run on demand, stop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entities directly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3474720" y="416052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F4DCD6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 and feed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follows the main line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 entities in the feed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Ranking: product, timeline, unlocks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416052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line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branch, one commit per run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as a state, not a place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as one more commit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601200" y="416052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 gate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limit, types, references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entity for what cannot pass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Landing: fast-forward or replay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606040" y="2034540"/>
            <a:ext cx="8686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09054" y="1924812"/>
            <a:ext cx="662652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queued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669280" y="2034540"/>
            <a:ext cx="8686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5884337" y="1924812"/>
            <a:ext cx="438567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8732520" y="2034540"/>
            <a:ext cx="8686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906500" y="1924812"/>
            <a:ext cx="5207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10698480" y="2651760"/>
            <a:ext cx="0" cy="150876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10373454" y="3296412"/>
            <a:ext cx="650051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 flipH="1">
            <a:off x="8732520" y="4777740"/>
            <a:ext cx="8686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8934083" y="4668012"/>
            <a:ext cx="465554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landed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 flipH="1">
            <a:off x="5669280" y="4777740"/>
            <a:ext cx="8686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847899" y="4668012"/>
            <a:ext cx="511443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 flipH="1">
            <a:off x="2606040" y="4777740"/>
            <a:ext cx="8686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2700918" y="4668012"/>
            <a:ext cx="678924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feed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 flipV="1">
            <a:off x="1508760" y="2651760"/>
            <a:ext cx="0" cy="150876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708973" y="3296412"/>
            <a:ext cx="1599575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approval, entity_ahead, send back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user starts go at once, alongside the queued automation runs. A plan is an ordinary entity on this loop: approved and ahead of its artifacts.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493776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Entities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320040" y="777240"/>
            <a:ext cx="11521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60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unit of the knowledge base: standalone, typed, written as its card; a summary is an entity with artifacts beneath it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402336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5D9D3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38988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/ DECISION  ·  momentum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access over a private mesh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 is exposed to the public internet; clients reach the machine through a WireGuard mesh.</a:t>
            </a:r>
            <a:endParaRPr lang="en-US" sz="800" dirty="0"/>
          </a:p>
          <a:p>
            <a:pPr marL="127000" indent="-127000">
              <a:spcBef>
                <a:spcPts val="8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on the mesh interface only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 per enrolled device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session on top of the tunnel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657600"/>
            <a:ext cx="822960" cy="256032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3657600"/>
            <a:ext cx="2926080" cy="256032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913632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3913632"/>
            <a:ext cx="29260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encryption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169664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4169664"/>
            <a:ext cx="29260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session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4425696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508760" y="4425696"/>
            <a:ext cx="29260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inbound firewall rule</a:t>
            </a:r>
            <a:endParaRPr lang="en-US" sz="85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1408176"/>
            <a:ext cx="182880" cy="182880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08176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48640" y="51937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entity is its card: free form within the character limit, in the form that presents it best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128016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EEF1EC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Frontmatter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· origin · verification · sync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product_impact · timeline_impact · unlocks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· artifacts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120640" y="29260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EEF1EC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disk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knowledge-graph/&lt;Domain&gt;/&lt;Type&gt;/&lt;name&gt;.md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directory per type, 150 types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120640" y="416052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EEF1EC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index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schema per workspace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text, embeddings, ranking, states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641080" y="128016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to other entities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depends_on · implements · concerns · retires · plans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the gate, walked by Graph RAG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641080" y="29260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files beneath a summary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chats/ · plans/ · code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only by summarization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641080" y="4572000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F4DCD6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Verification, sync and contradictions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 every card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 flipV="1">
            <a:off x="4572000" y="2460752"/>
            <a:ext cx="548640" cy="158496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572000" y="3323336"/>
            <a:ext cx="548640" cy="33528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572000" y="3926840"/>
            <a:ext cx="647114" cy="23368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8229600" y="2011680"/>
            <a:ext cx="4114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229600" y="2738450"/>
            <a:ext cx="411480" cy="19238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8229600" y="4817522"/>
            <a:ext cx="411480" cy="34735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30" name="Text 25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entity that does not fit the limit is split into entities that reference each other. Origin: added by the user, requested, or raised by an automation.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493776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states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320040" y="777240"/>
            <a:ext cx="11521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60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independent axes on every entity, plus a count: verification is the user's judgement, sync is the entity against its artifact or implementation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4DCD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33502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0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947672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8A6D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1947672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3F6B5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023360" y="2011680"/>
            <a:ext cx="411480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457200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in the feed: one commit on the main line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 flipH="1">
            <a:off x="4023360" y="2240280"/>
            <a:ext cx="4114800" cy="0"/>
          </a:xfrm>
          <a:prstGeom prst="line">
            <a:avLst/>
          </a:prstGeom>
          <a:noFill/>
          <a:ln w="12700">
            <a:solidFill>
              <a:srgbClr val="52606A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57200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rewrite by a run: written unverified, back in the feed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331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A0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state = the system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784080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0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the feed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2880360"/>
            <a:ext cx="11064240" cy="2514600"/>
          </a:xfrm>
          <a:prstGeom prst="roundRect">
            <a:avLst>
              <a:gd name="adj" fmla="val 3636"/>
            </a:avLst>
          </a:prstGeom>
          <a:solidFill>
            <a:srgbClr val="EFE8D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85800" y="293522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C62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Sync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600200" y="400507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3F6B5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synced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074920" y="336499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7C62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6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entity_ahead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473659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A040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artifact_ahead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006840" y="400507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52606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updating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 flipV="1">
            <a:off x="2971800" y="3659945"/>
            <a:ext cx="2103120" cy="377483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3270230" y="3556078"/>
            <a:ext cx="15062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approval, nothing implements it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629400" y="3649980"/>
            <a:ext cx="2377440" cy="39624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7207071" y="3555492"/>
            <a:ext cx="1222097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run on it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2971800" y="4301197"/>
            <a:ext cx="2122551" cy="435395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3259085" y="4592046"/>
            <a:ext cx="1547981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changed on the main line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 flipV="1">
            <a:off x="6629400" y="4291149"/>
            <a:ext cx="2377440" cy="452846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7256259" y="4590723"/>
            <a:ext cx="1123722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 rewrite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2971800" y="4160520"/>
            <a:ext cx="60350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5369763" y="3895344"/>
            <a:ext cx="1239113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 it, e.g. a send back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 flipH="1">
            <a:off x="2971800" y="4270248"/>
            <a:ext cx="6035040" cy="0"/>
          </a:xfrm>
          <a:prstGeom prst="line">
            <a:avLst/>
          </a:prstGeom>
          <a:noFill/>
          <a:ln w="12700">
            <a:solidFill>
              <a:srgbClr val="52606A"/>
            </a:solidFill>
            <a:prstDash val="solid"/>
            <a:tailEnd type="triangle"/>
          </a:ln>
        </p:spPr>
      </p:sp>
      <p:sp>
        <p:nvSpPr>
          <p:cNvPr id="32" name="Text 29"/>
          <p:cNvSpPr txBox="1"/>
          <p:nvPr/>
        </p:nvSpPr>
        <p:spPr>
          <a:xfrm>
            <a:off x="4480560" y="43159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landed and approved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85800" y="49834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Implementable types: Feature, FeatureRequest, UserStory, DevTask, Bug, TechDebt, Plan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548640" y="55778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EF1E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77240" y="5806440"/>
            <a:ext cx="384048" cy="310896"/>
          </a:xfrm>
          <a:prstGeom prst="roundRect">
            <a:avLst>
              <a:gd name="adj" fmla="val 50000"/>
            </a:avLst>
          </a:prstGeom>
          <a:solidFill>
            <a:srgbClr val="F4DC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325880" y="565099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Contradictions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contradiction issues the consistency check holds over the entity, counted from the references; not a git conflict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493776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Automations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320040" y="777240"/>
            <a:ext cx="11521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60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loops per project, each defined by its responsibility alone; the definition is an entity in the harness, the trigger an entity in each workspace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801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219456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50976" y="135331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action within the goals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58368" y="2368296"/>
            <a:ext cx="545473" cy="201168"/>
          </a:xfrm>
          <a:prstGeom prst="roundRect">
            <a:avLst>
              <a:gd name="adj" fmla="val 50000"/>
            </a:avLst>
          </a:prstGeom>
          <a:solidFill>
            <a:srgbClr val="7C622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750" dirty="0"/>
          </a:p>
        </p:txBody>
      </p:sp>
      <p:sp>
        <p:nvSpPr>
          <p:cNvPr id="9" name="Text 5"/>
          <p:cNvSpPr txBox="1"/>
          <p:nvPr/>
        </p:nvSpPr>
        <p:spPr>
          <a:xfrm>
            <a:off x="1258705" y="2368296"/>
            <a:ext cx="642211" cy="201168"/>
          </a:xfrm>
          <a:prstGeom prst="roundRect">
            <a:avLst>
              <a:gd name="adj" fmla="val 50000"/>
            </a:avLst>
          </a:prstGeom>
          <a:solidFill>
            <a:srgbClr val="3F6B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  <a:endParaRPr lang="en-US" sz="750" dirty="0"/>
          </a:p>
        </p:txBody>
      </p:sp>
      <p:sp>
        <p:nvSpPr>
          <p:cNvPr id="10" name="Text 6"/>
          <p:cNvSpPr txBox="1"/>
          <p:nvPr/>
        </p:nvSpPr>
        <p:spPr>
          <a:xfrm>
            <a:off x="2788920" y="12801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1389888"/>
            <a:ext cx="219456" cy="2194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91256" y="135331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Preparation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for action points that can start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2898648" y="2368296"/>
            <a:ext cx="545473" cy="201168"/>
          </a:xfrm>
          <a:prstGeom prst="roundRect">
            <a:avLst>
              <a:gd name="adj" fmla="val 50000"/>
            </a:avLst>
          </a:prstGeom>
          <a:solidFill>
            <a:srgbClr val="7C622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750" dirty="0"/>
          </a:p>
        </p:txBody>
      </p:sp>
      <p:sp>
        <p:nvSpPr>
          <p:cNvPr id="14" name="Text 9"/>
          <p:cNvSpPr txBox="1"/>
          <p:nvPr/>
        </p:nvSpPr>
        <p:spPr>
          <a:xfrm>
            <a:off x="3498985" y="2368296"/>
            <a:ext cx="642211" cy="201168"/>
          </a:xfrm>
          <a:prstGeom prst="roundRect">
            <a:avLst>
              <a:gd name="adj" fmla="val 50000"/>
            </a:avLst>
          </a:prstGeom>
          <a:solidFill>
            <a:srgbClr val="3F6B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  <a:endParaRPr lang="en-US" sz="750" dirty="0"/>
          </a:p>
        </p:txBody>
      </p:sp>
      <p:sp>
        <p:nvSpPr>
          <p:cNvPr id="15" name="Text 10"/>
          <p:cNvSpPr txBox="1"/>
          <p:nvPr/>
        </p:nvSpPr>
        <p:spPr>
          <a:xfrm>
            <a:off x="5029200" y="12801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928" y="1389888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31536" y="135331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 check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over the knowledge graph alone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5138928" y="2368296"/>
            <a:ext cx="545473" cy="201168"/>
          </a:xfrm>
          <a:prstGeom prst="roundRect">
            <a:avLst>
              <a:gd name="adj" fmla="val 50000"/>
            </a:avLst>
          </a:prstGeom>
          <a:solidFill>
            <a:srgbClr val="7C622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750" dirty="0"/>
          </a:p>
        </p:txBody>
      </p:sp>
      <p:sp>
        <p:nvSpPr>
          <p:cNvPr id="19" name="Text 13"/>
          <p:cNvSpPr txBox="1"/>
          <p:nvPr/>
        </p:nvSpPr>
        <p:spPr>
          <a:xfrm>
            <a:off x="5739265" y="2368296"/>
            <a:ext cx="642211" cy="201168"/>
          </a:xfrm>
          <a:prstGeom prst="roundRect">
            <a:avLst>
              <a:gd name="adj" fmla="val 50000"/>
            </a:avLst>
          </a:prstGeom>
          <a:solidFill>
            <a:srgbClr val="3F6B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  <a:endParaRPr lang="en-US" sz="750" dirty="0"/>
          </a:p>
        </p:txBody>
      </p:sp>
      <p:sp>
        <p:nvSpPr>
          <p:cNvPr id="20" name="Text 14"/>
          <p:cNvSpPr txBox="1"/>
          <p:nvPr/>
        </p:nvSpPr>
        <p:spPr>
          <a:xfrm>
            <a:off x="7269480" y="12801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1389888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671816" y="135331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Retention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Retirement of entities whose lifetime is spent</a:t>
            </a:r>
            <a:endParaRPr lang="en-US" sz="1100" dirty="0"/>
          </a:p>
        </p:txBody>
      </p:sp>
      <p:sp>
        <p:nvSpPr>
          <p:cNvPr id="23" name="Text 16"/>
          <p:cNvSpPr txBox="1"/>
          <p:nvPr/>
        </p:nvSpPr>
        <p:spPr>
          <a:xfrm>
            <a:off x="7379208" y="2368296"/>
            <a:ext cx="545473" cy="201168"/>
          </a:xfrm>
          <a:prstGeom prst="roundRect">
            <a:avLst>
              <a:gd name="adj" fmla="val 50000"/>
            </a:avLst>
          </a:prstGeom>
          <a:solidFill>
            <a:srgbClr val="7C622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750" dirty="0"/>
          </a:p>
        </p:txBody>
      </p:sp>
      <p:sp>
        <p:nvSpPr>
          <p:cNvPr id="24" name="Text 17"/>
          <p:cNvSpPr txBox="1"/>
          <p:nvPr/>
        </p:nvSpPr>
        <p:spPr>
          <a:xfrm>
            <a:off x="7979545" y="2368296"/>
            <a:ext cx="642211" cy="201168"/>
          </a:xfrm>
          <a:prstGeom prst="roundRect">
            <a:avLst>
              <a:gd name="adj" fmla="val 50000"/>
            </a:avLst>
          </a:prstGeom>
          <a:solidFill>
            <a:srgbClr val="3F6B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  <a:endParaRPr lang="en-US" sz="750" dirty="0"/>
          </a:p>
        </p:txBody>
      </p:sp>
      <p:sp>
        <p:nvSpPr>
          <p:cNvPr id="25" name="Text 18"/>
          <p:cNvSpPr txBox="1"/>
          <p:nvPr/>
        </p:nvSpPr>
        <p:spPr>
          <a:xfrm>
            <a:off x="9509760" y="12801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9488" y="1389888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912096" y="135331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Optimization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sub-agents, definitions from the metrics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9619488" y="2368296"/>
            <a:ext cx="545473" cy="201168"/>
          </a:xfrm>
          <a:prstGeom prst="roundRect">
            <a:avLst>
              <a:gd name="adj" fmla="val 50000"/>
            </a:avLst>
          </a:prstGeom>
          <a:solidFill>
            <a:srgbClr val="7C622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750" dirty="0"/>
          </a:p>
        </p:txBody>
      </p:sp>
      <p:sp>
        <p:nvSpPr>
          <p:cNvPr id="29" name="Text 21"/>
          <p:cNvSpPr txBox="1"/>
          <p:nvPr/>
        </p:nvSpPr>
        <p:spPr>
          <a:xfrm>
            <a:off x="10219825" y="2368296"/>
            <a:ext cx="642211" cy="201168"/>
          </a:xfrm>
          <a:prstGeom prst="roundRect">
            <a:avLst>
              <a:gd name="adj" fmla="val 50000"/>
            </a:avLst>
          </a:prstGeom>
          <a:solidFill>
            <a:srgbClr val="3F6B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</a:t>
            </a:r>
            <a:endParaRPr lang="en-US" sz="750" dirty="0"/>
          </a:p>
        </p:txBody>
      </p:sp>
      <p:sp>
        <p:nvSpPr>
          <p:cNvPr id="30" name="Text 22"/>
          <p:cNvSpPr txBox="1"/>
          <p:nvPr/>
        </p:nvSpPr>
        <p:spPr>
          <a:xfrm>
            <a:off x="548640" y="28803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2990088"/>
            <a:ext cx="219456" cy="219456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50976" y="295351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entity implemented in the repository</a:t>
            </a:r>
            <a:endParaRPr lang="en-US" sz="1100" dirty="0"/>
          </a:p>
        </p:txBody>
      </p:sp>
      <p:sp>
        <p:nvSpPr>
          <p:cNvPr id="33" name="Text 24"/>
          <p:cNvSpPr txBox="1"/>
          <p:nvPr/>
        </p:nvSpPr>
        <p:spPr>
          <a:xfrm>
            <a:off x="658368" y="3968496"/>
            <a:ext cx="980330" cy="201168"/>
          </a:xfrm>
          <a:prstGeom prst="roundRect">
            <a:avLst>
              <a:gd name="adj" fmla="val 50000"/>
            </a:avLst>
          </a:prstGeom>
          <a:solidFill>
            <a:srgbClr val="A040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event: entity_ahead</a:t>
            </a:r>
            <a:endParaRPr lang="en-US" sz="750" dirty="0"/>
          </a:p>
        </p:txBody>
      </p:sp>
      <p:sp>
        <p:nvSpPr>
          <p:cNvPr id="34" name="Text 25"/>
          <p:cNvSpPr txBox="1"/>
          <p:nvPr/>
        </p:nvSpPr>
        <p:spPr>
          <a:xfrm>
            <a:off x="2788920" y="28803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8648" y="2990088"/>
            <a:ext cx="219456" cy="219456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3191256" y="295351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Landed work and the project as it stands</a:t>
            </a:r>
            <a:endParaRPr lang="en-US" sz="1100" dirty="0"/>
          </a:p>
        </p:txBody>
      </p:sp>
      <p:sp>
        <p:nvSpPr>
          <p:cNvPr id="37" name="Text 27"/>
          <p:cNvSpPr txBox="1"/>
          <p:nvPr/>
        </p:nvSpPr>
        <p:spPr>
          <a:xfrm>
            <a:off x="2898648" y="3968496"/>
            <a:ext cx="545473" cy="201168"/>
          </a:xfrm>
          <a:prstGeom prst="roundRect">
            <a:avLst>
              <a:gd name="adj" fmla="val 50000"/>
            </a:avLst>
          </a:prstGeom>
          <a:solidFill>
            <a:srgbClr val="7C622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750" dirty="0"/>
          </a:p>
        </p:txBody>
      </p:sp>
      <p:sp>
        <p:nvSpPr>
          <p:cNvPr id="38" name="Text 28"/>
          <p:cNvSpPr txBox="1"/>
          <p:nvPr/>
        </p:nvSpPr>
        <p:spPr>
          <a:xfrm>
            <a:off x="3498985" y="3968496"/>
            <a:ext cx="1445278" cy="201168"/>
          </a:xfrm>
          <a:prstGeom prst="roundRect">
            <a:avLst>
              <a:gd name="adj" fmla="val 50000"/>
            </a:avLst>
          </a:prstGeom>
          <a:solidFill>
            <a:srgbClr val="A040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event: implementation_finished</a:t>
            </a:r>
            <a:endParaRPr lang="en-US" sz="750" dirty="0"/>
          </a:p>
        </p:txBody>
      </p:sp>
      <p:sp>
        <p:nvSpPr>
          <p:cNvPr id="39" name="Text 29"/>
          <p:cNvSpPr txBox="1"/>
          <p:nvPr/>
        </p:nvSpPr>
        <p:spPr>
          <a:xfrm>
            <a:off x="5029200" y="28803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38928" y="2990088"/>
            <a:ext cx="219456" cy="219456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5431536" y="295351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 line to the user</a:t>
            </a:r>
            <a:endParaRPr lang="en-US" sz="1100" dirty="0"/>
          </a:p>
        </p:txBody>
      </p:sp>
      <p:sp>
        <p:nvSpPr>
          <p:cNvPr id="42" name="Text 31"/>
          <p:cNvSpPr txBox="1"/>
          <p:nvPr/>
        </p:nvSpPr>
        <p:spPr>
          <a:xfrm>
            <a:off x="5138928" y="3968496"/>
            <a:ext cx="369065" cy="201168"/>
          </a:xfrm>
          <a:prstGeom prst="roundRect">
            <a:avLst>
              <a:gd name="adj" fmla="val 50000"/>
            </a:avLst>
          </a:prstGeom>
          <a:solidFill>
            <a:srgbClr val="3F6B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750" dirty="0"/>
          </a:p>
        </p:txBody>
      </p:sp>
      <p:sp>
        <p:nvSpPr>
          <p:cNvPr id="43" name="Text 32"/>
          <p:cNvSpPr txBox="1"/>
          <p:nvPr/>
        </p:nvSpPr>
        <p:spPr>
          <a:xfrm>
            <a:off x="7269480" y="28803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79208" y="2990088"/>
            <a:ext cx="219456" cy="219456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7671816" y="295351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Summarization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entities from artifacts</a:t>
            </a:r>
            <a:endParaRPr lang="en-US" sz="1100" dirty="0"/>
          </a:p>
        </p:txBody>
      </p:sp>
      <p:sp>
        <p:nvSpPr>
          <p:cNvPr id="46" name="Text 34"/>
          <p:cNvSpPr txBox="1"/>
          <p:nvPr/>
        </p:nvSpPr>
        <p:spPr>
          <a:xfrm>
            <a:off x="7379208" y="3968496"/>
            <a:ext cx="592446" cy="201168"/>
          </a:xfrm>
          <a:prstGeom prst="roundRect">
            <a:avLst>
              <a:gd name="adj" fmla="val 50000"/>
            </a:avLst>
          </a:prstGeom>
          <a:solidFill>
            <a:srgbClr val="B850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hook</a:t>
            </a:r>
            <a:endParaRPr lang="en-US" sz="750" dirty="0"/>
          </a:p>
        </p:txBody>
      </p:sp>
      <p:sp>
        <p:nvSpPr>
          <p:cNvPr id="47" name="Text 35"/>
          <p:cNvSpPr txBox="1"/>
          <p:nvPr/>
        </p:nvSpPr>
        <p:spPr>
          <a:xfrm>
            <a:off x="8026518" y="3968496"/>
            <a:ext cx="780388" cy="201168"/>
          </a:xfrm>
          <a:prstGeom prst="roundRect">
            <a:avLst>
              <a:gd name="adj" fmla="val 50000"/>
            </a:avLst>
          </a:prstGeom>
          <a:solidFill>
            <a:srgbClr val="B850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change</a:t>
            </a:r>
            <a:endParaRPr lang="en-US" sz="750" dirty="0"/>
          </a:p>
        </p:txBody>
      </p:sp>
      <p:sp>
        <p:nvSpPr>
          <p:cNvPr id="48" name="Text 36"/>
          <p:cNvSpPr txBox="1"/>
          <p:nvPr/>
        </p:nvSpPr>
        <p:spPr>
          <a:xfrm>
            <a:off x="9509760" y="28803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19488" y="2990088"/>
            <a:ext cx="219456" cy="219456"/>
          </a:xfrm>
          <a:prstGeom prst="rect">
            <a:avLst/>
          </a:prstGeom>
        </p:spPr>
      </p:pic>
      <p:sp>
        <p:nvSpPr>
          <p:cNvPr id="50" name="Text 37"/>
          <p:cNvSpPr txBox="1"/>
          <p:nvPr/>
        </p:nvSpPr>
        <p:spPr>
          <a:xfrm>
            <a:off x="9912096" y="295351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build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from the repository, run after run</a:t>
            </a:r>
            <a:endParaRPr lang="en-US" sz="1100" dirty="0"/>
          </a:p>
        </p:txBody>
      </p:sp>
      <p:sp>
        <p:nvSpPr>
          <p:cNvPr id="51" name="Text 38"/>
          <p:cNvSpPr txBox="1"/>
          <p:nvPr/>
        </p:nvSpPr>
        <p:spPr>
          <a:xfrm>
            <a:off x="9619488" y="3968496"/>
            <a:ext cx="810945" cy="201168"/>
          </a:xfrm>
          <a:prstGeom prst="roundRect">
            <a:avLst>
              <a:gd name="adj" fmla="val 50000"/>
            </a:avLst>
          </a:prstGeom>
          <a:solidFill>
            <a:srgbClr val="5260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enabled</a:t>
            </a:r>
            <a:endParaRPr lang="en-US" sz="750" dirty="0"/>
          </a:p>
        </p:txBody>
      </p:sp>
      <p:sp>
        <p:nvSpPr>
          <p:cNvPr id="52" name="Shape 39"/>
          <p:cNvSpPr/>
          <p:nvPr/>
        </p:nvSpPr>
        <p:spPr>
          <a:xfrm>
            <a:off x="548640" y="461772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EEF1EC"/>
          </a:solidFill>
          <a:ln/>
        </p:spPr>
      </p:sp>
      <p:sp>
        <p:nvSpPr>
          <p:cNvPr id="53" name="Text 40"/>
          <p:cNvSpPr txBox="1"/>
          <p:nvPr/>
        </p:nvSpPr>
        <p:spPr>
          <a:xfrm>
            <a:off x="731520" y="4727448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</a:t>
            </a:r>
            <a:endParaRPr lang="en-US" sz="1050" dirty="0"/>
          </a:p>
          <a:p>
            <a:pPr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runs: one at a time per project, queued</a:t>
            </a:r>
            <a:endParaRPr lang="en-US" sz="1050" dirty="0"/>
          </a:p>
          <a:p>
            <a:pPr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User-started runs: at once, alongside</a:t>
            </a:r>
            <a:endParaRPr lang="en-US" sz="1050" dirty="0"/>
          </a:p>
          <a:p>
            <a:pPr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total across projects</a:t>
            </a:r>
            <a:endParaRPr lang="en-US" sz="1050" dirty="0"/>
          </a:p>
          <a:p>
            <a:pPr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pause when the feed is full</a:t>
            </a:r>
            <a:endParaRPr lang="en-US" sz="1050" dirty="0"/>
          </a:p>
        </p:txBody>
      </p:sp>
      <p:sp>
        <p:nvSpPr>
          <p:cNvPr id="54" name="Text 41"/>
          <p:cNvSpPr txBox="1"/>
          <p:nvPr/>
        </p:nvSpPr>
        <p:spPr>
          <a:xfrm>
            <a:off x="4343400" y="4727448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run</a:t>
            </a:r>
            <a:endParaRPr lang="en-US" sz="1050" dirty="0"/>
          </a:p>
          <a:p>
            <a:pPr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Claude Code process in its own checkout</a:t>
            </a:r>
            <a:endParaRPr lang="en-US" sz="1050" dirty="0"/>
          </a:p>
          <a:p>
            <a:pPr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as instructions, summarization as a sub-agent</a:t>
            </a:r>
            <a:endParaRPr lang="en-US" sz="1050" dirty="0"/>
          </a:p>
          <a:p>
            <a:pPr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hooks and the momentum-kb tools</a:t>
            </a:r>
            <a:endParaRPr lang="en-US" sz="1050" dirty="0"/>
          </a:p>
          <a:p>
            <a:pPr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as a share of the 5-hour and weekly limits</a:t>
            </a:r>
            <a:endParaRPr lang="en-US" sz="1050" dirty="0"/>
          </a:p>
        </p:txBody>
      </p:sp>
      <p:sp>
        <p:nvSpPr>
          <p:cNvPr id="55" name="Text 42"/>
          <p:cNvSpPr txBox="1"/>
          <p:nvPr/>
        </p:nvSpPr>
        <p:spPr>
          <a:xfrm>
            <a:off x="7955280" y="4727448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Cheapest mechanism per step</a:t>
            </a:r>
            <a:endParaRPr lang="en-US" sz="1050" dirty="0"/>
          </a:p>
          <a:p>
            <a:pPr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and rules for indices, metrics, lifetimes, references</a:t>
            </a:r>
            <a:endParaRPr lang="en-US" sz="1050" dirty="0"/>
          </a:p>
          <a:p>
            <a:pPr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only for judgement: deciding, planning, reviewing, summarizing</a:t>
            </a:r>
            <a:endParaRPr lang="en-US" sz="1050" dirty="0"/>
          </a:p>
          <a:p>
            <a:pPr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Materialized into each workspace on approval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493776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Summarization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320040" y="777240"/>
            <a:ext cx="11521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60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only writer of summaries: a sub-agent every run calls from its Stop hook, and a run of its own when an artifact changes on the main line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11480" y="1463040"/>
            <a:ext cx="2148840" cy="1554480"/>
          </a:xfrm>
          <a:prstGeom prst="roundRect">
            <a:avLst>
              <a:gd name="adj" fmla="val 4706"/>
            </a:avLst>
          </a:prstGeom>
          <a:solidFill>
            <a:srgbClr val="DCE7D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run ends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added, changed or deleted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plans, chat transcript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 graph build listed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383280" y="1463040"/>
            <a:ext cx="2148840" cy="1554480"/>
          </a:xfrm>
          <a:prstGeom prst="roundRect">
            <a:avLst>
              <a:gd name="adj" fmla="val 4706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hook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stop, before the run ends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and excluded patterns left out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limit and presentation rules passed 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1463040"/>
            <a:ext cx="2148840" cy="1554480"/>
          </a:xfrm>
          <a:prstGeom prst="roundRect">
            <a:avLst>
              <a:gd name="adj" fmla="val 4706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Summarization sub-agent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artifact read in full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entity per coherent piece of work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from the artifact: chat, plan, result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0" y="1463040"/>
            <a:ext cx="2148840" cy="1554480"/>
          </a:xfrm>
          <a:prstGeom prst="roundRect">
            <a:avLst>
              <a:gd name="adj" fmla="val 4706"/>
            </a:avLst>
          </a:prstGeom>
          <a:solidFill>
            <a:srgbClr val="F4DCD6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entities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listed in the frontmatter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implements, plans, concerns references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Landed with the run, unverified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60320" y="2240280"/>
            <a:ext cx="82296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2789997" y="2130552"/>
            <a:ext cx="363607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532120" y="2240280"/>
            <a:ext cx="82296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5631423" y="2130552"/>
            <a:ext cx="624354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list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8503920" y="2240280"/>
            <a:ext cx="82296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8713877" y="2130552"/>
            <a:ext cx="403046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3749040"/>
            <a:ext cx="2148840" cy="1554480"/>
          </a:xfrm>
          <a:prstGeom prst="roundRect">
            <a:avLst>
              <a:gd name="adj" fmla="val 4706"/>
            </a:avLst>
          </a:prstGeom>
          <a:solidFill>
            <a:srgbClr val="DCE7D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line change outside a run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user's own commit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changed under entities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383280" y="3749040"/>
            <a:ext cx="2148840" cy="1554480"/>
          </a:xfrm>
          <a:prstGeom prst="roundRect">
            <a:avLst>
              <a:gd name="adj" fmla="val 4706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 gate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over the artifacts: artifact_ahead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changed with their artifacts: in step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3749040"/>
            <a:ext cx="2148840" cy="1554480"/>
          </a:xfrm>
          <a:prstGeom prst="roundRect">
            <a:avLst>
              <a:gd name="adj" fmla="val 4706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Summarization run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per change, event trigger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entity over the artifacts listed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Queued with the automation runs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0" y="3749040"/>
            <a:ext cx="2148840" cy="1554480"/>
          </a:xfrm>
          <a:prstGeom prst="roundRect">
            <a:avLst>
              <a:gd name="adj" fmla="val 4706"/>
            </a:avLst>
          </a:prstGeom>
          <a:solidFill>
            <a:srgbClr val="F4DCD6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Cards rewritten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from its artifacts again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sync: synced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 the feed, unverified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60320" y="4526280"/>
            <a:ext cx="82296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716079" y="4416552"/>
            <a:ext cx="511443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532120" y="4526280"/>
            <a:ext cx="82296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5550485" y="4416552"/>
            <a:ext cx="786229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artifact_ahead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8503920" y="4526280"/>
            <a:ext cx="82296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8714720" y="4416552"/>
            <a:ext cx="401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6692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automation summarizes by itself, so none is limited by the card. The consistency check trusts summarization: it never reads the artifacts, so a summary must say what its artifacts say.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493776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 gate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320040" y="777240"/>
            <a:ext cx="11521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60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consistency guard on every change of a run, the transaction when it ends, and the consistency check loop over the knowledge graph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11480" y="1280160"/>
            <a:ext cx="3063240" cy="2286000"/>
          </a:xfrm>
          <a:prstGeom prst="roundRect">
            <a:avLst>
              <a:gd name="adj" fmla="val 3200"/>
            </a:avLst>
          </a:prstGeom>
          <a:solidFill>
            <a:srgbClr val="DCE7D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run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PostToolUse hook: every knowledge-base write checked as it happens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hook: run sent back to fix what cannot pass, twice at most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on knowledge-graph/ for writes outside the tools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momentum-kb write: issues returned at once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434840" y="1280160"/>
            <a:ext cx="3063240" cy="2286000"/>
          </a:xfrm>
          <a:prstGeom prst="roundRect">
            <a:avLst>
              <a:gd name="adj" fmla="val 3200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Transaction, when the run ends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within the character limit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from entity-types.tsv, matching the directory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reference resolving; no deletion still referenced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lands as one commit, valid or not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Harness/Issue guard-&lt;run&gt; over what cannot pass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458200" y="1280160"/>
            <a:ext cx="3063240" cy="2286000"/>
          </a:xfrm>
          <a:prstGeom prst="roundRect">
            <a:avLst>
              <a:gd name="adj" fmla="val 3200"/>
            </a:avLst>
          </a:prstGeom>
          <a:solidFill>
            <a:srgbClr val="F4DCD6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landing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following the main line commit by commit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 entities in the feed, verified ones out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states and contradictions refreshed</a:t>
            </a:r>
            <a:endParaRPr lang="en-US" sz="110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and open-issue metrics recorded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74720" y="2423160"/>
            <a:ext cx="96012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3772977" y="2313432"/>
            <a:ext cx="363607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498080" y="2423160"/>
            <a:ext cx="96012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7745363" y="2313432"/>
            <a:ext cx="465554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landed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920240"/>
          </a:xfrm>
          <a:prstGeom prst="roundRect">
            <a:avLst>
              <a:gd name="adj" fmla="val 4762"/>
            </a:avLst>
          </a:prstGeom>
          <a:solidFill>
            <a:srgbClr val="EEF1E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85800" y="398678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 check loop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4343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categories</a:t>
            </a:r>
            <a:endParaRPr lang="en-US" sz="10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· card-limit · type-path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categories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 · repetition · ambiguity · design-gap · logical · naming · struct · verbose · split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434340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buSzPct val="100000"/>
              <a:buChar char="•"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Harness/Issue per finding, concerning the entities at fault</a:t>
            </a:r>
            <a:endParaRPr lang="en-US" sz="900" dirty="0"/>
          </a:p>
          <a:p>
            <a:pPr marL="101600" indent="-101600">
              <a:buSzPct val="100000"/>
              <a:buChar char="•"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only: the artifacts behind a summary never opened</a:t>
            </a:r>
            <a:endParaRPr lang="en-US" sz="900" dirty="0"/>
          </a:p>
          <a:p>
            <a:pPr marL="101600" indent="-101600">
              <a:buSzPct val="100000"/>
              <a:buChar char="•"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contradiction issues counted on each entity as its contradictions</a:t>
            </a:r>
            <a:endParaRPr lang="en-US" sz="900" dirty="0"/>
          </a:p>
          <a:p>
            <a:pPr marL="101600" indent="-101600">
              <a:buSzPct val="100000"/>
              <a:buChar char="•"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fixed by the check itself: every change reaches the main line through a run and the feed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493776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320040" y="777240"/>
            <a:ext cx="11521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60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branch per workspace: the main line. No run branches, no merges; every run lands as one commit, and approval is one commit more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line unchanged while the run ran: fast-forward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2651760"/>
            <a:ext cx="5394960" cy="0"/>
          </a:xfrm>
          <a:prstGeom prst="line">
            <a:avLst/>
          </a:prstGeom>
          <a:noFill/>
          <a:ln w="25400">
            <a:solidFill>
              <a:srgbClr val="D5D9D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155448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DCE7D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checkout</a:t>
            </a: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Detached worktree at the tip</a:t>
            </a: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while the run works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05256" y="255117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F3E4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" y="28163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at start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202936" y="255117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F6B5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89120" y="28163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landed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017520" y="1897380"/>
            <a:ext cx="2286000" cy="626364"/>
          </a:xfrm>
          <a:prstGeom prst="line">
            <a:avLst/>
          </a:prstGeom>
          <a:noFill/>
          <a:ln w="12700">
            <a:solidFill>
              <a:srgbClr val="3F6B52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6400800" y="12344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line moved meanwhile: replay onto the new tip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0" y="2651760"/>
            <a:ext cx="5394960" cy="0"/>
          </a:xfrm>
          <a:prstGeom prst="line">
            <a:avLst/>
          </a:prstGeom>
          <a:noFill/>
          <a:ln w="25400">
            <a:solidFill>
              <a:srgbClr val="D5D9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0" y="155448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DCE7D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checkout</a:t>
            </a: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Detached worktree at the tip</a:t>
            </a: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while the run works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57416" y="255117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F3E4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0" y="28163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at start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8951976" y="255117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8504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38160" y="28163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commit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055096" y="255117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F6B5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241280" y="28163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replayed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8869680" y="1897380"/>
            <a:ext cx="2286000" cy="626364"/>
          </a:xfrm>
          <a:prstGeom prst="line">
            <a:avLst/>
          </a:prstGeom>
          <a:noFill/>
          <a:ln w="12700">
            <a:solidFill>
              <a:srgbClr val="3F6B52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6400800" y="31546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files on the run's side; a Harness/Conflict entity in the same commit, concerning what conflicted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48640" y="4343400"/>
            <a:ext cx="11064240" cy="0"/>
          </a:xfrm>
          <a:prstGeom prst="line">
            <a:avLst/>
          </a:prstGeom>
          <a:noFill/>
          <a:ln w="25400">
            <a:solidFill>
              <a:srgbClr val="D5D9D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362456" y="424281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F3E4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4507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landed: entity unverified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471416" y="424281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F6B5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0" y="4507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approval: verification verified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7580376" y="424281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8504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66560" y="4507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commit: artifacts changed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506456" y="424281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F3E4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92640" y="4507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 run landed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3931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history: run landings, approvals and the user's own commits, each one commit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548640" y="521208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EEF1E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31520" y="5321808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buSzPct val="100000"/>
              <a:buChar char="•"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Conflicts avoided by queueing: automation runs one at a time per project</a:t>
            </a:r>
            <a:endParaRPr lang="en-US" sz="900" dirty="0"/>
          </a:p>
          <a:p>
            <a:pPr marL="101600" indent="-101600">
              <a:buSzPct val="100000"/>
              <a:buChar char="•"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user's checkout updated where its files were clean; dirty files left alone</a:t>
            </a:r>
            <a:endParaRPr lang="en-US" sz="900" dirty="0"/>
          </a:p>
          <a:p>
            <a:pPr marL="101600" indent="-101600">
              <a:buSzPct val="100000"/>
              <a:buChar char="•"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checkouts under .runs/&lt;workspace&gt;/&lt;run-id&gt;, removed once landed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217920" y="5321808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buSzPct val="100000"/>
              <a:buChar char="•"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 push, never a branch: the harness commits and lands, runs never touch git</a:t>
            </a:r>
            <a:endParaRPr lang="en-US" sz="900" dirty="0"/>
          </a:p>
          <a:p>
            <a:pPr marL="101600" indent="-101600">
              <a:buSzPct val="100000"/>
              <a:buChar char="•"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Reset: knowledge graph deleted from the main line in one commit, code untouched</a:t>
            </a:r>
            <a:endParaRPr lang="en-US" sz="900" dirty="0"/>
          </a:p>
          <a:p>
            <a:pPr marL="101600" indent="-101600">
              <a:buSzPct val="100000"/>
              <a:buChar char="•"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momentum/* branches landed once at startup, then deleted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493776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actions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320040" y="777240"/>
            <a:ext cx="11521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60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the user does, from the feed, the chat tool, the explorer, settings or voice tools; every action is an API call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687568" y="3337560"/>
            <a:ext cx="822960" cy="822960"/>
          </a:xfrm>
          <a:prstGeom prst="ellipse">
            <a:avLst/>
          </a:prstGeom>
          <a:solidFill>
            <a:srgbClr val="2F3E46"/>
          </a:solidFill>
          <a:ln/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6168" y="356616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12344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F4DCD6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44168"/>
            <a:ext cx="201168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32688" y="1307592"/>
            <a:ext cx="2560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right in the feed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commit: verification verified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Implementable and unimplemented: entity_ahead → implementation run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 flipH="1" flipV="1">
            <a:off x="3185302" y="2331720"/>
            <a:ext cx="2502266" cy="1217166"/>
          </a:xfrm>
          <a:prstGeom prst="line">
            <a:avLst/>
          </a:prstGeom>
          <a:noFill/>
          <a:ln w="12700">
            <a:solidFill>
              <a:srgbClr val="52606A"/>
            </a:solidFill>
            <a:prstDash val="dash"/>
          </a:ln>
        </p:spPr>
      </p:sp>
      <p:sp>
        <p:nvSpPr>
          <p:cNvPr id="11" name="Text 6"/>
          <p:cNvSpPr txBox="1"/>
          <p:nvPr/>
        </p:nvSpPr>
        <p:spPr>
          <a:xfrm>
            <a:off x="4590288" y="12344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F4DCD6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1344168"/>
            <a:ext cx="201168" cy="20116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974336" y="1307592"/>
            <a:ext cx="2560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Send back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left with a comment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run on the entity, sync updating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comment decides: change, split, replace, retire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 flipV="1">
            <a:off x="6099048" y="2331720"/>
            <a:ext cx="0" cy="1005840"/>
          </a:xfrm>
          <a:prstGeom prst="line">
            <a:avLst/>
          </a:prstGeom>
          <a:noFill/>
          <a:ln w="12700">
            <a:solidFill>
              <a:srgbClr val="52606A"/>
            </a:solidFill>
            <a:prstDash val="dash"/>
          </a:ln>
        </p:spPr>
      </p:sp>
      <p:sp>
        <p:nvSpPr>
          <p:cNvPr id="15" name="Text 9"/>
          <p:cNvSpPr txBox="1"/>
          <p:nvPr/>
        </p:nvSpPr>
        <p:spPr>
          <a:xfrm>
            <a:off x="8622792" y="12344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DCE7D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1344168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006840" y="1307592"/>
            <a:ext cx="2560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or steering, any time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at once, alongside the automations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through the feed like any change</a:t>
            </a:r>
            <a:endParaRPr lang="en-US" sz="1100" dirty="0"/>
          </a:p>
        </p:txBody>
      </p:sp>
      <p:sp>
        <p:nvSpPr>
          <p:cNvPr id="18" name="Shape 11"/>
          <p:cNvSpPr/>
          <p:nvPr/>
        </p:nvSpPr>
        <p:spPr>
          <a:xfrm flipV="1">
            <a:off x="6510528" y="2331720"/>
            <a:ext cx="2495674" cy="1216712"/>
          </a:xfrm>
          <a:prstGeom prst="line">
            <a:avLst/>
          </a:prstGeom>
          <a:noFill/>
          <a:ln w="12700">
            <a:solidFill>
              <a:srgbClr val="52606A"/>
            </a:solidFill>
            <a:prstDash val="dash"/>
          </a:ln>
        </p:spPr>
      </p:sp>
      <p:sp>
        <p:nvSpPr>
          <p:cNvPr id="19" name="Text 12"/>
          <p:cNvSpPr txBox="1"/>
          <p:nvPr/>
        </p:nvSpPr>
        <p:spPr>
          <a:xfrm>
            <a:off x="548640" y="320040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DCE7D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310128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932688" y="3273552"/>
            <a:ext cx="2560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on demand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automation whose trigger allows it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from the chat tool or voice tools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 flipH="1">
            <a:off x="3566160" y="3749040"/>
            <a:ext cx="2121408" cy="0"/>
          </a:xfrm>
          <a:prstGeom prst="line">
            <a:avLst/>
          </a:prstGeom>
          <a:noFill/>
          <a:ln w="12700">
            <a:solidFill>
              <a:srgbClr val="52606A"/>
            </a:solidFill>
            <a:prstDash val="dash"/>
          </a:ln>
        </p:spPr>
      </p:sp>
      <p:sp>
        <p:nvSpPr>
          <p:cNvPr id="23" name="Text 15"/>
          <p:cNvSpPr txBox="1"/>
          <p:nvPr/>
        </p:nvSpPr>
        <p:spPr>
          <a:xfrm>
            <a:off x="8622792" y="320040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DCE7D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0" y="3310128"/>
            <a:ext cx="201168" cy="201168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006840" y="3273552"/>
            <a:ext cx="2560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a run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killed, usage shown until then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wrote still lands and reaches the feed</a:t>
            </a:r>
            <a:endParaRPr lang="en-US" sz="1100" dirty="0"/>
          </a:p>
        </p:txBody>
      </p:sp>
      <p:sp>
        <p:nvSpPr>
          <p:cNvPr id="26" name="Shape 17"/>
          <p:cNvSpPr/>
          <p:nvPr/>
        </p:nvSpPr>
        <p:spPr>
          <a:xfrm>
            <a:off x="6510528" y="3749040"/>
            <a:ext cx="2112264" cy="0"/>
          </a:xfrm>
          <a:prstGeom prst="line">
            <a:avLst/>
          </a:prstGeom>
          <a:noFill/>
          <a:ln w="12700">
            <a:solidFill>
              <a:srgbClr val="52606A"/>
            </a:solidFill>
            <a:prstDash val="dash"/>
          </a:ln>
        </p:spPr>
      </p:sp>
      <p:sp>
        <p:nvSpPr>
          <p:cNvPr id="27" name="Text 18"/>
          <p:cNvSpPr txBox="1"/>
          <p:nvPr/>
        </p:nvSpPr>
        <p:spPr>
          <a:xfrm>
            <a:off x="548640" y="516636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276088"/>
            <a:ext cx="201168" cy="201168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932688" y="5239512"/>
            <a:ext cx="2560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and the graph build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Enable, disable: loops on or off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Build: stop, resume, reset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and the full build estimate watched</a:t>
            </a:r>
            <a:endParaRPr lang="en-US" sz="1100" dirty="0"/>
          </a:p>
        </p:txBody>
      </p:sp>
      <p:sp>
        <p:nvSpPr>
          <p:cNvPr id="30" name="Shape 20"/>
          <p:cNvSpPr/>
          <p:nvPr/>
        </p:nvSpPr>
        <p:spPr>
          <a:xfrm flipH="1">
            <a:off x="3185302" y="3949194"/>
            <a:ext cx="2502266" cy="1217166"/>
          </a:xfrm>
          <a:prstGeom prst="line">
            <a:avLst/>
          </a:prstGeom>
          <a:noFill/>
          <a:ln w="12700">
            <a:solidFill>
              <a:srgbClr val="52606A"/>
            </a:solidFill>
            <a:prstDash val="dash"/>
          </a:ln>
        </p:spPr>
      </p:sp>
      <p:sp>
        <p:nvSpPr>
          <p:cNvPr id="31" name="Text 21"/>
          <p:cNvSpPr txBox="1"/>
          <p:nvPr/>
        </p:nvSpPr>
        <p:spPr>
          <a:xfrm>
            <a:off x="4590288" y="516636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0016" y="5276088"/>
            <a:ext cx="201168" cy="201168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4974336" y="5239512"/>
            <a:ext cx="2560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 entities directly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commit on the main line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and fed like a run's landing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and triggers included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6099048" y="4160520"/>
            <a:ext cx="0" cy="1005840"/>
          </a:xfrm>
          <a:prstGeom prst="line">
            <a:avLst/>
          </a:prstGeom>
          <a:noFill/>
          <a:ln w="12700">
            <a:solidFill>
              <a:srgbClr val="52606A"/>
            </a:solidFill>
            <a:prstDash val="dash"/>
          </a:ln>
        </p:spPr>
      </p:sp>
      <p:sp>
        <p:nvSpPr>
          <p:cNvPr id="35" name="Text 24"/>
          <p:cNvSpPr txBox="1"/>
          <p:nvPr/>
        </p:nvSpPr>
        <p:spPr>
          <a:xfrm>
            <a:off x="8622792" y="516636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EFE8D2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88900" tIns="101600" rIns="101600" bIns="63500" rtlCol="0" anchor="t"/>
          <a:lstStyle/>
          <a:p>
            <a:pPr algn="l" indent="0" marL="0">
              <a:spcAft>
                <a:spcPts val="300"/>
              </a:spcAft>
              <a:buNone/>
            </a:pPr>
            <a:endParaRPr lang="en-US" sz="110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2520" y="5276088"/>
            <a:ext cx="201168" cy="201168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9006840" y="5239512"/>
            <a:ext cx="2560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size, card limit and rules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Lifetimes, exclusions, models</a:t>
            </a:r>
            <a:endParaRPr lang="en-US" sz="1100" dirty="0"/>
          </a:p>
          <a:p>
            <a:pPr indent="0" marL="0">
              <a:buNone/>
            </a:pPr>
            <a:r>
              <a:rPr lang="en-US" sz="8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total across projects</a:t>
            </a:r>
            <a:endParaRPr lang="en-US" sz="1100" dirty="0"/>
          </a:p>
        </p:txBody>
      </p:sp>
      <p:sp>
        <p:nvSpPr>
          <p:cNvPr id="38" name="Shape 26"/>
          <p:cNvSpPr/>
          <p:nvPr/>
        </p:nvSpPr>
        <p:spPr>
          <a:xfrm>
            <a:off x="6510528" y="3949648"/>
            <a:ext cx="2495674" cy="1216712"/>
          </a:xfrm>
          <a:prstGeom prst="line">
            <a:avLst/>
          </a:prstGeom>
          <a:noFill/>
          <a:ln w="12700">
            <a:solidFill>
              <a:srgbClr val="52606A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Harness &amp; Products</dc:title>
  <dc:subject>PptxGenJS Presentation</dc:subject>
  <dc:creator>PptxGenJS</dc:creator>
  <cp:lastModifiedBy>PptxGenJS</cp:lastModifiedBy>
  <cp:revision>1</cp:revision>
  <dcterms:created xsi:type="dcterms:W3CDTF">2026-10-01T11:37:21Z</dcterms:created>
  <dcterms:modified xsi:type="dcterms:W3CDTF">2026-10-01T11:37:21Z</dcterms:modified>
</cp:coreProperties>
</file>