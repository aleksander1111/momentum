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gate validates the transaction and lands it as one commit; the index follows the main line and the feed ranks what is unverified; the user approves, sends back or chats. A card the user writes needs no run: it goes straight through the consistency gate and lands verified.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Ten automations around the knowledge graph, each with its trigger: schedule, event, the user, the Stop hook or enabling the project.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Triggered loops pause while the feed is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The user edits them, or optimization proposes changes; either way the change passes the consistency gate, lands on the main line and is verified through the feed. Runs start on demand from the chat and stop from the chat; models and concurrency are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gate. Every write is checked while the run works. When it ends, the transaction passes the gate: card limit, type and references.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cards over the character limit,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a:t>
            </a:r>
            <a:endParaRPr lang="en-US" sz="2000" dirty="0"/>
          </a:p>
        </p:txBody>
      </p:sp>
      <p:sp>
        <p:nvSpPr>
          <p:cNvPr id="4" name="Text 1"/>
          <p:cNvSpPr txBox="1"/>
          <p:nvPr/>
        </p:nvSpPr>
        <p:spPr>
          <a:xfrm>
            <a:off x="4389120" y="274320"/>
            <a:ext cx="1920240" cy="457200"/>
          </a:xfrm>
          <a:prstGeom prst="rect">
            <a:avLst/>
          </a:prstGeom>
          <a:solidFill>
            <a:srgbClr val="B85042"/>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Products</a:t>
            </a:r>
            <a:endParaRPr lang="en-US" sz="2000" dirty="0"/>
          </a:p>
        </p:txBody>
      </p:sp>
      <p:sp>
        <p:nvSpPr>
          <p:cNvPr id="5" name="Shape 2"/>
          <p:cNvSpPr/>
          <p:nvPr/>
        </p:nvSpPr>
        <p:spPr>
          <a:xfrm>
            <a:off x="320040" y="914400"/>
            <a:ext cx="1874520" cy="1000354"/>
          </a:xfrm>
          <a:prstGeom prst="rect">
            <a:avLst/>
          </a:prstGeom>
          <a:solidFill>
            <a:srgbClr val="EEF1EC"/>
          </a:solidFill>
          <a:ln/>
        </p:spPr>
      </p:sp>
      <p:sp>
        <p:nvSpPr>
          <p:cNvPr id="6" name="Text 3"/>
          <p:cNvSpPr txBox="1"/>
          <p:nvPr/>
        </p:nvSpPr>
        <p:spPr>
          <a:xfrm>
            <a:off x="32004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Included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a:t>
            </a:r>
            <a:endParaRPr lang="en-US" sz="1000" dirty="0"/>
          </a:p>
        </p:txBody>
      </p:sp>
      <p:sp>
        <p:nvSpPr>
          <p:cNvPr id="7" name="Shape 4"/>
          <p:cNvSpPr/>
          <p:nvPr/>
        </p:nvSpPr>
        <p:spPr>
          <a:xfrm>
            <a:off x="1847088" y="987552"/>
            <a:ext cx="274320" cy="27432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915668" y="1056132"/>
            <a:ext cx="137160" cy="137160"/>
          </a:xfrm>
          <a:prstGeom prst="rect">
            <a:avLst/>
          </a:prstGeom>
        </p:spPr>
      </p:pic>
      <p:sp>
        <p:nvSpPr>
          <p:cNvPr id="9" name="Shape 5"/>
          <p:cNvSpPr/>
          <p:nvPr/>
        </p:nvSpPr>
        <p:spPr>
          <a:xfrm>
            <a:off x="2331720" y="914400"/>
            <a:ext cx="1874520" cy="1000354"/>
          </a:xfrm>
          <a:prstGeom prst="rect">
            <a:avLst/>
          </a:prstGeom>
          <a:solidFill>
            <a:srgbClr val="EEF1EC"/>
          </a:solidFill>
          <a:ln/>
        </p:spPr>
      </p:sp>
      <p:sp>
        <p:nvSpPr>
          <p:cNvPr id="10" name="Text 6"/>
          <p:cNvSpPr txBox="1"/>
          <p:nvPr/>
        </p:nvSpPr>
        <p:spPr>
          <a:xfrm>
            <a:off x="233172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Knowledge Graph 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browsing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search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navigation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Indices</a:t>
            </a:r>
            <a:endParaRPr lang="en-US" sz="1000" dirty="0"/>
          </a:p>
        </p:txBody>
      </p:sp>
      <p:sp>
        <p:nvSpPr>
          <p:cNvPr id="11" name="Shape 7"/>
          <p:cNvSpPr/>
          <p:nvPr/>
        </p:nvSpPr>
        <p:spPr>
          <a:xfrm>
            <a:off x="3858768" y="987552"/>
            <a:ext cx="274320" cy="27432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3927348" y="1056132"/>
            <a:ext cx="137160" cy="137160"/>
          </a:xfrm>
          <a:prstGeom prst="rect">
            <a:avLst/>
          </a:prstGeom>
        </p:spPr>
      </p:pic>
      <p:sp>
        <p:nvSpPr>
          <p:cNvPr id="13" name="Shape 8"/>
          <p:cNvSpPr/>
          <p:nvPr/>
        </p:nvSpPr>
        <p:spPr>
          <a:xfrm>
            <a:off x="320040" y="2024482"/>
            <a:ext cx="1874520" cy="1000354"/>
          </a:xfrm>
          <a:prstGeom prst="rect">
            <a:avLst/>
          </a:prstGeom>
          <a:solidFill>
            <a:srgbClr val="EEF1EC"/>
          </a:solidFill>
          <a:ln/>
        </p:spPr>
      </p:sp>
      <p:sp>
        <p:nvSpPr>
          <p:cNvPr id="14" name="Text 9"/>
          <p:cNvSpPr txBox="1"/>
          <p:nvPr/>
        </p:nvSpPr>
        <p:spPr>
          <a:xfrm>
            <a:off x="32004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Importance Rank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Dependencies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Stability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Performance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Priority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Velocity</a:t>
            </a:r>
            <a:endParaRPr lang="en-US" sz="1000" dirty="0"/>
          </a:p>
        </p:txBody>
      </p:sp>
      <p:sp>
        <p:nvSpPr>
          <p:cNvPr id="15" name="Shape 10"/>
          <p:cNvSpPr/>
          <p:nvPr/>
        </p:nvSpPr>
        <p:spPr>
          <a:xfrm>
            <a:off x="1847088" y="2097634"/>
            <a:ext cx="274320" cy="27432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915668" y="2166214"/>
            <a:ext cx="137160" cy="137160"/>
          </a:xfrm>
          <a:prstGeom prst="rect">
            <a:avLst/>
          </a:prstGeom>
        </p:spPr>
      </p:pic>
      <p:sp>
        <p:nvSpPr>
          <p:cNvPr id="17" name="Shape 11"/>
          <p:cNvSpPr/>
          <p:nvPr/>
        </p:nvSpPr>
        <p:spPr>
          <a:xfrm>
            <a:off x="2331720" y="2024482"/>
            <a:ext cx="1874520" cy="1000354"/>
          </a:xfrm>
          <a:prstGeom prst="rect">
            <a:avLst/>
          </a:prstGeom>
          <a:solidFill>
            <a:srgbClr val="EEF1EC"/>
          </a:solidFill>
          <a:ln/>
        </p:spPr>
      </p:sp>
      <p:sp>
        <p:nvSpPr>
          <p:cNvPr id="18" name="Text 12"/>
          <p:cNvSpPr txBox="1"/>
          <p:nvPr/>
        </p:nvSpPr>
        <p:spPr>
          <a:xfrm>
            <a:off x="233172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Question answering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 steering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launching</a:t>
            </a:r>
            <a:endParaRPr lang="en-US" sz="1000" dirty="0"/>
          </a:p>
        </p:txBody>
      </p:sp>
      <p:sp>
        <p:nvSpPr>
          <p:cNvPr id="19" name="Shape 13"/>
          <p:cNvSpPr/>
          <p:nvPr/>
        </p:nvSpPr>
        <p:spPr>
          <a:xfrm>
            <a:off x="3858768" y="2097634"/>
            <a:ext cx="274320" cy="274320"/>
          </a:xfrm>
          <a:prstGeom prst="ellipse">
            <a:avLst/>
          </a:prstGeom>
          <a:solidFill>
            <a:srgbClr val="FFFFFF"/>
          </a:solidFill>
          <a:ln/>
        </p:spPr>
      </p:sp>
      <p:pic>
        <p:nvPicPr>
          <p:cNvPr id="20" name="Image 3" descr="preencoded.png">    </p:cNvPr>
          <p:cNvPicPr>
            <a:picLocks noChangeAspect="1"/>
          </p:cNvPicPr>
          <p:nvPr/>
        </p:nvPicPr>
        <p:blipFill>
          <a:blip r:embed="rId4"/>
          <a:stretch>
            <a:fillRect/>
          </a:stretch>
        </p:blipFill>
        <p:spPr>
          <a:xfrm>
            <a:off x="3927348" y="2166214"/>
            <a:ext cx="137160" cy="137160"/>
          </a:xfrm>
          <a:prstGeom prst="rect">
            <a:avLst/>
          </a:prstGeom>
        </p:spPr>
      </p:pic>
      <p:sp>
        <p:nvSpPr>
          <p:cNvPr id="21" name="Shape 14"/>
          <p:cNvSpPr/>
          <p:nvPr/>
        </p:nvSpPr>
        <p:spPr>
          <a:xfrm>
            <a:off x="320040" y="3134563"/>
            <a:ext cx="1874520" cy="1000354"/>
          </a:xfrm>
          <a:prstGeom prst="rect">
            <a:avLst/>
          </a:prstGeom>
          <a:solidFill>
            <a:srgbClr val="EEF1EC"/>
          </a:solidFill>
          <a:ln/>
        </p:spPr>
      </p:sp>
      <p:sp>
        <p:nvSpPr>
          <p:cNvPr id="22" name="Text 15"/>
          <p:cNvSpPr txBox="1"/>
          <p:nvPr/>
        </p:nvSpPr>
        <p:spPr>
          <a:xfrm>
            <a:off x="32004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Alignment issues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usage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Sessions duration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Consistency</a:t>
            </a:r>
            <a:endParaRPr lang="en-US" sz="1000" dirty="0"/>
          </a:p>
        </p:txBody>
      </p:sp>
      <p:sp>
        <p:nvSpPr>
          <p:cNvPr id="23" name="Shape 16"/>
          <p:cNvSpPr/>
          <p:nvPr/>
        </p:nvSpPr>
        <p:spPr>
          <a:xfrm>
            <a:off x="1847088" y="3207715"/>
            <a:ext cx="274320" cy="274320"/>
          </a:xfrm>
          <a:prstGeom prst="ellipse">
            <a:avLst/>
          </a:prstGeom>
          <a:solidFill>
            <a:srgbClr val="FFFFFF"/>
          </a:solidFill>
          <a:ln/>
        </p:spPr>
      </p:sp>
      <p:pic>
        <p:nvPicPr>
          <p:cNvPr id="24" name="Image 4" descr="preencoded.png">    </p:cNvPr>
          <p:cNvPicPr>
            <a:picLocks noChangeAspect="1"/>
          </p:cNvPicPr>
          <p:nvPr/>
        </p:nvPicPr>
        <p:blipFill>
          <a:blip r:embed="rId5"/>
          <a:stretch>
            <a:fillRect/>
          </a:stretch>
        </p:blipFill>
        <p:spPr>
          <a:xfrm>
            <a:off x="1915668" y="3276295"/>
            <a:ext cx="137160" cy="137160"/>
          </a:xfrm>
          <a:prstGeom prst="rect">
            <a:avLst/>
          </a:prstGeom>
        </p:spPr>
      </p:pic>
      <p:sp>
        <p:nvSpPr>
          <p:cNvPr id="25" name="Shape 17"/>
          <p:cNvSpPr/>
          <p:nvPr/>
        </p:nvSpPr>
        <p:spPr>
          <a:xfrm>
            <a:off x="2331720" y="3134563"/>
            <a:ext cx="1874520" cy="1000354"/>
          </a:xfrm>
          <a:prstGeom prst="rect">
            <a:avLst/>
          </a:prstGeom>
          <a:solidFill>
            <a:srgbClr val="EEF1EC"/>
          </a:solidFill>
          <a:ln/>
        </p:spPr>
      </p:sp>
      <p:sp>
        <p:nvSpPr>
          <p:cNvPr id="26" name="Text 18"/>
          <p:cNvSpPr txBox="1"/>
          <p:nvPr/>
        </p:nvSpPr>
        <p:spPr>
          <a:xfrm>
            <a:off x="233172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Optimization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Skills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Tools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extraction</a:t>
            </a:r>
            <a:endParaRPr lang="en-US" sz="1000" dirty="0"/>
          </a:p>
        </p:txBody>
      </p:sp>
      <p:sp>
        <p:nvSpPr>
          <p:cNvPr id="27" name="Shape 19"/>
          <p:cNvSpPr/>
          <p:nvPr/>
        </p:nvSpPr>
        <p:spPr>
          <a:xfrm>
            <a:off x="3858768" y="3207715"/>
            <a:ext cx="274320" cy="274320"/>
          </a:xfrm>
          <a:prstGeom prst="ellipse">
            <a:avLst/>
          </a:prstGeom>
          <a:solidFill>
            <a:srgbClr val="FFFFFF"/>
          </a:solidFill>
          <a:ln/>
        </p:spPr>
      </p:sp>
      <p:pic>
        <p:nvPicPr>
          <p:cNvPr id="28" name="Image 5" descr="preencoded.png">    </p:cNvPr>
          <p:cNvPicPr>
            <a:picLocks noChangeAspect="1"/>
          </p:cNvPicPr>
          <p:nvPr/>
        </p:nvPicPr>
        <p:blipFill>
          <a:blip r:embed="rId6"/>
          <a:stretch>
            <a:fillRect/>
          </a:stretch>
        </p:blipFill>
        <p:spPr>
          <a:xfrm>
            <a:off x="3927348" y="3276295"/>
            <a:ext cx="137160" cy="137160"/>
          </a:xfrm>
          <a:prstGeom prst="rect">
            <a:avLst/>
          </a:prstGeom>
        </p:spPr>
      </p:pic>
      <p:sp>
        <p:nvSpPr>
          <p:cNvPr id="29" name="Shape 20"/>
          <p:cNvSpPr/>
          <p:nvPr/>
        </p:nvSpPr>
        <p:spPr>
          <a:xfrm>
            <a:off x="320040" y="4244645"/>
            <a:ext cx="1874520" cy="1000354"/>
          </a:xfrm>
          <a:prstGeom prst="rect">
            <a:avLst/>
          </a:prstGeom>
          <a:solidFill>
            <a:srgbClr val="EEF1EC"/>
          </a:solidFill>
          <a:ln/>
        </p:spPr>
      </p:sp>
      <p:sp>
        <p:nvSpPr>
          <p:cNvPr id="30" name="Text 21"/>
          <p:cNvSpPr txBox="1"/>
          <p:nvPr/>
        </p:nvSpPr>
        <p:spPr>
          <a:xfrm>
            <a:off x="32004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Metrics collection</a:t>
            </a:r>
            <a:endParaRPr lang="en-US" sz="1000" dirty="0"/>
          </a:p>
        </p:txBody>
      </p:sp>
      <p:sp>
        <p:nvSpPr>
          <p:cNvPr id="31" name="Shape 22"/>
          <p:cNvSpPr/>
          <p:nvPr/>
        </p:nvSpPr>
        <p:spPr>
          <a:xfrm>
            <a:off x="1847088" y="4317797"/>
            <a:ext cx="274320" cy="274320"/>
          </a:xfrm>
          <a:prstGeom prst="ellipse">
            <a:avLst/>
          </a:prstGeom>
          <a:solidFill>
            <a:srgbClr val="FFFFFF"/>
          </a:solidFill>
          <a:ln/>
        </p:spPr>
      </p:sp>
      <p:pic>
        <p:nvPicPr>
          <p:cNvPr id="32" name="Image 6" descr="preencoded.png">    </p:cNvPr>
          <p:cNvPicPr>
            <a:picLocks noChangeAspect="1"/>
          </p:cNvPicPr>
          <p:nvPr/>
        </p:nvPicPr>
        <p:blipFill>
          <a:blip r:embed="rId7"/>
          <a:stretch>
            <a:fillRect/>
          </a:stretch>
        </p:blipFill>
        <p:spPr>
          <a:xfrm>
            <a:off x="1915668" y="4386377"/>
            <a:ext cx="137160" cy="137160"/>
          </a:xfrm>
          <a:prstGeom prst="rect">
            <a:avLst/>
          </a:prstGeom>
        </p:spPr>
      </p:pic>
      <p:sp>
        <p:nvSpPr>
          <p:cNvPr id="33" name="Shape 23"/>
          <p:cNvSpPr/>
          <p:nvPr/>
        </p:nvSpPr>
        <p:spPr>
          <a:xfrm>
            <a:off x="2331720" y="4244645"/>
            <a:ext cx="1874520" cy="1000354"/>
          </a:xfrm>
          <a:prstGeom prst="rect">
            <a:avLst/>
          </a:prstGeom>
          <a:solidFill>
            <a:srgbClr val="EEF1EC"/>
          </a:solidFill>
          <a:ln/>
        </p:spPr>
      </p:sp>
      <p:sp>
        <p:nvSpPr>
          <p:cNvPr id="34" name="Text 24"/>
          <p:cNvSpPr txBox="1"/>
          <p:nvPr/>
        </p:nvSpPr>
        <p:spPr>
          <a:xfrm>
            <a:off x="233172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Front-end entry point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polling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results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Approvals</a:t>
            </a:r>
            <a:endParaRPr lang="en-US" sz="1000" dirty="0"/>
          </a:p>
        </p:txBody>
      </p:sp>
      <p:sp>
        <p:nvSpPr>
          <p:cNvPr id="35" name="Shape 25"/>
          <p:cNvSpPr/>
          <p:nvPr/>
        </p:nvSpPr>
        <p:spPr>
          <a:xfrm>
            <a:off x="3858768" y="4317797"/>
            <a:ext cx="274320" cy="274320"/>
          </a:xfrm>
          <a:prstGeom prst="ellipse">
            <a:avLst/>
          </a:prstGeom>
          <a:solidFill>
            <a:srgbClr val="FFFFFF"/>
          </a:solidFill>
          <a:ln/>
        </p:spPr>
      </p:sp>
      <p:pic>
        <p:nvPicPr>
          <p:cNvPr id="36" name="Image 7" descr="preencoded.png">    </p:cNvPr>
          <p:cNvPicPr>
            <a:picLocks noChangeAspect="1"/>
          </p:cNvPicPr>
          <p:nvPr/>
        </p:nvPicPr>
        <p:blipFill>
          <a:blip r:embed="rId8"/>
          <a:stretch>
            <a:fillRect/>
          </a:stretch>
        </p:blipFill>
        <p:spPr>
          <a:xfrm>
            <a:off x="3927348" y="4386377"/>
            <a:ext cx="137160" cy="137160"/>
          </a:xfrm>
          <a:prstGeom prst="rect">
            <a:avLst/>
          </a:prstGeom>
        </p:spPr>
      </p:pic>
      <p:sp>
        <p:nvSpPr>
          <p:cNvPr id="37" name="Shape 26"/>
          <p:cNvSpPr/>
          <p:nvPr/>
        </p:nvSpPr>
        <p:spPr>
          <a:xfrm>
            <a:off x="320040" y="5354726"/>
            <a:ext cx="1874520" cy="1000354"/>
          </a:xfrm>
          <a:prstGeom prst="rect">
            <a:avLst/>
          </a:prstGeom>
          <a:solidFill>
            <a:srgbClr val="EEF1EC"/>
          </a:solidFill>
          <a:ln/>
        </p:spPr>
      </p:sp>
      <p:sp>
        <p:nvSpPr>
          <p:cNvPr id="38" name="Text 27"/>
          <p:cNvSpPr txBox="1"/>
          <p:nvPr/>
        </p:nvSpPr>
        <p:spPr>
          <a:xfrm>
            <a:off x="32004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Voice Tools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Full capability access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UI-free control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API calls</a:t>
            </a:r>
            <a:endParaRPr lang="en-US" sz="1000" dirty="0"/>
          </a:p>
        </p:txBody>
      </p:sp>
      <p:sp>
        <p:nvSpPr>
          <p:cNvPr id="39" name="Shape 28"/>
          <p:cNvSpPr/>
          <p:nvPr/>
        </p:nvSpPr>
        <p:spPr>
          <a:xfrm>
            <a:off x="1847088" y="5427878"/>
            <a:ext cx="274320" cy="274320"/>
          </a:xfrm>
          <a:prstGeom prst="ellipse">
            <a:avLst/>
          </a:prstGeom>
          <a:solidFill>
            <a:srgbClr val="FFFFFF"/>
          </a:solidFill>
          <a:ln/>
        </p:spPr>
      </p:sp>
      <p:pic>
        <p:nvPicPr>
          <p:cNvPr id="40" name="Image 8" descr="preencoded.png">    </p:cNvPr>
          <p:cNvPicPr>
            <a:picLocks noChangeAspect="1"/>
          </p:cNvPicPr>
          <p:nvPr/>
        </p:nvPicPr>
        <p:blipFill>
          <a:blip r:embed="rId9"/>
          <a:stretch>
            <a:fillRect/>
          </a:stretch>
        </p:blipFill>
        <p:spPr>
          <a:xfrm>
            <a:off x="1915668" y="5496458"/>
            <a:ext cx="137160" cy="137160"/>
          </a:xfrm>
          <a:prstGeom prst="rect">
            <a:avLst/>
          </a:prstGeom>
        </p:spPr>
      </p:pic>
      <p:sp>
        <p:nvSpPr>
          <p:cNvPr id="41" name="Shape 29"/>
          <p:cNvSpPr/>
          <p:nvPr/>
        </p:nvSpPr>
        <p:spPr>
          <a:xfrm>
            <a:off x="2331720" y="5354726"/>
            <a:ext cx="1874520" cy="1000354"/>
          </a:xfrm>
          <a:prstGeom prst="rect">
            <a:avLst/>
          </a:prstGeom>
          <a:solidFill>
            <a:srgbClr val="EEF1EC"/>
          </a:solidFill>
          <a:ln/>
        </p:spPr>
      </p:sp>
      <p:sp>
        <p:nvSpPr>
          <p:cNvPr id="42" name="Text 30"/>
          <p:cNvSpPr txBox="1"/>
          <p:nvPr/>
        </p:nvSpPr>
        <p:spPr>
          <a:xfrm>
            <a:off x="233172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RAG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Graph retrieval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traversal</a:t>
            </a:r>
            <a:endParaRPr lang="en-US" sz="1000" dirty="0"/>
          </a:p>
        </p:txBody>
      </p:sp>
      <p:sp>
        <p:nvSpPr>
          <p:cNvPr id="43" name="Shape 31"/>
          <p:cNvSpPr/>
          <p:nvPr/>
        </p:nvSpPr>
        <p:spPr>
          <a:xfrm>
            <a:off x="3858768" y="5427878"/>
            <a:ext cx="274320" cy="274320"/>
          </a:xfrm>
          <a:prstGeom prst="ellipse">
            <a:avLst/>
          </a:prstGeom>
          <a:solidFill>
            <a:srgbClr val="FFFFFF"/>
          </a:solidFill>
          <a:ln/>
        </p:spPr>
      </p:sp>
      <p:pic>
        <p:nvPicPr>
          <p:cNvPr id="44" name="Image 9" descr="preencoded.png">    </p:cNvPr>
          <p:cNvPicPr>
            <a:picLocks noChangeAspect="1"/>
          </p:cNvPicPr>
          <p:nvPr/>
        </p:nvPicPr>
        <p:blipFill>
          <a:blip r:embed="rId10"/>
          <a:stretch>
            <a:fillRect/>
          </a:stretch>
        </p:blipFill>
        <p:spPr>
          <a:xfrm>
            <a:off x="3927348" y="5496458"/>
            <a:ext cx="137160" cy="137160"/>
          </a:xfrm>
          <a:prstGeom prst="rect">
            <a:avLst/>
          </a:prstGeom>
        </p:spPr>
      </p:pic>
      <p:sp>
        <p:nvSpPr>
          <p:cNvPr id="45" name="Shape 32"/>
          <p:cNvSpPr/>
          <p:nvPr/>
        </p:nvSpPr>
        <p:spPr>
          <a:xfrm>
            <a:off x="4389120" y="914400"/>
            <a:ext cx="7498080" cy="1828800"/>
          </a:xfrm>
          <a:prstGeom prst="rect">
            <a:avLst/>
          </a:prstGeom>
          <a:solidFill>
            <a:srgbClr val="F4DCD6"/>
          </a:solidFill>
          <a:ln/>
        </p:spPr>
      </p:sp>
      <p:sp>
        <p:nvSpPr>
          <p:cNvPr id="46" name="Text 33"/>
          <p:cNvSpPr txBox="1"/>
          <p:nvPr/>
        </p:nvSpPr>
        <p:spPr>
          <a:xfrm>
            <a:off x="10881360" y="1600200"/>
            <a:ext cx="914400" cy="457200"/>
          </a:xfrm>
          <a:prstGeom prst="rect">
            <a:avLst/>
          </a:prstGeom>
          <a:noFill/>
          <a:ln/>
        </p:spPr>
        <p:txBody>
          <a:bodyPr wrap="square" lIns="0" tIns="0" rIns="0" bIns="0" rtlCol="0" anchor="ctr"/>
          <a:lstStyle/>
          <a:p>
            <a:pPr algn="ctr" indent="0" marL="0">
              <a:buNone/>
            </a:pPr>
            <a:r>
              <a:rPr lang="en-US" sz="1300" i="1" dirty="0">
                <a:solidFill>
                  <a:srgbClr val="A0402F"/>
                </a:solidFill>
                <a:latin typeface="Cambria" pitchFamily="34" charset="0"/>
                <a:ea typeface="Cambria" pitchFamily="34" charset="-122"/>
                <a:cs typeface="Cambria" pitchFamily="34" charset="-120"/>
              </a:rPr>
              <a:t>Attention</a:t>
            </a:r>
            <a:endParaRPr lang="en-US" sz="1300" dirty="0"/>
          </a:p>
          <a:p>
            <a:pPr algn="ctr" indent="0" marL="0">
              <a:buNone/>
            </a:pPr>
            <a:r>
              <a:rPr lang="en-US" sz="1300" i="1" dirty="0">
                <a:solidFill>
                  <a:srgbClr val="A0402F"/>
                </a:solidFill>
                <a:latin typeface="Cambria" pitchFamily="34" charset="0"/>
                <a:ea typeface="Cambria" pitchFamily="34" charset="-122"/>
                <a:cs typeface="Cambria" pitchFamily="34" charset="-120"/>
              </a:rPr>
              <a:t>Layer</a:t>
            </a:r>
            <a:endParaRPr lang="en-US" sz="1300" dirty="0"/>
          </a:p>
        </p:txBody>
      </p:sp>
      <p:sp>
        <p:nvSpPr>
          <p:cNvPr id="47" name="Shape 34"/>
          <p:cNvSpPr/>
          <p:nvPr/>
        </p:nvSpPr>
        <p:spPr>
          <a:xfrm>
            <a:off x="4389120" y="2743200"/>
            <a:ext cx="7498080" cy="1143000"/>
          </a:xfrm>
          <a:prstGeom prst="rect">
            <a:avLst/>
          </a:prstGeom>
          <a:solidFill>
            <a:srgbClr val="EFE8D2"/>
          </a:solidFill>
          <a:ln/>
        </p:spPr>
      </p:sp>
      <p:sp>
        <p:nvSpPr>
          <p:cNvPr id="48" name="Text 35"/>
          <p:cNvSpPr txBox="1"/>
          <p:nvPr/>
        </p:nvSpPr>
        <p:spPr>
          <a:xfrm>
            <a:off x="10881360" y="3081528"/>
            <a:ext cx="914400" cy="457200"/>
          </a:xfrm>
          <a:prstGeom prst="rect">
            <a:avLst/>
          </a:prstGeom>
          <a:noFill/>
          <a:ln/>
        </p:spPr>
        <p:txBody>
          <a:bodyPr wrap="square" lIns="0" tIns="0" rIns="0" bIns="0" rtlCol="0" anchor="ctr"/>
          <a:lstStyle/>
          <a:p>
            <a:pPr algn="ctr" indent="0" marL="0">
              <a:buNone/>
            </a:pPr>
            <a:r>
              <a:rPr lang="en-US" sz="1300" i="1" dirty="0">
                <a:solidFill>
                  <a:srgbClr val="7C6224"/>
                </a:solidFill>
                <a:latin typeface="Cambria" pitchFamily="34" charset="0"/>
                <a:ea typeface="Cambria" pitchFamily="34" charset="-122"/>
                <a:cs typeface="Cambria" pitchFamily="34" charset="-120"/>
              </a:rPr>
              <a:t>Knowledge</a:t>
            </a:r>
            <a:endParaRPr lang="en-US" sz="1300" dirty="0"/>
          </a:p>
          <a:p>
            <a:pPr algn="ctr" indent="0" marL="0">
              <a:buNone/>
            </a:pPr>
            <a:r>
              <a:rPr lang="en-US" sz="1300" i="1" dirty="0">
                <a:solidFill>
                  <a:srgbClr val="7C6224"/>
                </a:solidFill>
                <a:latin typeface="Cambria" pitchFamily="34" charset="0"/>
                <a:ea typeface="Cambria" pitchFamily="34" charset="-122"/>
                <a:cs typeface="Cambria" pitchFamily="34" charset="-120"/>
              </a:rPr>
              <a:t>Layer</a:t>
            </a:r>
            <a:endParaRPr lang="en-US" sz="1300" dirty="0"/>
          </a:p>
        </p:txBody>
      </p:sp>
      <p:sp>
        <p:nvSpPr>
          <p:cNvPr id="49" name="Shape 36"/>
          <p:cNvSpPr/>
          <p:nvPr/>
        </p:nvSpPr>
        <p:spPr>
          <a:xfrm>
            <a:off x="4389120" y="3886200"/>
            <a:ext cx="7498080" cy="2468880"/>
          </a:xfrm>
          <a:prstGeom prst="rect">
            <a:avLst/>
          </a:prstGeom>
          <a:solidFill>
            <a:srgbClr val="DCE7DF"/>
          </a:solidFill>
          <a:ln/>
        </p:spPr>
      </p:sp>
      <p:sp>
        <p:nvSpPr>
          <p:cNvPr id="50" name="Text 37"/>
          <p:cNvSpPr txBox="1"/>
          <p:nvPr/>
        </p:nvSpPr>
        <p:spPr>
          <a:xfrm>
            <a:off x="10881360" y="4617720"/>
            <a:ext cx="914400" cy="457200"/>
          </a:xfrm>
          <a:prstGeom prst="rect">
            <a:avLst/>
          </a:prstGeom>
          <a:noFill/>
          <a:ln/>
        </p:spPr>
        <p:txBody>
          <a:bodyPr wrap="square" lIns="0" tIns="0" rIns="0" bIns="0" rtlCol="0" anchor="ctr"/>
          <a:lstStyle/>
          <a:p>
            <a:pPr algn="ctr" indent="0" marL="0">
              <a:buNone/>
            </a:pPr>
            <a:r>
              <a:rPr lang="en-US" sz="1300" i="1" dirty="0">
                <a:solidFill>
                  <a:srgbClr val="3F6B52"/>
                </a:solidFill>
                <a:latin typeface="Cambria" pitchFamily="34" charset="0"/>
                <a:ea typeface="Cambria" pitchFamily="34" charset="-122"/>
                <a:cs typeface="Cambria" pitchFamily="34" charset="-120"/>
              </a:rPr>
              <a:t>Product</a:t>
            </a:r>
            <a:endParaRPr lang="en-US" sz="1300" dirty="0"/>
          </a:p>
          <a:p>
            <a:pPr algn="ctr" indent="0" marL="0">
              <a:buNone/>
            </a:pPr>
            <a:r>
              <a:rPr lang="en-US" sz="1300" i="1" dirty="0">
                <a:solidFill>
                  <a:srgbClr val="3F6B52"/>
                </a:solidFill>
                <a:latin typeface="Cambria" pitchFamily="34" charset="0"/>
                <a:ea typeface="Cambria" pitchFamily="34" charset="-122"/>
                <a:cs typeface="Cambria" pitchFamily="34" charset="-120"/>
              </a:rPr>
              <a:t>Layer</a:t>
            </a:r>
            <a:endParaRPr lang="en-US" sz="1300" dirty="0"/>
          </a:p>
        </p:txBody>
      </p:sp>
      <p:sp>
        <p:nvSpPr>
          <p:cNvPr id="51" name="Shape 38"/>
          <p:cNvSpPr/>
          <p:nvPr/>
        </p:nvSpPr>
        <p:spPr>
          <a:xfrm>
            <a:off x="8138160" y="1627632"/>
            <a:ext cx="0" cy="4727448"/>
          </a:xfrm>
          <a:prstGeom prst="line">
            <a:avLst/>
          </a:prstGeom>
          <a:noFill/>
          <a:ln w="15875">
            <a:solidFill>
              <a:srgbClr val="B85042"/>
            </a:solidFill>
            <a:prstDash val="dash"/>
          </a:ln>
        </p:spPr>
      </p:sp>
      <p:sp>
        <p:nvSpPr>
          <p:cNvPr id="52" name="Text 39"/>
          <p:cNvSpPr txBox="1"/>
          <p:nvPr/>
        </p:nvSpPr>
        <p:spPr>
          <a:xfrm>
            <a:off x="6236208" y="1024128"/>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3" name="Image 10" descr="preencoded.png">    </p:cNvPr>
          <p:cNvPicPr>
            <a:picLocks noChangeAspect="1"/>
          </p:cNvPicPr>
          <p:nvPr/>
        </p:nvPicPr>
        <p:blipFill>
          <a:blip r:embed="rId11"/>
          <a:stretch>
            <a:fillRect/>
          </a:stretch>
        </p:blipFill>
        <p:spPr>
          <a:xfrm>
            <a:off x="5989320" y="1069848"/>
            <a:ext cx="182880" cy="182880"/>
          </a:xfrm>
          <a:prstGeom prst="rect">
            <a:avLst/>
          </a:prstGeom>
        </p:spPr>
      </p:pic>
      <p:sp>
        <p:nvSpPr>
          <p:cNvPr id="54" name="Text 40"/>
          <p:cNvSpPr txBox="1"/>
          <p:nvPr/>
        </p:nvSpPr>
        <p:spPr>
          <a:xfrm>
            <a:off x="9518904" y="1024128"/>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5" name="Image 11" descr="preencoded.png">    </p:cNvPr>
          <p:cNvPicPr>
            <a:picLocks noChangeAspect="1"/>
          </p:cNvPicPr>
          <p:nvPr/>
        </p:nvPicPr>
        <p:blipFill>
          <a:blip r:embed="rId12"/>
          <a:stretch>
            <a:fillRect/>
          </a:stretch>
        </p:blipFill>
        <p:spPr>
          <a:xfrm>
            <a:off x="9272016" y="1069848"/>
            <a:ext cx="182880" cy="182880"/>
          </a:xfrm>
          <a:prstGeom prst="rect">
            <a:avLst/>
          </a:prstGeom>
        </p:spPr>
      </p:pic>
      <p:sp>
        <p:nvSpPr>
          <p:cNvPr id="56" name="Text 41"/>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Consistency border</a:t>
            </a:r>
            <a:endParaRPr lang="en-US" sz="1000" dirty="0"/>
          </a:p>
        </p:txBody>
      </p:sp>
      <p:sp>
        <p:nvSpPr>
          <p:cNvPr id="57" name="Shape 42"/>
          <p:cNvSpPr/>
          <p:nvPr/>
        </p:nvSpPr>
        <p:spPr>
          <a:xfrm>
            <a:off x="8138160" y="749808"/>
            <a:ext cx="0" cy="457200"/>
          </a:xfrm>
          <a:prstGeom prst="line">
            <a:avLst/>
          </a:prstGeom>
          <a:noFill/>
          <a:ln w="12700">
            <a:solidFill>
              <a:srgbClr val="2F3E46"/>
            </a:solidFill>
            <a:prstDash val="solid"/>
            <a:tailEnd type="triangle"/>
          </a:ln>
        </p:spPr>
      </p:sp>
      <p:sp>
        <p:nvSpPr>
          <p:cNvPr id="58" name="Shape 43"/>
          <p:cNvSpPr/>
          <p:nvPr/>
        </p:nvSpPr>
        <p:spPr>
          <a:xfrm flipV="1">
            <a:off x="7423404" y="1627632"/>
            <a:ext cx="469392" cy="402336"/>
          </a:xfrm>
          <a:prstGeom prst="line">
            <a:avLst/>
          </a:prstGeom>
          <a:noFill/>
          <a:ln w="12700">
            <a:solidFill>
              <a:srgbClr val="2F3E46"/>
            </a:solidFill>
            <a:prstDash val="solid"/>
            <a:tailEnd type="triangle"/>
          </a:ln>
        </p:spPr>
      </p:sp>
      <p:sp>
        <p:nvSpPr>
          <p:cNvPr id="59" name="Shape 44"/>
          <p:cNvSpPr/>
          <p:nvPr/>
        </p:nvSpPr>
        <p:spPr>
          <a:xfrm>
            <a:off x="8383524" y="1627632"/>
            <a:ext cx="469392" cy="402336"/>
          </a:xfrm>
          <a:prstGeom prst="line">
            <a:avLst/>
          </a:prstGeom>
          <a:noFill/>
          <a:ln w="12700">
            <a:solidFill>
              <a:srgbClr val="2F3E46"/>
            </a:solidFill>
            <a:prstDash val="solid"/>
            <a:tailEnd type="triangle"/>
          </a:ln>
        </p:spPr>
      </p:sp>
      <p:sp>
        <p:nvSpPr>
          <p:cNvPr id="60" name="Shape 45"/>
          <p:cNvSpPr/>
          <p:nvPr/>
        </p:nvSpPr>
        <p:spPr>
          <a:xfrm flipV="1">
            <a:off x="6480126" y="2450592"/>
            <a:ext cx="527148" cy="649224"/>
          </a:xfrm>
          <a:prstGeom prst="line">
            <a:avLst/>
          </a:prstGeom>
          <a:noFill/>
          <a:ln w="12700">
            <a:solidFill>
              <a:srgbClr val="2F3E46"/>
            </a:solidFill>
            <a:prstDash val="solid"/>
            <a:tailEnd type="triangle"/>
          </a:ln>
        </p:spPr>
      </p:sp>
      <p:sp>
        <p:nvSpPr>
          <p:cNvPr id="61" name="Shape 46"/>
          <p:cNvSpPr/>
          <p:nvPr/>
        </p:nvSpPr>
        <p:spPr>
          <a:xfrm>
            <a:off x="6949440" y="3310128"/>
            <a:ext cx="548640" cy="0"/>
          </a:xfrm>
          <a:prstGeom prst="line">
            <a:avLst/>
          </a:prstGeom>
          <a:noFill/>
          <a:ln w="12700">
            <a:solidFill>
              <a:srgbClr val="2F3E46"/>
            </a:solidFill>
            <a:prstDash val="solid"/>
            <a:headEnd type="triangle"/>
            <a:tailEnd type="triangle"/>
          </a:ln>
        </p:spPr>
      </p:sp>
      <p:sp>
        <p:nvSpPr>
          <p:cNvPr id="62" name="Shape 47"/>
          <p:cNvSpPr/>
          <p:nvPr/>
        </p:nvSpPr>
        <p:spPr>
          <a:xfrm>
            <a:off x="8778240" y="3310128"/>
            <a:ext cx="548640" cy="0"/>
          </a:xfrm>
          <a:prstGeom prst="line">
            <a:avLst/>
          </a:prstGeom>
          <a:noFill/>
          <a:ln w="12700">
            <a:solidFill>
              <a:srgbClr val="2F3E46"/>
            </a:solidFill>
            <a:prstDash val="solid"/>
            <a:headEnd type="triangle"/>
            <a:tailEnd type="triangle"/>
          </a:ln>
        </p:spPr>
      </p:sp>
      <p:sp>
        <p:nvSpPr>
          <p:cNvPr id="63" name="Shape 48"/>
          <p:cNvSpPr/>
          <p:nvPr/>
        </p:nvSpPr>
        <p:spPr>
          <a:xfrm>
            <a:off x="9269046" y="2450592"/>
            <a:ext cx="527148" cy="649224"/>
          </a:xfrm>
          <a:prstGeom prst="line">
            <a:avLst/>
          </a:prstGeom>
          <a:noFill/>
          <a:ln w="12700">
            <a:solidFill>
              <a:srgbClr val="2F3E46"/>
            </a:solidFill>
            <a:prstDash val="solid"/>
            <a:tailEnd type="triangle"/>
          </a:ln>
        </p:spPr>
      </p:sp>
      <p:sp>
        <p:nvSpPr>
          <p:cNvPr id="64" name="Shape 49"/>
          <p:cNvSpPr/>
          <p:nvPr/>
        </p:nvSpPr>
        <p:spPr>
          <a:xfrm>
            <a:off x="10055203" y="3520440"/>
            <a:ext cx="943814" cy="2249424"/>
          </a:xfrm>
          <a:prstGeom prst="line">
            <a:avLst/>
          </a:prstGeom>
          <a:noFill/>
          <a:ln w="12700">
            <a:solidFill>
              <a:srgbClr val="2F3E46"/>
            </a:solidFill>
            <a:prstDash val="solid"/>
            <a:tailEnd type="triangle"/>
          </a:ln>
        </p:spPr>
      </p:sp>
      <p:sp>
        <p:nvSpPr>
          <p:cNvPr id="65" name="Shape 50"/>
          <p:cNvSpPr/>
          <p:nvPr/>
        </p:nvSpPr>
        <p:spPr>
          <a:xfrm flipV="1">
            <a:off x="5277303" y="3520440"/>
            <a:ext cx="943814" cy="2249424"/>
          </a:xfrm>
          <a:prstGeom prst="line">
            <a:avLst/>
          </a:prstGeom>
          <a:noFill/>
          <a:ln w="12700">
            <a:solidFill>
              <a:srgbClr val="2F3E46"/>
            </a:solidFill>
            <a:prstDash val="solid"/>
            <a:tailEnd type="triangle"/>
          </a:ln>
        </p:spPr>
      </p:sp>
      <p:sp>
        <p:nvSpPr>
          <p:cNvPr id="66" name="Shape 51"/>
          <p:cNvSpPr/>
          <p:nvPr/>
        </p:nvSpPr>
        <p:spPr>
          <a:xfrm flipH="1">
            <a:off x="7863840" y="4315968"/>
            <a:ext cx="548640" cy="0"/>
          </a:xfrm>
          <a:prstGeom prst="line">
            <a:avLst/>
          </a:prstGeom>
          <a:noFill/>
          <a:ln w="12700">
            <a:solidFill>
              <a:srgbClr val="2F3E46"/>
            </a:solidFill>
            <a:prstDash val="solid"/>
            <a:tailEnd type="triangle"/>
          </a:ln>
        </p:spPr>
      </p:sp>
      <p:sp>
        <p:nvSpPr>
          <p:cNvPr id="67" name="Shape 52"/>
          <p:cNvSpPr/>
          <p:nvPr/>
        </p:nvSpPr>
        <p:spPr>
          <a:xfrm flipH="1">
            <a:off x="7863840" y="4718304"/>
            <a:ext cx="548640" cy="0"/>
          </a:xfrm>
          <a:prstGeom prst="line">
            <a:avLst/>
          </a:prstGeom>
          <a:noFill/>
          <a:ln w="12700">
            <a:solidFill>
              <a:srgbClr val="2F3E46"/>
            </a:solidFill>
            <a:prstDash val="solid"/>
            <a:tailEnd type="triangle"/>
          </a:ln>
        </p:spPr>
      </p:sp>
      <p:sp>
        <p:nvSpPr>
          <p:cNvPr id="68" name="Shape 53"/>
          <p:cNvSpPr/>
          <p:nvPr/>
        </p:nvSpPr>
        <p:spPr>
          <a:xfrm flipH="1">
            <a:off x="7863840" y="5120640"/>
            <a:ext cx="548640" cy="0"/>
          </a:xfrm>
          <a:prstGeom prst="line">
            <a:avLst/>
          </a:prstGeom>
          <a:noFill/>
          <a:ln w="12700">
            <a:solidFill>
              <a:srgbClr val="2F3E46"/>
            </a:solidFill>
            <a:prstDash val="solid"/>
            <a:tailEnd type="triangle"/>
          </a:ln>
        </p:spPr>
      </p:sp>
      <p:sp>
        <p:nvSpPr>
          <p:cNvPr id="69" name="Shape 54"/>
          <p:cNvSpPr/>
          <p:nvPr/>
        </p:nvSpPr>
        <p:spPr>
          <a:xfrm flipH="1">
            <a:off x="7863840" y="5522976"/>
            <a:ext cx="548640" cy="0"/>
          </a:xfrm>
          <a:prstGeom prst="line">
            <a:avLst/>
          </a:prstGeom>
          <a:noFill/>
          <a:ln w="12700">
            <a:solidFill>
              <a:srgbClr val="2F3E46"/>
            </a:solidFill>
            <a:prstDash val="solid"/>
            <a:tailEnd type="triangle"/>
          </a:ln>
        </p:spPr>
      </p:sp>
      <p:sp>
        <p:nvSpPr>
          <p:cNvPr id="70" name="Shape 55"/>
          <p:cNvSpPr/>
          <p:nvPr/>
        </p:nvSpPr>
        <p:spPr>
          <a:xfrm flipH="1">
            <a:off x="7863840" y="5925312"/>
            <a:ext cx="548640" cy="0"/>
          </a:xfrm>
          <a:prstGeom prst="line">
            <a:avLst/>
          </a:prstGeom>
          <a:noFill/>
          <a:ln w="12700">
            <a:solidFill>
              <a:srgbClr val="2F3E46"/>
            </a:solidFill>
            <a:prstDash val="solid"/>
            <a:tailEnd type="triangle"/>
          </a:ln>
        </p:spPr>
      </p:sp>
      <p:sp>
        <p:nvSpPr>
          <p:cNvPr id="71" name="Shape 56"/>
          <p:cNvSpPr/>
          <p:nvPr/>
        </p:nvSpPr>
        <p:spPr>
          <a:xfrm>
            <a:off x="9601200" y="4315968"/>
            <a:ext cx="868680" cy="1609344"/>
          </a:xfrm>
          <a:custGeom>
            <a:avLst/>
            <a:gdLst/>
            <a:ahLst/>
            <a:cxnLst/>
            <a:rect l="l" t="t" r="r" b="b"/>
            <a:pathLst>
              <a:path w="868680" h="1609344">
                <a:moveTo>
                  <a:pt x="868680" y="1609344"/>
                </a:moveTo>
                <a:cubicBezTo>
                  <a:pt x="390906" y="1609344"/>
                  <a:pt x="477774" y="0"/>
                  <a:pt x="0" y="0"/>
                </a:cubicBezTo>
              </a:path>
            </a:pathLst>
          </a:custGeom>
          <a:ln w="12700">
            <a:solidFill>
              <a:srgbClr val="2F3E46"/>
            </a:solidFill>
            <a:prstDash val="solid"/>
            <a:tailEnd type="triangle"/>
          </a:ln>
        </p:spPr>
      </p:sp>
      <p:sp>
        <p:nvSpPr>
          <p:cNvPr id="72" name="Shape 57"/>
          <p:cNvSpPr/>
          <p:nvPr/>
        </p:nvSpPr>
        <p:spPr>
          <a:xfrm>
            <a:off x="5806440" y="4315968"/>
            <a:ext cx="868680" cy="1609344"/>
          </a:xfrm>
          <a:custGeom>
            <a:avLst/>
            <a:gdLst/>
            <a:ahLst/>
            <a:cxnLst/>
            <a:rect l="l" t="t" r="r" b="b"/>
            <a:pathLst>
              <a:path w="868680" h="1609344">
                <a:moveTo>
                  <a:pt x="868680" y="0"/>
                </a:moveTo>
                <a:cubicBezTo>
                  <a:pt x="390906" y="0"/>
                  <a:pt x="477774" y="1609344"/>
                  <a:pt x="0" y="1609344"/>
                </a:cubicBezTo>
              </a:path>
            </a:pathLst>
          </a:custGeom>
          <a:ln w="12700">
            <a:solidFill>
              <a:srgbClr val="2F3E46"/>
            </a:solidFill>
            <a:prstDash val="solid"/>
            <a:tailEnd type="triangle"/>
          </a:ln>
        </p:spPr>
      </p:sp>
      <p:sp>
        <p:nvSpPr>
          <p:cNvPr id="73" name="Shape 58"/>
          <p:cNvSpPr/>
          <p:nvPr/>
        </p:nvSpPr>
        <p:spPr>
          <a:xfrm>
            <a:off x="9601200" y="4718304"/>
            <a:ext cx="868680" cy="1207008"/>
          </a:xfrm>
          <a:custGeom>
            <a:avLst/>
            <a:gdLst/>
            <a:ahLst/>
            <a:cxnLst/>
            <a:rect l="l" t="t" r="r" b="b"/>
            <a:pathLst>
              <a:path w="868680" h="1207008">
                <a:moveTo>
                  <a:pt x="868680" y="1207008"/>
                </a:moveTo>
                <a:cubicBezTo>
                  <a:pt x="390906" y="1207008"/>
                  <a:pt x="477774" y="0"/>
                  <a:pt x="0" y="0"/>
                </a:cubicBezTo>
              </a:path>
            </a:pathLst>
          </a:custGeom>
          <a:ln w="12700">
            <a:solidFill>
              <a:srgbClr val="2F3E46"/>
            </a:solidFill>
            <a:prstDash val="solid"/>
            <a:tailEnd type="triangle"/>
          </a:ln>
        </p:spPr>
      </p:sp>
      <p:sp>
        <p:nvSpPr>
          <p:cNvPr id="74" name="Shape 59"/>
          <p:cNvSpPr/>
          <p:nvPr/>
        </p:nvSpPr>
        <p:spPr>
          <a:xfrm>
            <a:off x="5806440" y="4718304"/>
            <a:ext cx="868680" cy="1207008"/>
          </a:xfrm>
          <a:custGeom>
            <a:avLst/>
            <a:gdLst/>
            <a:ahLst/>
            <a:cxnLst/>
            <a:rect l="l" t="t" r="r" b="b"/>
            <a:pathLst>
              <a:path w="868680" h="1207008">
                <a:moveTo>
                  <a:pt x="868680" y="0"/>
                </a:moveTo>
                <a:cubicBezTo>
                  <a:pt x="390906" y="0"/>
                  <a:pt x="477774" y="1207008"/>
                  <a:pt x="0" y="1207008"/>
                </a:cubicBezTo>
              </a:path>
            </a:pathLst>
          </a:custGeom>
          <a:ln w="12700">
            <a:solidFill>
              <a:srgbClr val="2F3E46"/>
            </a:solidFill>
            <a:prstDash val="solid"/>
            <a:tailEnd type="triangle"/>
          </a:ln>
        </p:spPr>
      </p:sp>
      <p:sp>
        <p:nvSpPr>
          <p:cNvPr id="75" name="Shape 60"/>
          <p:cNvSpPr/>
          <p:nvPr/>
        </p:nvSpPr>
        <p:spPr>
          <a:xfrm>
            <a:off x="9601200" y="5120640"/>
            <a:ext cx="868680" cy="804672"/>
          </a:xfrm>
          <a:custGeom>
            <a:avLst/>
            <a:gdLst/>
            <a:ahLst/>
            <a:cxnLst/>
            <a:rect l="l" t="t" r="r" b="b"/>
            <a:pathLst>
              <a:path w="868680" h="804672">
                <a:moveTo>
                  <a:pt x="868680" y="804672"/>
                </a:moveTo>
                <a:cubicBezTo>
                  <a:pt x="390906" y="804672"/>
                  <a:pt x="477774" y="0"/>
                  <a:pt x="0" y="0"/>
                </a:cubicBezTo>
              </a:path>
            </a:pathLst>
          </a:custGeom>
          <a:ln w="12700">
            <a:solidFill>
              <a:srgbClr val="2F3E46"/>
            </a:solidFill>
            <a:prstDash val="solid"/>
            <a:tailEnd type="triangle"/>
          </a:ln>
        </p:spPr>
      </p:sp>
      <p:sp>
        <p:nvSpPr>
          <p:cNvPr id="76" name="Shape 61"/>
          <p:cNvSpPr/>
          <p:nvPr/>
        </p:nvSpPr>
        <p:spPr>
          <a:xfrm>
            <a:off x="5806440" y="5120640"/>
            <a:ext cx="868680" cy="804672"/>
          </a:xfrm>
          <a:custGeom>
            <a:avLst/>
            <a:gdLst/>
            <a:ahLst/>
            <a:cxnLst/>
            <a:rect l="l" t="t" r="r" b="b"/>
            <a:pathLst>
              <a:path w="868680" h="804672">
                <a:moveTo>
                  <a:pt x="868680" y="0"/>
                </a:moveTo>
                <a:cubicBezTo>
                  <a:pt x="390906" y="0"/>
                  <a:pt x="477774" y="804672"/>
                  <a:pt x="0" y="804672"/>
                </a:cubicBezTo>
              </a:path>
            </a:pathLst>
          </a:custGeom>
          <a:ln w="12700">
            <a:solidFill>
              <a:srgbClr val="2F3E46"/>
            </a:solidFill>
            <a:prstDash val="solid"/>
            <a:tailEnd type="triangle"/>
          </a:ln>
        </p:spPr>
      </p:sp>
      <p:sp>
        <p:nvSpPr>
          <p:cNvPr id="77" name="Shape 62"/>
          <p:cNvSpPr/>
          <p:nvPr/>
        </p:nvSpPr>
        <p:spPr>
          <a:xfrm>
            <a:off x="9601200" y="5522976"/>
            <a:ext cx="868680" cy="402336"/>
          </a:xfrm>
          <a:custGeom>
            <a:avLst/>
            <a:gdLst/>
            <a:ahLst/>
            <a:cxnLst/>
            <a:rect l="l" t="t" r="r" b="b"/>
            <a:pathLst>
              <a:path w="868680" h="402336">
                <a:moveTo>
                  <a:pt x="868680" y="402336"/>
                </a:moveTo>
                <a:cubicBezTo>
                  <a:pt x="390906" y="402336"/>
                  <a:pt x="477774" y="0"/>
                  <a:pt x="0" y="0"/>
                </a:cubicBezTo>
              </a:path>
            </a:pathLst>
          </a:custGeom>
          <a:ln w="12700">
            <a:solidFill>
              <a:srgbClr val="2F3E46"/>
            </a:solidFill>
            <a:prstDash val="solid"/>
            <a:tailEnd type="triangle"/>
          </a:ln>
        </p:spPr>
      </p:sp>
      <p:sp>
        <p:nvSpPr>
          <p:cNvPr id="78" name="Shape 63"/>
          <p:cNvSpPr/>
          <p:nvPr/>
        </p:nvSpPr>
        <p:spPr>
          <a:xfrm>
            <a:off x="5806440" y="5522976"/>
            <a:ext cx="868680" cy="402336"/>
          </a:xfrm>
          <a:custGeom>
            <a:avLst/>
            <a:gdLst/>
            <a:ahLst/>
            <a:cxnLst/>
            <a:rect l="l" t="t" r="r" b="b"/>
            <a:pathLst>
              <a:path w="868680" h="402336">
                <a:moveTo>
                  <a:pt x="868680" y="0"/>
                </a:moveTo>
                <a:cubicBezTo>
                  <a:pt x="390906" y="0"/>
                  <a:pt x="477774" y="402336"/>
                  <a:pt x="0" y="402336"/>
                </a:cubicBezTo>
              </a:path>
            </a:pathLst>
          </a:custGeom>
          <a:ln w="12700">
            <a:solidFill>
              <a:srgbClr val="2F3E46"/>
            </a:solidFill>
            <a:prstDash val="solid"/>
            <a:tailEnd type="triangle"/>
          </a:ln>
        </p:spPr>
      </p:sp>
      <p:sp>
        <p:nvSpPr>
          <p:cNvPr id="79" name="Shape 64"/>
          <p:cNvSpPr/>
          <p:nvPr/>
        </p:nvSpPr>
        <p:spPr>
          <a:xfrm flipH="1">
            <a:off x="9601200" y="5925312"/>
            <a:ext cx="868680" cy="0"/>
          </a:xfrm>
          <a:prstGeom prst="line">
            <a:avLst/>
          </a:prstGeom>
          <a:noFill/>
          <a:ln w="12700">
            <a:solidFill>
              <a:srgbClr val="2F3E46"/>
            </a:solidFill>
            <a:prstDash val="solid"/>
            <a:tailEnd type="triangle"/>
          </a:ln>
        </p:spPr>
      </p:sp>
      <p:sp>
        <p:nvSpPr>
          <p:cNvPr id="80" name="Shape 65"/>
          <p:cNvSpPr/>
          <p:nvPr/>
        </p:nvSpPr>
        <p:spPr>
          <a:xfrm flipH="1">
            <a:off x="5806440" y="5925312"/>
            <a:ext cx="868680" cy="0"/>
          </a:xfrm>
          <a:prstGeom prst="line">
            <a:avLst/>
          </a:prstGeom>
          <a:noFill/>
          <a:ln w="12700">
            <a:solidFill>
              <a:srgbClr val="2F3E46"/>
            </a:solidFill>
            <a:prstDash val="solid"/>
            <a:tailEnd type="triangle"/>
          </a:ln>
        </p:spPr>
      </p:sp>
      <p:sp>
        <p:nvSpPr>
          <p:cNvPr id="81" name="Text 66"/>
          <p:cNvSpPr txBox="1"/>
          <p:nvPr/>
        </p:nvSpPr>
        <p:spPr>
          <a:xfrm>
            <a:off x="7498080" y="120700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2" name="Text 67"/>
          <p:cNvSpPr txBox="1"/>
          <p:nvPr/>
        </p:nvSpPr>
        <p:spPr>
          <a:xfrm>
            <a:off x="653796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Prioritizer</a:t>
            </a:r>
            <a:endParaRPr lang="en-US" sz="1050" dirty="0"/>
          </a:p>
        </p:txBody>
      </p:sp>
      <p:sp>
        <p:nvSpPr>
          <p:cNvPr id="83" name="Text 68"/>
          <p:cNvSpPr txBox="1"/>
          <p:nvPr/>
        </p:nvSpPr>
        <p:spPr>
          <a:xfrm>
            <a:off x="845820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Retention</a:t>
            </a:r>
            <a:endParaRPr lang="en-US" sz="1050" dirty="0"/>
          </a:p>
        </p:txBody>
      </p:sp>
      <p:sp>
        <p:nvSpPr>
          <p:cNvPr id="84" name="Text 69"/>
          <p:cNvSpPr txBox="1"/>
          <p:nvPr/>
        </p:nvSpPr>
        <p:spPr>
          <a:xfrm>
            <a:off x="56692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5" name="Text 70"/>
          <p:cNvSpPr txBox="1"/>
          <p:nvPr/>
        </p:nvSpPr>
        <p:spPr>
          <a:xfrm>
            <a:off x="74980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Consistency Gate</a:t>
            </a:r>
            <a:endParaRPr lang="en-US" sz="1050" dirty="0"/>
          </a:p>
        </p:txBody>
      </p:sp>
      <p:sp>
        <p:nvSpPr>
          <p:cNvPr id="86" name="Text 71"/>
          <p:cNvSpPr txBox="1"/>
          <p:nvPr/>
        </p:nvSpPr>
        <p:spPr>
          <a:xfrm>
            <a:off x="93268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7" name="Shape 72"/>
          <p:cNvSpPr/>
          <p:nvPr/>
        </p:nvSpPr>
        <p:spPr>
          <a:xfrm>
            <a:off x="6675120" y="4160520"/>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88" name="Image 12" descr="preencoded.png">    </p:cNvPr>
          <p:cNvPicPr>
            <a:picLocks noChangeAspect="1"/>
          </p:cNvPicPr>
          <p:nvPr/>
        </p:nvPicPr>
        <p:blipFill>
          <a:blip r:embed="rId13"/>
          <a:stretch>
            <a:fillRect/>
          </a:stretch>
        </p:blipFill>
        <p:spPr>
          <a:xfrm>
            <a:off x="7024939" y="4238244"/>
            <a:ext cx="155448" cy="155448"/>
          </a:xfrm>
          <a:prstGeom prst="rect">
            <a:avLst/>
          </a:prstGeom>
        </p:spPr>
      </p:pic>
      <p:sp>
        <p:nvSpPr>
          <p:cNvPr id="89" name="Text 73"/>
          <p:cNvSpPr txBox="1"/>
          <p:nvPr/>
        </p:nvSpPr>
        <p:spPr>
          <a:xfrm>
            <a:off x="7244395" y="4160520"/>
            <a:ext cx="406787"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Story</a:t>
            </a:r>
            <a:endParaRPr lang="en-US" sz="1000" dirty="0"/>
          </a:p>
        </p:txBody>
      </p:sp>
      <p:sp>
        <p:nvSpPr>
          <p:cNvPr id="90" name="Shape 74"/>
          <p:cNvSpPr/>
          <p:nvPr/>
        </p:nvSpPr>
        <p:spPr>
          <a:xfrm>
            <a:off x="6675120" y="4562856"/>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1" name="Image 13" descr="preencoded.png">    </p:cNvPr>
          <p:cNvPicPr>
            <a:picLocks noChangeAspect="1"/>
          </p:cNvPicPr>
          <p:nvPr/>
        </p:nvPicPr>
        <p:blipFill>
          <a:blip r:embed="rId14"/>
          <a:stretch>
            <a:fillRect/>
          </a:stretch>
        </p:blipFill>
        <p:spPr>
          <a:xfrm>
            <a:off x="7048596" y="4640580"/>
            <a:ext cx="155448" cy="155448"/>
          </a:xfrm>
          <a:prstGeom prst="rect">
            <a:avLst/>
          </a:prstGeom>
        </p:spPr>
      </p:pic>
      <p:sp>
        <p:nvSpPr>
          <p:cNvPr id="92" name="Text 75"/>
          <p:cNvSpPr txBox="1"/>
          <p:nvPr/>
        </p:nvSpPr>
        <p:spPr>
          <a:xfrm>
            <a:off x="7268052" y="4562856"/>
            <a:ext cx="359472"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Plan</a:t>
            </a:r>
            <a:endParaRPr lang="en-US" sz="1000" dirty="0"/>
          </a:p>
        </p:txBody>
      </p:sp>
      <p:sp>
        <p:nvSpPr>
          <p:cNvPr id="93" name="Shape 76"/>
          <p:cNvSpPr/>
          <p:nvPr/>
        </p:nvSpPr>
        <p:spPr>
          <a:xfrm>
            <a:off x="6675120" y="4965192"/>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4" name="Image 14" descr="preencoded.png">    </p:cNvPr>
          <p:cNvPicPr>
            <a:picLocks noChangeAspect="1"/>
          </p:cNvPicPr>
          <p:nvPr/>
        </p:nvPicPr>
        <p:blipFill>
          <a:blip r:embed="rId15"/>
          <a:stretch>
            <a:fillRect/>
          </a:stretch>
        </p:blipFill>
        <p:spPr>
          <a:xfrm>
            <a:off x="6967268" y="5042916"/>
            <a:ext cx="155448" cy="155448"/>
          </a:xfrm>
          <a:prstGeom prst="rect">
            <a:avLst/>
          </a:prstGeom>
        </p:spPr>
      </p:pic>
      <p:sp>
        <p:nvSpPr>
          <p:cNvPr id="95" name="Text 77"/>
          <p:cNvSpPr txBox="1"/>
          <p:nvPr/>
        </p:nvSpPr>
        <p:spPr>
          <a:xfrm>
            <a:off x="7186724" y="4965192"/>
            <a:ext cx="522129"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Change</a:t>
            </a:r>
            <a:endParaRPr lang="en-US" sz="1000" dirty="0"/>
          </a:p>
        </p:txBody>
      </p:sp>
      <p:sp>
        <p:nvSpPr>
          <p:cNvPr id="96" name="Shape 78"/>
          <p:cNvSpPr/>
          <p:nvPr/>
        </p:nvSpPr>
        <p:spPr>
          <a:xfrm>
            <a:off x="6675120" y="5367528"/>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7" name="Image 15" descr="preencoded.png">    </p:cNvPr>
          <p:cNvPicPr>
            <a:picLocks noChangeAspect="1"/>
          </p:cNvPicPr>
          <p:nvPr/>
        </p:nvPicPr>
        <p:blipFill>
          <a:blip r:embed="rId16"/>
          <a:stretch>
            <a:fillRect/>
          </a:stretch>
        </p:blipFill>
        <p:spPr>
          <a:xfrm>
            <a:off x="7061960" y="5445252"/>
            <a:ext cx="155448" cy="155448"/>
          </a:xfrm>
          <a:prstGeom prst="rect">
            <a:avLst/>
          </a:prstGeom>
        </p:spPr>
      </p:pic>
      <p:sp>
        <p:nvSpPr>
          <p:cNvPr id="98" name="Text 79"/>
          <p:cNvSpPr txBox="1"/>
          <p:nvPr/>
        </p:nvSpPr>
        <p:spPr>
          <a:xfrm>
            <a:off x="7281416" y="5367528"/>
            <a:ext cx="332745"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Bug</a:t>
            </a:r>
            <a:endParaRPr lang="en-US" sz="1000" dirty="0"/>
          </a:p>
        </p:txBody>
      </p:sp>
      <p:sp>
        <p:nvSpPr>
          <p:cNvPr id="99" name="Shape 80"/>
          <p:cNvSpPr/>
          <p:nvPr/>
        </p:nvSpPr>
        <p:spPr>
          <a:xfrm>
            <a:off x="6675120" y="5769864"/>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100" name="Image 16" descr="preencoded.png">    </p:cNvPr>
          <p:cNvPicPr>
            <a:picLocks noChangeAspect="1"/>
          </p:cNvPicPr>
          <p:nvPr/>
        </p:nvPicPr>
        <p:blipFill>
          <a:blip r:embed="rId17"/>
          <a:stretch>
            <a:fillRect/>
          </a:stretch>
        </p:blipFill>
        <p:spPr>
          <a:xfrm>
            <a:off x="6940137" y="5847588"/>
            <a:ext cx="155448" cy="155448"/>
          </a:xfrm>
          <a:prstGeom prst="rect">
            <a:avLst/>
          </a:prstGeom>
        </p:spPr>
      </p:pic>
      <p:sp>
        <p:nvSpPr>
          <p:cNvPr id="101" name="Text 81"/>
          <p:cNvSpPr txBox="1"/>
          <p:nvPr/>
        </p:nvSpPr>
        <p:spPr>
          <a:xfrm>
            <a:off x="7159593" y="5769864"/>
            <a:ext cx="576389"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Refactor</a:t>
            </a:r>
            <a:endParaRPr lang="en-US" sz="1000" dirty="0"/>
          </a:p>
        </p:txBody>
      </p:sp>
      <p:sp>
        <p:nvSpPr>
          <p:cNvPr id="102" name="Text 82"/>
          <p:cNvSpPr txBox="1"/>
          <p:nvPr/>
        </p:nvSpPr>
        <p:spPr>
          <a:xfrm>
            <a:off x="8412480" y="4160520"/>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Exploration</a:t>
            </a:r>
            <a:endParaRPr lang="en-US" sz="1000" dirty="0"/>
          </a:p>
        </p:txBody>
      </p:sp>
      <p:sp>
        <p:nvSpPr>
          <p:cNvPr id="103" name="Text 83"/>
          <p:cNvSpPr txBox="1"/>
          <p:nvPr/>
        </p:nvSpPr>
        <p:spPr>
          <a:xfrm>
            <a:off x="8412480" y="4562856"/>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4" name="Text 84"/>
          <p:cNvSpPr txBox="1"/>
          <p:nvPr/>
        </p:nvSpPr>
        <p:spPr>
          <a:xfrm>
            <a:off x="8412480" y="4965192"/>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5" name="Text 85"/>
          <p:cNvSpPr txBox="1"/>
          <p:nvPr/>
        </p:nvSpPr>
        <p:spPr>
          <a:xfrm>
            <a:off x="8412480" y="5367528"/>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Testing</a:t>
            </a:r>
            <a:endParaRPr lang="en-US" sz="1000" dirty="0"/>
          </a:p>
        </p:txBody>
      </p:sp>
      <p:sp>
        <p:nvSpPr>
          <p:cNvPr id="106" name="Text 86"/>
          <p:cNvSpPr txBox="1"/>
          <p:nvPr/>
        </p:nvSpPr>
        <p:spPr>
          <a:xfrm>
            <a:off x="84124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Review</a:t>
            </a:r>
            <a:endParaRPr lang="en-US" sz="1000" dirty="0"/>
          </a:p>
        </p:txBody>
      </p:sp>
      <p:sp>
        <p:nvSpPr>
          <p:cNvPr id="107" name="Text 87"/>
          <p:cNvSpPr txBox="1"/>
          <p:nvPr/>
        </p:nvSpPr>
        <p:spPr>
          <a:xfrm>
            <a:off x="461772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Summarizer</a:t>
            </a:r>
            <a:endParaRPr lang="en-US" sz="1000" dirty="0"/>
          </a:p>
        </p:txBody>
      </p:sp>
      <p:sp>
        <p:nvSpPr>
          <p:cNvPr id="108" name="Text 88"/>
          <p:cNvSpPr txBox="1"/>
          <p:nvPr/>
        </p:nvSpPr>
        <p:spPr>
          <a:xfrm>
            <a:off x="104698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Triggers</a:t>
            </a:r>
            <a:endParaRPr lang="en-US" sz="1000" dirty="0"/>
          </a:p>
        </p:txBody>
      </p:sp>
      <p:sp>
        <p:nvSpPr>
          <p:cNvPr id="109" name="Shape 89"/>
          <p:cNvSpPr/>
          <p:nvPr/>
        </p:nvSpPr>
        <p:spPr>
          <a:xfrm>
            <a:off x="7255764" y="6144768"/>
            <a:ext cx="27432" cy="27432"/>
          </a:xfrm>
          <a:prstGeom prst="ellipse">
            <a:avLst/>
          </a:prstGeom>
          <a:solidFill>
            <a:srgbClr val="2F3E46"/>
          </a:solidFill>
          <a:ln/>
        </p:spPr>
      </p:sp>
      <p:sp>
        <p:nvSpPr>
          <p:cNvPr id="110" name="Shape 90"/>
          <p:cNvSpPr/>
          <p:nvPr/>
        </p:nvSpPr>
        <p:spPr>
          <a:xfrm>
            <a:off x="7255764" y="6190488"/>
            <a:ext cx="27432" cy="27432"/>
          </a:xfrm>
          <a:prstGeom prst="ellipse">
            <a:avLst/>
          </a:prstGeom>
          <a:solidFill>
            <a:srgbClr val="2F3E46"/>
          </a:solidFill>
          <a:ln/>
        </p:spPr>
      </p:sp>
      <p:sp>
        <p:nvSpPr>
          <p:cNvPr id="111" name="Shape 91"/>
          <p:cNvSpPr/>
          <p:nvPr/>
        </p:nvSpPr>
        <p:spPr>
          <a:xfrm>
            <a:off x="7255764" y="6236208"/>
            <a:ext cx="27432" cy="27432"/>
          </a:xfrm>
          <a:prstGeom prst="ellipse">
            <a:avLst/>
          </a:prstGeom>
          <a:solidFill>
            <a:srgbClr val="2F3E46"/>
          </a:solidFill>
          <a:ln/>
        </p:spPr>
      </p:sp>
      <p:sp>
        <p:nvSpPr>
          <p:cNvPr id="112" name="Shape 92"/>
          <p:cNvSpPr/>
          <p:nvPr/>
        </p:nvSpPr>
        <p:spPr>
          <a:xfrm>
            <a:off x="8993124" y="6144768"/>
            <a:ext cx="27432" cy="27432"/>
          </a:xfrm>
          <a:prstGeom prst="ellipse">
            <a:avLst/>
          </a:prstGeom>
          <a:solidFill>
            <a:srgbClr val="2F3E46"/>
          </a:solidFill>
          <a:ln/>
        </p:spPr>
      </p:sp>
      <p:sp>
        <p:nvSpPr>
          <p:cNvPr id="113" name="Shape 93"/>
          <p:cNvSpPr/>
          <p:nvPr/>
        </p:nvSpPr>
        <p:spPr>
          <a:xfrm>
            <a:off x="8993124" y="6190488"/>
            <a:ext cx="27432" cy="27432"/>
          </a:xfrm>
          <a:prstGeom prst="ellipse">
            <a:avLst/>
          </a:prstGeom>
          <a:solidFill>
            <a:srgbClr val="2F3E46"/>
          </a:solidFill>
          <a:ln/>
        </p:spPr>
      </p:sp>
      <p:sp>
        <p:nvSpPr>
          <p:cNvPr id="114" name="Shape 94"/>
          <p:cNvSpPr/>
          <p:nvPr/>
        </p:nvSpPr>
        <p:spPr>
          <a:xfrm>
            <a:off x="8993124" y="6236208"/>
            <a:ext cx="27432" cy="27432"/>
          </a:xfrm>
          <a:prstGeom prst="ellipse">
            <a:avLst/>
          </a:prstGeom>
          <a:solidFill>
            <a:srgbClr val="2F3E46"/>
          </a:solidFill>
          <a:ln/>
        </p:spPr>
      </p:sp>
      <p:sp>
        <p:nvSpPr>
          <p:cNvPr id="115" name="Shape 95"/>
          <p:cNvSpPr/>
          <p:nvPr/>
        </p:nvSpPr>
        <p:spPr>
          <a:xfrm>
            <a:off x="8028432" y="73152"/>
            <a:ext cx="219456" cy="219456"/>
          </a:xfrm>
          <a:prstGeom prst="ellipse">
            <a:avLst/>
          </a:prstGeom>
          <a:solidFill>
            <a:srgbClr val="2F3E46"/>
          </a:solidFill>
          <a:ln/>
        </p:spPr>
      </p:sp>
      <p:sp>
        <p:nvSpPr>
          <p:cNvPr id="116" name="Text 96"/>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PLAN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card limits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CHANGE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STORY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Rank by the Importance Rank instead: dependencies, stability, performance, priority and velocity.</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gate</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2026-10-02T08:50:10Z</dcterms:created>
  <dcterms:modified xsi:type="dcterms:W3CDTF">2026-10-02T08:50:10Z</dcterms:modified>
</cp:coreProperties>
</file>