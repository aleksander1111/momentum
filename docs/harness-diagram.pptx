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 —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its own checkout of the main line; summarization turns its artifacts into cards; the consistency guard validates the transaction and lands it as one commit; the index follows the main line and the feed ranks what is unverified; the user approves, sends back or chats. A card the user commits needs no run and no guard: it lands as committed, with the verification its frontmatter says, unverified by default, and the consistency check reads it like any other. Runs the user starts go at once, alongside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conflicts, chats, plans, research, patterns and reports of what runs removed. Wherever the app names an entity, in a card, a chat, an answer or a list, it shows this glyph and colour and opens it on a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Twelve automations around the knowledge graph, each with its trigger: schedule, event, the user, the Stop hook or enabling the project. Interview and search start only when the user asks; search answers in one turn and is not a run. Automation runs go one at a time per project; runs the user starts go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Nine automations have a trigger entity in each workspace, holding its schedule, its events and whether it starts on demand; the optimization trigger exists in the harness workspace only, and a trigger is in effect as it lands, before the user reviews it. Exploration every two hours, preparation every two hours at half past, validation at 02:00 and after every implementation, consistency check at 03:00, retention at 04:00, optimization at 05:00. An approved entity with nothing implementing it starts implementation; a finished implementation starts validation. Chat and interview start only when the user asks. Summarization runs in the Stop hook of every run, graph build while the project is enabled, and search answers in one turn without a run, so none of the three has a trigger entity. Scheduled loops and the graph build pause while the feed is at its limit; events still start their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An edit the user commits lands on the main line as committed. A definition change optimization proposes passes the consistency guard and lands unverified: it is in effect as it lands, materialized into every project from the harness main line, and waits in the feed for the user's review; a trigger change is in effect as it lands in the same way. Optimization reads every chat and proposes a skill, memory, sub-agent or definition change only for a pattern seen at least three times, as a Harness/Pattern with its evidence; nothing is learnt from one chat. Runs start on demand through the voice tools, for automations whose trigger allows it, and stop from the chat; models and concurrency are settings, and the Settings tab leads to the rest in the knowledge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tools. What a run's agent can call. Claude Code's built-in tools work in the run's own checkout with the project's settings. momentum-kb is an in-process MCP server over the knowledge base: search (full text, semantic, expanded along references), read, references, types, write (validated as it writes) and record_agent_metric. momentum-run carries what the run reports to the harness: the graph build's progress and documents, and an interview's next question. The summarization sub-agent takes the run's artifacts over through the Agent tool at Stop, and the harness checks it ran before trusting it. Hooks wrap the tools: after every write the consistency guard returns its issues at once; at Stop the run summarizes, fixes what the guard cannot accept and writes its commit message. The momentum MCP server over HTTP is not for runs: it gives the user's voice tools the API's handlers, ask included, without the UI; only reading a repository file, changing a logo and signing out have no tool. A question typed in the explorer search is not a run: the search finds the entities, and the search automation answers from them in one turn without tools, linking each it drew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completeness. How complete a project's knowledge graph is, measured by the harness on the main line and never estimated by a run: the mean of two halves. Understanding is the questions every product's graph must answer, eight slots, each filled by an entity of one of its types: what the product is, what it is for, what it does, how it is built, where the code is, where it runs, how it is tested, and what rules and decisions shape it. Territory is every area of the repository accounted for: a top-level directory, or each child of one that holds only directories, with the files at the root as one more. An area counts by its parts, its direct subdirectories and its own files, and weighs the logarithm of its file count. An entity accounts for a part by listing it, anything in it, or a directory above it as an artifact, so one card listing examples claims the whole of it. Cards of implementation-detail types, a file, a class, a function, claim nothing: the graph exists to spare the reader those. Each graph build run is told what is missing; it reports complete only once nothing missing can be filled from the repository. The Settings tab shows the score, the questions answered, the share of the repository accounted for and what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guard. Every write is checked while the run works. When it ends, the transaction passes the guard: type, references, the links on each card, and diagrams in PlantUML, never mermaid. Everything lands as one commit; what fails carries an issue entity; in the harness repository a file outside the automation's scope is put back and named in it.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 links missing from the references,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resolution. Every issue the consistency check raises offers two to four options to resolve it, each a label and one sentence of what it changes, with the obviously best one recommended when there is one. The feed card shows them with the recommended option picked; a tap picks another. Swipe right resolves with the picked option, swipe left with the user's own resolution: either starts a chat run that applies it to the concerned entities and retires the issue, and the changed entities come back to the feed unverified. Won't resolve keeps the issue, verified, with the reason: the check does not raise it again and it no longer counts as 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A run lands as one commit: fast-forwarded when the main line has not moved, replayed onto the new tip otherwise, with a conflict entity over what changed meanwhile. Approval is one more commit. Automation runs queue one at a time; the user's chats run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an automation on demand through the voice tools where its trigger allows,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feed size, the items before loops pause; cards, the character limit and presentation rules; paths never summarized; lifetimes per entity type; concurrent runs in total; models, one for all, per automation or by implementation risk; and links into the knowledge graph, where the automations, entity types, risk rules, triggers and patterns are kept.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slideLayout" Target="../slideLayouts/slideLayout1.xml"/><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 &amp; Products</a:t>
            </a:r>
            <a:endParaRPr lang="en-US" sz="2000" dirty="0"/>
          </a:p>
        </p:txBody>
      </p:sp>
      <p:sp>
        <p:nvSpPr>
          <p:cNvPr id="4" name="Text 1"/>
          <p:cNvSpPr txBox="1"/>
          <p:nvPr/>
        </p:nvSpPr>
        <p:spPr>
          <a:xfrm>
            <a:off x="32004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Harness</a:t>
            </a:r>
            <a:endParaRPr lang="en-US" sz="1500" dirty="0"/>
          </a:p>
        </p:txBody>
      </p:sp>
      <p:sp>
        <p:nvSpPr>
          <p:cNvPr id="5" name="Text 2"/>
          <p:cNvSpPr txBox="1"/>
          <p:nvPr/>
        </p:nvSpPr>
        <p:spPr>
          <a:xfrm>
            <a:off x="438912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Products</a:t>
            </a:r>
            <a:endParaRPr lang="en-US" sz="1500" dirty="0"/>
          </a:p>
        </p:txBody>
      </p:sp>
      <p:sp>
        <p:nvSpPr>
          <p:cNvPr id="6" name="Shape 3"/>
          <p:cNvSpPr/>
          <p:nvPr/>
        </p:nvSpPr>
        <p:spPr>
          <a:xfrm>
            <a:off x="320040" y="1325880"/>
            <a:ext cx="1874520" cy="932688"/>
          </a:xfrm>
          <a:prstGeom prst="roundRect">
            <a:avLst>
              <a:gd name="adj" fmla="val 14706"/>
            </a:avLst>
          </a:prstGeom>
          <a:solidFill>
            <a:srgbClr val="EEF1EC"/>
          </a:solidFill>
          <a:ln/>
        </p:spPr>
      </p:sp>
      <p:sp>
        <p:nvSpPr>
          <p:cNvPr id="7" name="Text 4"/>
          <p:cNvSpPr txBox="1"/>
          <p:nvPr/>
        </p:nvSpPr>
        <p:spPr>
          <a:xfrm>
            <a:off x="32004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Feed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Ranked cards of all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right to approve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left to send back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resolved by option</a:t>
            </a:r>
            <a:endParaRPr lang="en-US" sz="1000" dirty="0"/>
          </a:p>
        </p:txBody>
      </p:sp>
      <p:sp>
        <p:nvSpPr>
          <p:cNvPr id="8" name="Shape 5"/>
          <p:cNvSpPr/>
          <p:nvPr/>
        </p:nvSpPr>
        <p:spPr>
          <a:xfrm>
            <a:off x="1847088" y="1399032"/>
            <a:ext cx="274320" cy="27432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915668" y="1467612"/>
            <a:ext cx="137160" cy="137160"/>
          </a:xfrm>
          <a:prstGeom prst="rect">
            <a:avLst/>
          </a:prstGeom>
        </p:spPr>
      </p:pic>
      <p:sp>
        <p:nvSpPr>
          <p:cNvPr id="10" name="Shape 6"/>
          <p:cNvSpPr/>
          <p:nvPr/>
        </p:nvSpPr>
        <p:spPr>
          <a:xfrm>
            <a:off x="2331720" y="1325880"/>
            <a:ext cx="1874520" cy="932688"/>
          </a:xfrm>
          <a:prstGeom prst="roundRect">
            <a:avLst>
              <a:gd name="adj" fmla="val 14706"/>
            </a:avLst>
          </a:prstGeom>
          <a:solidFill>
            <a:srgbClr val="EEF1EC"/>
          </a:solidFill>
          <a:ln/>
        </p:spPr>
      </p:sp>
      <p:sp>
        <p:nvSpPr>
          <p:cNvPr id="11" name="Text 7"/>
          <p:cNvSpPr txBox="1"/>
          <p:nvPr/>
        </p:nvSpPr>
        <p:spPr>
          <a:xfrm>
            <a:off x="233172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Domain and type tree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Search by words, meaning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Answers from the graph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Linked entities</a:t>
            </a:r>
            <a:endParaRPr lang="en-US" sz="1000" dirty="0"/>
          </a:p>
        </p:txBody>
      </p:sp>
      <p:sp>
        <p:nvSpPr>
          <p:cNvPr id="12" name="Shape 8"/>
          <p:cNvSpPr/>
          <p:nvPr/>
        </p:nvSpPr>
        <p:spPr>
          <a:xfrm>
            <a:off x="3858768" y="1399032"/>
            <a:ext cx="274320" cy="27432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927348" y="1467612"/>
            <a:ext cx="137160" cy="137160"/>
          </a:xfrm>
          <a:prstGeom prst="rect">
            <a:avLst/>
          </a:prstGeom>
        </p:spPr>
      </p:pic>
      <p:sp>
        <p:nvSpPr>
          <p:cNvPr id="14" name="Shape 9"/>
          <p:cNvSpPr/>
          <p:nvPr/>
        </p:nvSpPr>
        <p:spPr>
          <a:xfrm>
            <a:off x="320040" y="2350008"/>
            <a:ext cx="1874520" cy="932688"/>
          </a:xfrm>
          <a:prstGeom prst="roundRect">
            <a:avLst>
              <a:gd name="adj" fmla="val 14706"/>
            </a:avLst>
          </a:prstGeom>
          <a:solidFill>
            <a:srgbClr val="EEF1EC"/>
          </a:solidFill>
          <a:ln/>
        </p:spPr>
      </p:sp>
      <p:sp>
        <p:nvSpPr>
          <p:cNvPr id="15" name="Text 10"/>
          <p:cNvSpPr txBox="1"/>
          <p:nvPr/>
        </p:nvSpPr>
        <p:spPr>
          <a:xfrm>
            <a:off x="32004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Chats and interviews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 parts as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Spoken by the mic</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at any time</a:t>
            </a:r>
            <a:endParaRPr lang="en-US" sz="1000" dirty="0"/>
          </a:p>
        </p:txBody>
      </p:sp>
      <p:sp>
        <p:nvSpPr>
          <p:cNvPr id="16" name="Shape 11"/>
          <p:cNvSpPr/>
          <p:nvPr/>
        </p:nvSpPr>
        <p:spPr>
          <a:xfrm>
            <a:off x="1847088" y="2423160"/>
            <a:ext cx="274320" cy="27432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1915668" y="2491740"/>
            <a:ext cx="137160" cy="137160"/>
          </a:xfrm>
          <a:prstGeom prst="rect">
            <a:avLst/>
          </a:prstGeom>
        </p:spPr>
      </p:pic>
      <p:sp>
        <p:nvSpPr>
          <p:cNvPr id="18" name="Shape 12"/>
          <p:cNvSpPr/>
          <p:nvPr/>
        </p:nvSpPr>
        <p:spPr>
          <a:xfrm>
            <a:off x="2331720" y="2350008"/>
            <a:ext cx="1874520" cy="932688"/>
          </a:xfrm>
          <a:prstGeom prst="roundRect">
            <a:avLst>
              <a:gd name="adj" fmla="val 14706"/>
            </a:avLst>
          </a:prstGeom>
          <a:solidFill>
            <a:srgbClr val="EEF1EC"/>
          </a:solidFill>
          <a:ln/>
        </p:spPr>
      </p:sp>
      <p:sp>
        <p:nvSpPr>
          <p:cNvPr id="19" name="Text 13"/>
          <p:cNvSpPr txBox="1"/>
          <p:nvPr/>
        </p:nvSpPr>
        <p:spPr>
          <a:xfrm>
            <a:off x="233172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Timeline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you did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event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runs removed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the harness did</a:t>
            </a:r>
            <a:endParaRPr lang="en-US" sz="1000" dirty="0"/>
          </a:p>
        </p:txBody>
      </p:sp>
      <p:sp>
        <p:nvSpPr>
          <p:cNvPr id="20" name="Shape 14"/>
          <p:cNvSpPr/>
          <p:nvPr/>
        </p:nvSpPr>
        <p:spPr>
          <a:xfrm>
            <a:off x="3858768" y="2423160"/>
            <a:ext cx="274320" cy="27432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3927348" y="2491740"/>
            <a:ext cx="137160" cy="137160"/>
          </a:xfrm>
          <a:prstGeom prst="rect">
            <a:avLst/>
          </a:prstGeom>
        </p:spPr>
      </p:pic>
      <p:sp>
        <p:nvSpPr>
          <p:cNvPr id="22" name="Shape 15"/>
          <p:cNvSpPr/>
          <p:nvPr/>
        </p:nvSpPr>
        <p:spPr>
          <a:xfrm>
            <a:off x="320040" y="3374136"/>
            <a:ext cx="1874520" cy="932688"/>
          </a:xfrm>
          <a:prstGeom prst="roundRect">
            <a:avLst>
              <a:gd name="adj" fmla="val 14706"/>
            </a:avLst>
          </a:prstGeom>
          <a:solidFill>
            <a:srgbClr val="EEF1EC"/>
          </a:solidFill>
          <a:ln/>
        </p:spPr>
      </p:sp>
      <p:sp>
        <p:nvSpPr>
          <p:cNvPr id="23" name="Text 16"/>
          <p:cNvSpPr txBox="1"/>
          <p:nvPr/>
        </p:nvSpPr>
        <p:spPr>
          <a:xfrm>
            <a:off x="32004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Share of the usage limits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Entities by state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Runs per automation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24 h, 7 d or 30 d</a:t>
            </a:r>
            <a:endParaRPr lang="en-US" sz="1000" dirty="0"/>
          </a:p>
        </p:txBody>
      </p:sp>
      <p:sp>
        <p:nvSpPr>
          <p:cNvPr id="24" name="Shape 17"/>
          <p:cNvSpPr/>
          <p:nvPr/>
        </p:nvSpPr>
        <p:spPr>
          <a:xfrm>
            <a:off x="1847088" y="3447288"/>
            <a:ext cx="274320" cy="274320"/>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1915668" y="3515868"/>
            <a:ext cx="137160" cy="137160"/>
          </a:xfrm>
          <a:prstGeom prst="rect">
            <a:avLst/>
          </a:prstGeom>
        </p:spPr>
      </p:pic>
      <p:sp>
        <p:nvSpPr>
          <p:cNvPr id="26" name="Shape 18"/>
          <p:cNvSpPr/>
          <p:nvPr/>
        </p:nvSpPr>
        <p:spPr>
          <a:xfrm>
            <a:off x="2331720" y="3374136"/>
            <a:ext cx="1874520" cy="932688"/>
          </a:xfrm>
          <a:prstGeom prst="roundRect">
            <a:avLst>
              <a:gd name="adj" fmla="val 14706"/>
            </a:avLst>
          </a:prstGeom>
          <a:solidFill>
            <a:srgbClr val="EEF1EC"/>
          </a:solidFill>
          <a:ln/>
        </p:spPr>
      </p:sp>
      <p:sp>
        <p:nvSpPr>
          <p:cNvPr id="27" name="Text 19"/>
          <p:cNvSpPr txBox="1"/>
          <p:nvPr/>
        </p:nvSpPr>
        <p:spPr>
          <a:xfrm>
            <a:off x="233172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Projects and graph build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 and 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Concurrent runs</a:t>
            </a:r>
            <a:endParaRPr lang="en-US" sz="1000" dirty="0"/>
          </a:p>
        </p:txBody>
      </p:sp>
      <p:sp>
        <p:nvSpPr>
          <p:cNvPr id="28" name="Shape 20"/>
          <p:cNvSpPr/>
          <p:nvPr/>
        </p:nvSpPr>
        <p:spPr>
          <a:xfrm>
            <a:off x="3858768" y="3447288"/>
            <a:ext cx="274320" cy="274320"/>
          </a:xfrm>
          <a:prstGeom prst="ellipse">
            <a:avLst/>
          </a:prstGeom>
          <a:solidFill>
            <a:srgbClr val="FFFFFF"/>
          </a:solidFill>
          <a:ln/>
        </p:spPr>
      </p:sp>
      <p:pic>
        <p:nvPicPr>
          <p:cNvPr id="29" name="Image 5" descr="preencoded.png">    </p:cNvPr>
          <p:cNvPicPr>
            <a:picLocks noChangeAspect="1"/>
          </p:cNvPicPr>
          <p:nvPr/>
        </p:nvPicPr>
        <p:blipFill>
          <a:blip r:embed="rId6"/>
          <a:stretch>
            <a:fillRect/>
          </a:stretch>
        </p:blipFill>
        <p:spPr>
          <a:xfrm>
            <a:off x="3927348" y="3515868"/>
            <a:ext cx="137160" cy="137160"/>
          </a:xfrm>
          <a:prstGeom prst="rect">
            <a:avLst/>
          </a:prstGeom>
        </p:spPr>
      </p:pic>
      <p:sp>
        <p:nvSpPr>
          <p:cNvPr id="30" name="Shape 21"/>
          <p:cNvSpPr/>
          <p:nvPr/>
        </p:nvSpPr>
        <p:spPr>
          <a:xfrm>
            <a:off x="320040" y="4398264"/>
            <a:ext cx="1874520" cy="932688"/>
          </a:xfrm>
          <a:prstGeom prst="roundRect">
            <a:avLst>
              <a:gd name="adj" fmla="val 14706"/>
            </a:avLst>
          </a:prstGeom>
          <a:solidFill>
            <a:srgbClr val="EEF1EC"/>
          </a:solidFill>
          <a:ln/>
        </p:spPr>
      </p:sp>
      <p:sp>
        <p:nvSpPr>
          <p:cNvPr id="31" name="Text 22"/>
          <p:cNvSpPr txBox="1"/>
          <p:nvPr/>
        </p:nvSpPr>
        <p:spPr>
          <a:xfrm>
            <a:off x="32004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Typed routes, OpenAPI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on every route but sign-in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Voice sockets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MCP tools</a:t>
            </a:r>
            <a:endParaRPr lang="en-US" sz="1000" dirty="0"/>
          </a:p>
        </p:txBody>
      </p:sp>
      <p:sp>
        <p:nvSpPr>
          <p:cNvPr id="32" name="Shape 23"/>
          <p:cNvSpPr/>
          <p:nvPr/>
        </p:nvSpPr>
        <p:spPr>
          <a:xfrm>
            <a:off x="1847088" y="4471416"/>
            <a:ext cx="274320" cy="274320"/>
          </a:xfrm>
          <a:prstGeom prst="ellipse">
            <a:avLst/>
          </a:prstGeom>
          <a:solidFill>
            <a:srgbClr val="FFFFFF"/>
          </a:solidFill>
          <a:ln/>
        </p:spPr>
      </p:sp>
      <p:pic>
        <p:nvPicPr>
          <p:cNvPr id="33" name="Image 6" descr="preencoded.png">    </p:cNvPr>
          <p:cNvPicPr>
            <a:picLocks noChangeAspect="1"/>
          </p:cNvPicPr>
          <p:nvPr/>
        </p:nvPicPr>
        <p:blipFill>
          <a:blip r:embed="rId7"/>
          <a:stretch>
            <a:fillRect/>
          </a:stretch>
        </p:blipFill>
        <p:spPr>
          <a:xfrm>
            <a:off x="1915668" y="4539996"/>
            <a:ext cx="137160" cy="137160"/>
          </a:xfrm>
          <a:prstGeom prst="rect">
            <a:avLst/>
          </a:prstGeom>
        </p:spPr>
      </p:pic>
      <p:sp>
        <p:nvSpPr>
          <p:cNvPr id="34" name="Shape 24"/>
          <p:cNvSpPr/>
          <p:nvPr/>
        </p:nvSpPr>
        <p:spPr>
          <a:xfrm>
            <a:off x="2331720" y="4398264"/>
            <a:ext cx="1874520" cy="932688"/>
          </a:xfrm>
          <a:prstGeom prst="roundRect">
            <a:avLst>
              <a:gd name="adj" fmla="val 14706"/>
            </a:avLst>
          </a:prstGeom>
          <a:solidFill>
            <a:srgbClr val="EEF1EC"/>
          </a:solidFill>
          <a:ln/>
        </p:spPr>
      </p:sp>
      <p:sp>
        <p:nvSpPr>
          <p:cNvPr id="35" name="Text 25"/>
          <p:cNvSpPr txBox="1"/>
          <p:nvPr/>
        </p:nvSpPr>
        <p:spPr>
          <a:xfrm>
            <a:off x="233172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Triggers due, feed room left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Events start runs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automation per project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Your runs at once</a:t>
            </a:r>
            <a:endParaRPr lang="en-US" sz="1000" dirty="0"/>
          </a:p>
        </p:txBody>
      </p:sp>
      <p:sp>
        <p:nvSpPr>
          <p:cNvPr id="36" name="Shape 26"/>
          <p:cNvSpPr/>
          <p:nvPr/>
        </p:nvSpPr>
        <p:spPr>
          <a:xfrm>
            <a:off x="3858768" y="4471416"/>
            <a:ext cx="274320" cy="274320"/>
          </a:xfrm>
          <a:prstGeom prst="ellipse">
            <a:avLst/>
          </a:prstGeom>
          <a:solidFill>
            <a:srgbClr val="FFFFFF"/>
          </a:solidFill>
          <a:ln/>
        </p:spPr>
      </p:sp>
      <p:pic>
        <p:nvPicPr>
          <p:cNvPr id="37" name="Image 7" descr="preencoded.png">    </p:cNvPr>
          <p:cNvPicPr>
            <a:picLocks noChangeAspect="1"/>
          </p:cNvPicPr>
          <p:nvPr/>
        </p:nvPicPr>
        <p:blipFill>
          <a:blip r:embed="rId8"/>
          <a:stretch>
            <a:fillRect/>
          </a:stretch>
        </p:blipFill>
        <p:spPr>
          <a:xfrm>
            <a:off x="3927348" y="4539996"/>
            <a:ext cx="137160" cy="137160"/>
          </a:xfrm>
          <a:prstGeom prst="rect">
            <a:avLst/>
          </a:prstGeom>
        </p:spPr>
      </p:pic>
      <p:sp>
        <p:nvSpPr>
          <p:cNvPr id="38" name="Shape 27"/>
          <p:cNvSpPr/>
          <p:nvPr/>
        </p:nvSpPr>
        <p:spPr>
          <a:xfrm>
            <a:off x="320040" y="5422392"/>
            <a:ext cx="1874520" cy="932688"/>
          </a:xfrm>
          <a:prstGeom prst="roundRect">
            <a:avLst>
              <a:gd name="adj" fmla="val 14706"/>
            </a:avLst>
          </a:prstGeom>
          <a:solidFill>
            <a:srgbClr val="EEF1EC"/>
          </a:solidFill>
          <a:ln/>
        </p:spPr>
      </p:sp>
      <p:sp>
        <p:nvSpPr>
          <p:cNvPr id="39" name="Text 28"/>
          <p:cNvSpPr txBox="1"/>
          <p:nvPr/>
        </p:nvSpPr>
        <p:spPr>
          <a:xfrm>
            <a:off x="32004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Runner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Claude Code, one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Own main-line checkout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hook summarizes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Lost runs resume</a:t>
            </a:r>
            <a:endParaRPr lang="en-US" sz="1000" dirty="0"/>
          </a:p>
        </p:txBody>
      </p:sp>
      <p:sp>
        <p:nvSpPr>
          <p:cNvPr id="40" name="Shape 29"/>
          <p:cNvSpPr/>
          <p:nvPr/>
        </p:nvSpPr>
        <p:spPr>
          <a:xfrm>
            <a:off x="1847088" y="5495544"/>
            <a:ext cx="274320" cy="274320"/>
          </a:xfrm>
          <a:prstGeom prst="ellipse">
            <a:avLst/>
          </a:prstGeom>
          <a:solidFill>
            <a:srgbClr val="FFFFFF"/>
          </a:solidFill>
          <a:ln/>
        </p:spPr>
      </p:sp>
      <p:pic>
        <p:nvPicPr>
          <p:cNvPr id="41" name="Image 8" descr="preencoded.png">    </p:cNvPr>
          <p:cNvPicPr>
            <a:picLocks noChangeAspect="1"/>
          </p:cNvPicPr>
          <p:nvPr/>
        </p:nvPicPr>
        <p:blipFill>
          <a:blip r:embed="rId9"/>
          <a:stretch>
            <a:fillRect/>
          </a:stretch>
        </p:blipFill>
        <p:spPr>
          <a:xfrm>
            <a:off x="1915668" y="5564124"/>
            <a:ext cx="137160" cy="137160"/>
          </a:xfrm>
          <a:prstGeom prst="rect">
            <a:avLst/>
          </a:prstGeom>
        </p:spPr>
      </p:pic>
      <p:sp>
        <p:nvSpPr>
          <p:cNvPr id="42" name="Shape 30"/>
          <p:cNvSpPr/>
          <p:nvPr/>
        </p:nvSpPr>
        <p:spPr>
          <a:xfrm>
            <a:off x="2331720" y="5422392"/>
            <a:ext cx="1874520" cy="932688"/>
          </a:xfrm>
          <a:prstGeom prst="roundRect">
            <a:avLst>
              <a:gd name="adj" fmla="val 14706"/>
            </a:avLst>
          </a:prstGeom>
          <a:solidFill>
            <a:srgbClr val="EEF1EC"/>
          </a:solidFill>
          <a:ln/>
        </p:spPr>
      </p:sp>
      <p:sp>
        <p:nvSpPr>
          <p:cNvPr id="43" name="Text 31"/>
          <p:cNvSpPr txBox="1"/>
          <p:nvPr/>
        </p:nvSpPr>
        <p:spPr>
          <a:xfrm>
            <a:off x="233172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Consistency Guard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Checks every write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commit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conflicts, reports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Index true to the main line</a:t>
            </a:r>
            <a:endParaRPr lang="en-US" sz="1000" dirty="0"/>
          </a:p>
        </p:txBody>
      </p:sp>
      <p:sp>
        <p:nvSpPr>
          <p:cNvPr id="44" name="Shape 32"/>
          <p:cNvSpPr/>
          <p:nvPr/>
        </p:nvSpPr>
        <p:spPr>
          <a:xfrm>
            <a:off x="3858768" y="5495544"/>
            <a:ext cx="274320" cy="274320"/>
          </a:xfrm>
          <a:prstGeom prst="ellipse">
            <a:avLst/>
          </a:prstGeom>
          <a:solidFill>
            <a:srgbClr val="FFFFFF"/>
          </a:solidFill>
          <a:ln/>
        </p:spPr>
      </p:sp>
      <p:pic>
        <p:nvPicPr>
          <p:cNvPr id="45" name="Image 9" descr="preencoded.png">    </p:cNvPr>
          <p:cNvPicPr>
            <a:picLocks noChangeAspect="1"/>
          </p:cNvPicPr>
          <p:nvPr/>
        </p:nvPicPr>
        <p:blipFill>
          <a:blip r:embed="rId10"/>
          <a:stretch>
            <a:fillRect/>
          </a:stretch>
        </p:blipFill>
        <p:spPr>
          <a:xfrm>
            <a:off x="3927348" y="5564124"/>
            <a:ext cx="137160" cy="137160"/>
          </a:xfrm>
          <a:prstGeom prst="rect">
            <a:avLst/>
          </a:prstGeom>
        </p:spPr>
      </p:pic>
      <p:sp>
        <p:nvSpPr>
          <p:cNvPr id="46" name="Shape 33"/>
          <p:cNvSpPr/>
          <p:nvPr/>
        </p:nvSpPr>
        <p:spPr>
          <a:xfrm>
            <a:off x="4389120" y="1325880"/>
            <a:ext cx="7498080" cy="1600200"/>
          </a:xfrm>
          <a:prstGeom prst="roundRect">
            <a:avLst>
              <a:gd name="adj" fmla="val 8571"/>
            </a:avLst>
          </a:prstGeom>
          <a:solidFill>
            <a:srgbClr val="F4DCD6"/>
          </a:solidFill>
          <a:ln/>
        </p:spPr>
      </p:sp>
      <p:sp>
        <p:nvSpPr>
          <p:cNvPr id="47" name="Text 34"/>
          <p:cNvSpPr txBox="1"/>
          <p:nvPr/>
        </p:nvSpPr>
        <p:spPr>
          <a:xfrm>
            <a:off x="10625328" y="197510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A0402F"/>
                </a:solidFill>
                <a:latin typeface="Calibri" pitchFamily="34" charset="0"/>
                <a:ea typeface="Calibri" pitchFamily="34" charset="-122"/>
                <a:cs typeface="Calibri" pitchFamily="34" charset="-120"/>
              </a:rPr>
              <a:t>Attention Layer</a:t>
            </a:r>
            <a:endParaRPr lang="en-US" sz="850" dirty="0"/>
          </a:p>
        </p:txBody>
      </p:sp>
      <p:sp>
        <p:nvSpPr>
          <p:cNvPr id="48" name="Shape 35"/>
          <p:cNvSpPr/>
          <p:nvPr/>
        </p:nvSpPr>
        <p:spPr>
          <a:xfrm>
            <a:off x="4389120" y="3017520"/>
            <a:ext cx="7498080" cy="1005840"/>
          </a:xfrm>
          <a:prstGeom prst="roundRect">
            <a:avLst>
              <a:gd name="adj" fmla="val 13636"/>
            </a:avLst>
          </a:prstGeom>
          <a:solidFill>
            <a:srgbClr val="EFE8D2"/>
          </a:solidFill>
          <a:ln/>
        </p:spPr>
      </p:sp>
      <p:sp>
        <p:nvSpPr>
          <p:cNvPr id="49" name="Text 36"/>
          <p:cNvSpPr txBox="1"/>
          <p:nvPr/>
        </p:nvSpPr>
        <p:spPr>
          <a:xfrm>
            <a:off x="10625328" y="339242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7C6224"/>
                </a:solidFill>
                <a:latin typeface="Calibri" pitchFamily="34" charset="0"/>
                <a:ea typeface="Calibri" pitchFamily="34" charset="-122"/>
                <a:cs typeface="Calibri" pitchFamily="34" charset="-120"/>
              </a:rPr>
              <a:t>Understanding Layer</a:t>
            </a:r>
            <a:endParaRPr lang="en-US" sz="850" dirty="0"/>
          </a:p>
        </p:txBody>
      </p:sp>
      <p:sp>
        <p:nvSpPr>
          <p:cNvPr id="50" name="Shape 37"/>
          <p:cNvSpPr/>
          <p:nvPr/>
        </p:nvSpPr>
        <p:spPr>
          <a:xfrm>
            <a:off x="4389120" y="4114800"/>
            <a:ext cx="7498080" cy="2240280"/>
          </a:xfrm>
          <a:prstGeom prst="roundRect">
            <a:avLst>
              <a:gd name="adj" fmla="val 6122"/>
            </a:avLst>
          </a:prstGeom>
          <a:solidFill>
            <a:srgbClr val="DCE7DF"/>
          </a:solidFill>
          <a:ln/>
        </p:spPr>
      </p:sp>
      <p:sp>
        <p:nvSpPr>
          <p:cNvPr id="51" name="Text 38"/>
          <p:cNvSpPr txBox="1"/>
          <p:nvPr/>
        </p:nvSpPr>
        <p:spPr>
          <a:xfrm>
            <a:off x="10625328" y="485546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3F6B52"/>
                </a:solidFill>
                <a:latin typeface="Calibri" pitchFamily="34" charset="0"/>
                <a:ea typeface="Calibri" pitchFamily="34" charset="-122"/>
                <a:cs typeface="Calibri" pitchFamily="34" charset="-120"/>
              </a:rPr>
              <a:t>Implementation Layer</a:t>
            </a:r>
            <a:endParaRPr lang="en-US" sz="850" dirty="0"/>
          </a:p>
        </p:txBody>
      </p:sp>
      <p:sp>
        <p:nvSpPr>
          <p:cNvPr id="52" name="Shape 39"/>
          <p:cNvSpPr/>
          <p:nvPr/>
        </p:nvSpPr>
        <p:spPr>
          <a:xfrm>
            <a:off x="8138160" y="2020824"/>
            <a:ext cx="0" cy="4334256"/>
          </a:xfrm>
          <a:prstGeom prst="line">
            <a:avLst/>
          </a:prstGeom>
          <a:noFill/>
          <a:ln w="19050">
            <a:solidFill>
              <a:srgbClr val="A0402F"/>
            </a:solidFill>
            <a:prstDash val="dash"/>
          </a:ln>
        </p:spPr>
      </p:sp>
      <p:sp>
        <p:nvSpPr>
          <p:cNvPr id="53" name="Text 40"/>
          <p:cNvSpPr txBox="1"/>
          <p:nvPr/>
        </p:nvSpPr>
        <p:spPr>
          <a:xfrm>
            <a:off x="6236208" y="1417320"/>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4" name="Image 10" descr="preencoded.png">    </p:cNvPr>
          <p:cNvPicPr>
            <a:picLocks noChangeAspect="1"/>
          </p:cNvPicPr>
          <p:nvPr/>
        </p:nvPicPr>
        <p:blipFill>
          <a:blip r:embed="rId11"/>
          <a:stretch>
            <a:fillRect/>
          </a:stretch>
        </p:blipFill>
        <p:spPr>
          <a:xfrm>
            <a:off x="5989320" y="1463040"/>
            <a:ext cx="182880" cy="182880"/>
          </a:xfrm>
          <a:prstGeom prst="rect">
            <a:avLst/>
          </a:prstGeom>
        </p:spPr>
      </p:pic>
      <p:sp>
        <p:nvSpPr>
          <p:cNvPr id="55" name="Text 41"/>
          <p:cNvSpPr txBox="1"/>
          <p:nvPr/>
        </p:nvSpPr>
        <p:spPr>
          <a:xfrm>
            <a:off x="9518904" y="1417320"/>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6" name="Image 11" descr="preencoded.png">    </p:cNvPr>
          <p:cNvPicPr>
            <a:picLocks noChangeAspect="1"/>
          </p:cNvPicPr>
          <p:nvPr/>
        </p:nvPicPr>
        <p:blipFill>
          <a:blip r:embed="rId12"/>
          <a:stretch>
            <a:fillRect/>
          </a:stretch>
        </p:blipFill>
        <p:spPr>
          <a:xfrm>
            <a:off x="9272016" y="1463040"/>
            <a:ext cx="182880" cy="182880"/>
          </a:xfrm>
          <a:prstGeom prst="rect">
            <a:avLst/>
          </a:prstGeom>
        </p:spPr>
      </p:pic>
      <p:sp>
        <p:nvSpPr>
          <p:cNvPr id="57" name="Text 42"/>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A0402F"/>
                </a:solidFill>
                <a:latin typeface="Calibri" pitchFamily="34" charset="0"/>
                <a:ea typeface="Calibri" pitchFamily="34" charset="-122"/>
                <a:cs typeface="Calibri" pitchFamily="34" charset="-120"/>
              </a:rPr>
              <a:t>Consistency border</a:t>
            </a:r>
            <a:endParaRPr lang="en-US" sz="1000" dirty="0"/>
          </a:p>
        </p:txBody>
      </p:sp>
      <p:sp>
        <p:nvSpPr>
          <p:cNvPr id="58" name="Shape 43"/>
          <p:cNvSpPr/>
          <p:nvPr/>
        </p:nvSpPr>
        <p:spPr>
          <a:xfrm>
            <a:off x="8138160" y="749808"/>
            <a:ext cx="0" cy="850392"/>
          </a:xfrm>
          <a:prstGeom prst="line">
            <a:avLst/>
          </a:prstGeom>
          <a:noFill/>
          <a:ln w="22225">
            <a:solidFill>
              <a:srgbClr val="52606A"/>
            </a:solidFill>
            <a:prstDash val="solid"/>
            <a:tailEnd type="triangle"/>
          </a:ln>
        </p:spPr>
      </p:sp>
      <p:sp>
        <p:nvSpPr>
          <p:cNvPr id="59" name="Shape 44"/>
          <p:cNvSpPr/>
          <p:nvPr/>
        </p:nvSpPr>
        <p:spPr>
          <a:xfrm flipV="1">
            <a:off x="7454075" y="2020824"/>
            <a:ext cx="408051" cy="310896"/>
          </a:xfrm>
          <a:prstGeom prst="line">
            <a:avLst/>
          </a:prstGeom>
          <a:noFill/>
          <a:ln w="22225">
            <a:solidFill>
              <a:srgbClr val="52606A"/>
            </a:solidFill>
            <a:prstDash val="solid"/>
            <a:tailEnd type="triangle"/>
          </a:ln>
        </p:spPr>
      </p:sp>
      <p:sp>
        <p:nvSpPr>
          <p:cNvPr id="60" name="Shape 45"/>
          <p:cNvSpPr/>
          <p:nvPr/>
        </p:nvSpPr>
        <p:spPr>
          <a:xfrm>
            <a:off x="8414195" y="2020824"/>
            <a:ext cx="408051" cy="310896"/>
          </a:xfrm>
          <a:prstGeom prst="line">
            <a:avLst/>
          </a:prstGeom>
          <a:noFill/>
          <a:ln w="22225">
            <a:solidFill>
              <a:srgbClr val="52606A"/>
            </a:solidFill>
            <a:prstDash val="solid"/>
            <a:tailEnd type="triangle"/>
          </a:ln>
        </p:spPr>
      </p:sp>
      <p:sp>
        <p:nvSpPr>
          <p:cNvPr id="61" name="Shape 46"/>
          <p:cNvSpPr/>
          <p:nvPr/>
        </p:nvSpPr>
        <p:spPr>
          <a:xfrm flipV="1">
            <a:off x="6496086" y="2752344"/>
            <a:ext cx="495229" cy="557784"/>
          </a:xfrm>
          <a:prstGeom prst="line">
            <a:avLst/>
          </a:prstGeom>
          <a:noFill/>
          <a:ln w="22225">
            <a:solidFill>
              <a:srgbClr val="52606A"/>
            </a:solidFill>
            <a:prstDash val="solid"/>
            <a:tailEnd type="triangle"/>
          </a:ln>
        </p:spPr>
      </p:sp>
      <p:sp>
        <p:nvSpPr>
          <p:cNvPr id="62" name="Shape 47"/>
          <p:cNvSpPr/>
          <p:nvPr/>
        </p:nvSpPr>
        <p:spPr>
          <a:xfrm>
            <a:off x="6949440" y="3520440"/>
            <a:ext cx="548640" cy="0"/>
          </a:xfrm>
          <a:prstGeom prst="line">
            <a:avLst/>
          </a:prstGeom>
          <a:noFill/>
          <a:ln w="22225">
            <a:solidFill>
              <a:srgbClr val="52606A"/>
            </a:solidFill>
            <a:prstDash val="solid"/>
            <a:headEnd type="triangle"/>
            <a:tailEnd type="triangle"/>
          </a:ln>
        </p:spPr>
      </p:sp>
      <p:sp>
        <p:nvSpPr>
          <p:cNvPr id="63" name="Shape 48"/>
          <p:cNvSpPr/>
          <p:nvPr/>
        </p:nvSpPr>
        <p:spPr>
          <a:xfrm>
            <a:off x="8778240" y="3520440"/>
            <a:ext cx="548640" cy="0"/>
          </a:xfrm>
          <a:prstGeom prst="line">
            <a:avLst/>
          </a:prstGeom>
          <a:noFill/>
          <a:ln w="22225">
            <a:solidFill>
              <a:srgbClr val="52606A"/>
            </a:solidFill>
            <a:prstDash val="solid"/>
            <a:headEnd type="triangle"/>
            <a:tailEnd type="triangle"/>
          </a:ln>
        </p:spPr>
      </p:sp>
      <p:sp>
        <p:nvSpPr>
          <p:cNvPr id="64" name="Shape 49"/>
          <p:cNvSpPr/>
          <p:nvPr/>
        </p:nvSpPr>
        <p:spPr>
          <a:xfrm>
            <a:off x="9285006" y="2752344"/>
            <a:ext cx="495229" cy="557784"/>
          </a:xfrm>
          <a:prstGeom prst="line">
            <a:avLst/>
          </a:prstGeom>
          <a:noFill/>
          <a:ln w="22225">
            <a:solidFill>
              <a:srgbClr val="52606A"/>
            </a:solidFill>
            <a:prstDash val="solid"/>
            <a:tailEnd type="triangle"/>
          </a:ln>
        </p:spPr>
      </p:sp>
      <p:sp>
        <p:nvSpPr>
          <p:cNvPr id="65" name="Shape 50"/>
          <p:cNvSpPr/>
          <p:nvPr/>
        </p:nvSpPr>
        <p:spPr>
          <a:xfrm>
            <a:off x="10063286" y="3730752"/>
            <a:ext cx="933944" cy="2039112"/>
          </a:xfrm>
          <a:prstGeom prst="line">
            <a:avLst/>
          </a:prstGeom>
          <a:noFill/>
          <a:ln w="22225">
            <a:solidFill>
              <a:srgbClr val="52606A"/>
            </a:solidFill>
            <a:prstDash val="solid"/>
            <a:tailEnd type="triangle"/>
          </a:ln>
        </p:spPr>
      </p:sp>
      <p:sp>
        <p:nvSpPr>
          <p:cNvPr id="66" name="Shape 51"/>
          <p:cNvSpPr/>
          <p:nvPr/>
        </p:nvSpPr>
        <p:spPr>
          <a:xfrm flipV="1">
            <a:off x="5279089" y="3730752"/>
            <a:ext cx="933944" cy="2039112"/>
          </a:xfrm>
          <a:prstGeom prst="line">
            <a:avLst/>
          </a:prstGeom>
          <a:noFill/>
          <a:ln w="22225">
            <a:solidFill>
              <a:srgbClr val="52606A"/>
            </a:solidFill>
            <a:prstDash val="solid"/>
            <a:tailEnd type="triangle"/>
          </a:ln>
        </p:spPr>
      </p:sp>
      <p:sp>
        <p:nvSpPr>
          <p:cNvPr id="67" name="Shape 52"/>
          <p:cNvSpPr/>
          <p:nvPr/>
        </p:nvSpPr>
        <p:spPr>
          <a:xfrm flipH="1">
            <a:off x="7863840" y="4453128"/>
            <a:ext cx="548640" cy="0"/>
          </a:xfrm>
          <a:prstGeom prst="line">
            <a:avLst/>
          </a:prstGeom>
          <a:noFill/>
          <a:ln w="22225">
            <a:solidFill>
              <a:srgbClr val="52606A"/>
            </a:solidFill>
            <a:prstDash val="solid"/>
            <a:tailEnd type="triangle"/>
          </a:ln>
        </p:spPr>
      </p:sp>
      <p:sp>
        <p:nvSpPr>
          <p:cNvPr id="68" name="Shape 53"/>
          <p:cNvSpPr/>
          <p:nvPr/>
        </p:nvSpPr>
        <p:spPr>
          <a:xfrm flipH="1">
            <a:off x="7863840" y="4818888"/>
            <a:ext cx="548640" cy="0"/>
          </a:xfrm>
          <a:prstGeom prst="line">
            <a:avLst/>
          </a:prstGeom>
          <a:noFill/>
          <a:ln w="22225">
            <a:solidFill>
              <a:srgbClr val="52606A"/>
            </a:solidFill>
            <a:prstDash val="solid"/>
            <a:tailEnd type="triangle"/>
          </a:ln>
        </p:spPr>
      </p:sp>
      <p:sp>
        <p:nvSpPr>
          <p:cNvPr id="69" name="Shape 54"/>
          <p:cNvSpPr/>
          <p:nvPr/>
        </p:nvSpPr>
        <p:spPr>
          <a:xfrm flipH="1">
            <a:off x="7863840" y="5184648"/>
            <a:ext cx="548640" cy="0"/>
          </a:xfrm>
          <a:prstGeom prst="line">
            <a:avLst/>
          </a:prstGeom>
          <a:noFill/>
          <a:ln w="22225">
            <a:solidFill>
              <a:srgbClr val="52606A"/>
            </a:solidFill>
            <a:prstDash val="solid"/>
            <a:tailEnd type="triangle"/>
          </a:ln>
        </p:spPr>
      </p:sp>
      <p:sp>
        <p:nvSpPr>
          <p:cNvPr id="70" name="Shape 55"/>
          <p:cNvSpPr/>
          <p:nvPr/>
        </p:nvSpPr>
        <p:spPr>
          <a:xfrm flipH="1">
            <a:off x="7863840" y="5550408"/>
            <a:ext cx="548640" cy="0"/>
          </a:xfrm>
          <a:prstGeom prst="line">
            <a:avLst/>
          </a:prstGeom>
          <a:noFill/>
          <a:ln w="22225">
            <a:solidFill>
              <a:srgbClr val="52606A"/>
            </a:solidFill>
            <a:prstDash val="solid"/>
            <a:tailEnd type="triangle"/>
          </a:ln>
        </p:spPr>
      </p:sp>
      <p:sp>
        <p:nvSpPr>
          <p:cNvPr id="71" name="Shape 56"/>
          <p:cNvSpPr/>
          <p:nvPr/>
        </p:nvSpPr>
        <p:spPr>
          <a:xfrm flipH="1">
            <a:off x="7863840" y="5916168"/>
            <a:ext cx="548640" cy="0"/>
          </a:xfrm>
          <a:prstGeom prst="line">
            <a:avLst/>
          </a:prstGeom>
          <a:noFill/>
          <a:ln w="22225">
            <a:solidFill>
              <a:srgbClr val="52606A"/>
            </a:solidFill>
            <a:prstDash val="solid"/>
            <a:tailEnd type="triangle"/>
          </a:ln>
        </p:spPr>
      </p:sp>
      <p:sp>
        <p:nvSpPr>
          <p:cNvPr id="72" name="Shape 57"/>
          <p:cNvSpPr/>
          <p:nvPr/>
        </p:nvSpPr>
        <p:spPr>
          <a:xfrm>
            <a:off x="9601200" y="4453128"/>
            <a:ext cx="868680" cy="1463040"/>
          </a:xfrm>
          <a:custGeom>
            <a:avLst/>
            <a:gdLst/>
            <a:ahLst/>
            <a:cxnLst/>
            <a:rect l="l" t="t" r="r" b="b"/>
            <a:pathLst>
              <a:path w="868680" h="1463040">
                <a:moveTo>
                  <a:pt x="868680" y="1463040"/>
                </a:moveTo>
                <a:cubicBezTo>
                  <a:pt x="390906" y="1463040"/>
                  <a:pt x="477774" y="0"/>
                  <a:pt x="0" y="0"/>
                </a:cubicBezTo>
              </a:path>
            </a:pathLst>
          </a:custGeom>
          <a:ln w="22225">
            <a:solidFill>
              <a:srgbClr val="52606A"/>
            </a:solidFill>
            <a:prstDash val="solid"/>
            <a:tailEnd type="triangle"/>
          </a:ln>
        </p:spPr>
      </p:sp>
      <p:sp>
        <p:nvSpPr>
          <p:cNvPr id="73" name="Shape 58"/>
          <p:cNvSpPr/>
          <p:nvPr/>
        </p:nvSpPr>
        <p:spPr>
          <a:xfrm>
            <a:off x="5806440" y="4453128"/>
            <a:ext cx="868680" cy="1463040"/>
          </a:xfrm>
          <a:custGeom>
            <a:avLst/>
            <a:gdLst/>
            <a:ahLst/>
            <a:cxnLst/>
            <a:rect l="l" t="t" r="r" b="b"/>
            <a:pathLst>
              <a:path w="868680" h="1463040">
                <a:moveTo>
                  <a:pt x="868680" y="0"/>
                </a:moveTo>
                <a:cubicBezTo>
                  <a:pt x="390906" y="0"/>
                  <a:pt x="477774" y="1463040"/>
                  <a:pt x="0" y="1463040"/>
                </a:cubicBezTo>
              </a:path>
            </a:pathLst>
          </a:custGeom>
          <a:ln w="22225">
            <a:solidFill>
              <a:srgbClr val="52606A"/>
            </a:solidFill>
            <a:prstDash val="solid"/>
            <a:tailEnd type="triangle"/>
          </a:ln>
        </p:spPr>
      </p:sp>
      <p:sp>
        <p:nvSpPr>
          <p:cNvPr id="74" name="Shape 59"/>
          <p:cNvSpPr/>
          <p:nvPr/>
        </p:nvSpPr>
        <p:spPr>
          <a:xfrm>
            <a:off x="9601200" y="4818888"/>
            <a:ext cx="868680" cy="1097280"/>
          </a:xfrm>
          <a:custGeom>
            <a:avLst/>
            <a:gdLst/>
            <a:ahLst/>
            <a:cxnLst/>
            <a:rect l="l" t="t" r="r" b="b"/>
            <a:pathLst>
              <a:path w="868680" h="1097280">
                <a:moveTo>
                  <a:pt x="868680" y="1097280"/>
                </a:moveTo>
                <a:cubicBezTo>
                  <a:pt x="390906" y="1097280"/>
                  <a:pt x="477774" y="0"/>
                  <a:pt x="0" y="0"/>
                </a:cubicBezTo>
              </a:path>
            </a:pathLst>
          </a:custGeom>
          <a:ln w="22225">
            <a:solidFill>
              <a:srgbClr val="52606A"/>
            </a:solidFill>
            <a:prstDash val="solid"/>
            <a:tailEnd type="triangle"/>
          </a:ln>
        </p:spPr>
      </p:sp>
      <p:sp>
        <p:nvSpPr>
          <p:cNvPr id="75" name="Shape 60"/>
          <p:cNvSpPr/>
          <p:nvPr/>
        </p:nvSpPr>
        <p:spPr>
          <a:xfrm>
            <a:off x="5806440" y="4818888"/>
            <a:ext cx="868680" cy="1097280"/>
          </a:xfrm>
          <a:custGeom>
            <a:avLst/>
            <a:gdLst/>
            <a:ahLst/>
            <a:cxnLst/>
            <a:rect l="l" t="t" r="r" b="b"/>
            <a:pathLst>
              <a:path w="868680" h="1097280">
                <a:moveTo>
                  <a:pt x="868680" y="0"/>
                </a:moveTo>
                <a:cubicBezTo>
                  <a:pt x="390906" y="0"/>
                  <a:pt x="477774" y="1097280"/>
                  <a:pt x="0" y="1097280"/>
                </a:cubicBezTo>
              </a:path>
            </a:pathLst>
          </a:custGeom>
          <a:ln w="22225">
            <a:solidFill>
              <a:srgbClr val="52606A"/>
            </a:solidFill>
            <a:prstDash val="solid"/>
            <a:tailEnd type="triangle"/>
          </a:ln>
        </p:spPr>
      </p:sp>
      <p:sp>
        <p:nvSpPr>
          <p:cNvPr id="76" name="Shape 61"/>
          <p:cNvSpPr/>
          <p:nvPr/>
        </p:nvSpPr>
        <p:spPr>
          <a:xfrm>
            <a:off x="9601200" y="5184648"/>
            <a:ext cx="868680" cy="731520"/>
          </a:xfrm>
          <a:custGeom>
            <a:avLst/>
            <a:gdLst/>
            <a:ahLst/>
            <a:cxnLst/>
            <a:rect l="l" t="t" r="r" b="b"/>
            <a:pathLst>
              <a:path w="868680" h="731520">
                <a:moveTo>
                  <a:pt x="868680" y="731520"/>
                </a:moveTo>
                <a:cubicBezTo>
                  <a:pt x="390906" y="731520"/>
                  <a:pt x="477774" y="0"/>
                  <a:pt x="0" y="0"/>
                </a:cubicBezTo>
              </a:path>
            </a:pathLst>
          </a:custGeom>
          <a:ln w="22225">
            <a:solidFill>
              <a:srgbClr val="52606A"/>
            </a:solidFill>
            <a:prstDash val="solid"/>
            <a:tailEnd type="triangle"/>
          </a:ln>
        </p:spPr>
      </p:sp>
      <p:sp>
        <p:nvSpPr>
          <p:cNvPr id="77" name="Shape 62"/>
          <p:cNvSpPr/>
          <p:nvPr/>
        </p:nvSpPr>
        <p:spPr>
          <a:xfrm>
            <a:off x="5806440" y="5184648"/>
            <a:ext cx="868680" cy="731520"/>
          </a:xfrm>
          <a:custGeom>
            <a:avLst/>
            <a:gdLst/>
            <a:ahLst/>
            <a:cxnLst/>
            <a:rect l="l" t="t" r="r" b="b"/>
            <a:pathLst>
              <a:path w="868680" h="731520">
                <a:moveTo>
                  <a:pt x="868680" y="0"/>
                </a:moveTo>
                <a:cubicBezTo>
                  <a:pt x="390906" y="0"/>
                  <a:pt x="477774" y="731520"/>
                  <a:pt x="0" y="731520"/>
                </a:cubicBezTo>
              </a:path>
            </a:pathLst>
          </a:custGeom>
          <a:ln w="22225">
            <a:solidFill>
              <a:srgbClr val="52606A"/>
            </a:solidFill>
            <a:prstDash val="solid"/>
            <a:tailEnd type="triangle"/>
          </a:ln>
        </p:spPr>
      </p:sp>
      <p:sp>
        <p:nvSpPr>
          <p:cNvPr id="78" name="Shape 63"/>
          <p:cNvSpPr/>
          <p:nvPr/>
        </p:nvSpPr>
        <p:spPr>
          <a:xfrm>
            <a:off x="9601200" y="5550408"/>
            <a:ext cx="868680" cy="365760"/>
          </a:xfrm>
          <a:custGeom>
            <a:avLst/>
            <a:gdLst/>
            <a:ahLst/>
            <a:cxnLst/>
            <a:rect l="l" t="t" r="r" b="b"/>
            <a:pathLst>
              <a:path w="868680" h="365760">
                <a:moveTo>
                  <a:pt x="868680" y="365760"/>
                </a:moveTo>
                <a:cubicBezTo>
                  <a:pt x="390906" y="365760"/>
                  <a:pt x="477774" y="0"/>
                  <a:pt x="0" y="0"/>
                </a:cubicBezTo>
              </a:path>
            </a:pathLst>
          </a:custGeom>
          <a:ln w="22225">
            <a:solidFill>
              <a:srgbClr val="52606A"/>
            </a:solidFill>
            <a:prstDash val="solid"/>
            <a:tailEnd type="triangle"/>
          </a:ln>
        </p:spPr>
      </p:sp>
      <p:sp>
        <p:nvSpPr>
          <p:cNvPr id="79" name="Shape 64"/>
          <p:cNvSpPr/>
          <p:nvPr/>
        </p:nvSpPr>
        <p:spPr>
          <a:xfrm>
            <a:off x="5806440" y="5550408"/>
            <a:ext cx="868680" cy="365760"/>
          </a:xfrm>
          <a:custGeom>
            <a:avLst/>
            <a:gdLst/>
            <a:ahLst/>
            <a:cxnLst/>
            <a:rect l="l" t="t" r="r" b="b"/>
            <a:pathLst>
              <a:path w="868680" h="365760">
                <a:moveTo>
                  <a:pt x="868680" y="0"/>
                </a:moveTo>
                <a:cubicBezTo>
                  <a:pt x="390906" y="0"/>
                  <a:pt x="477774" y="365760"/>
                  <a:pt x="0" y="365760"/>
                </a:cubicBezTo>
              </a:path>
            </a:pathLst>
          </a:custGeom>
          <a:ln w="22225">
            <a:solidFill>
              <a:srgbClr val="52606A"/>
            </a:solidFill>
            <a:prstDash val="solid"/>
            <a:tailEnd type="triangle"/>
          </a:ln>
        </p:spPr>
      </p:sp>
      <p:sp>
        <p:nvSpPr>
          <p:cNvPr id="80" name="Shape 65"/>
          <p:cNvSpPr/>
          <p:nvPr/>
        </p:nvSpPr>
        <p:spPr>
          <a:xfrm flipH="1">
            <a:off x="9601200" y="5916168"/>
            <a:ext cx="868680" cy="0"/>
          </a:xfrm>
          <a:prstGeom prst="line">
            <a:avLst/>
          </a:prstGeom>
          <a:noFill/>
          <a:ln w="22225">
            <a:solidFill>
              <a:srgbClr val="52606A"/>
            </a:solidFill>
            <a:prstDash val="solid"/>
            <a:tailEnd type="triangle"/>
          </a:ln>
        </p:spPr>
      </p:sp>
      <p:sp>
        <p:nvSpPr>
          <p:cNvPr id="81" name="Shape 66"/>
          <p:cNvSpPr/>
          <p:nvPr/>
        </p:nvSpPr>
        <p:spPr>
          <a:xfrm flipH="1">
            <a:off x="5806440" y="5916168"/>
            <a:ext cx="868680" cy="0"/>
          </a:xfrm>
          <a:prstGeom prst="line">
            <a:avLst/>
          </a:prstGeom>
          <a:noFill/>
          <a:ln w="22225">
            <a:solidFill>
              <a:srgbClr val="52606A"/>
            </a:solidFill>
            <a:prstDash val="solid"/>
            <a:tailEnd type="triangle"/>
          </a:ln>
        </p:spPr>
      </p:sp>
      <p:sp>
        <p:nvSpPr>
          <p:cNvPr id="82" name="Text 67"/>
          <p:cNvSpPr txBox="1"/>
          <p:nvPr/>
        </p:nvSpPr>
        <p:spPr>
          <a:xfrm>
            <a:off x="7498080" y="160020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3" name="Text 68"/>
          <p:cNvSpPr txBox="1"/>
          <p:nvPr/>
        </p:nvSpPr>
        <p:spPr>
          <a:xfrm>
            <a:off x="653796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Ranking</a:t>
            </a:r>
            <a:endParaRPr lang="en-US" sz="1050" dirty="0"/>
          </a:p>
        </p:txBody>
      </p:sp>
      <p:sp>
        <p:nvSpPr>
          <p:cNvPr id="84" name="Text 69"/>
          <p:cNvSpPr txBox="1"/>
          <p:nvPr/>
        </p:nvSpPr>
        <p:spPr>
          <a:xfrm>
            <a:off x="845820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Approval</a:t>
            </a:r>
            <a:endParaRPr lang="en-US" sz="1050" dirty="0"/>
          </a:p>
        </p:txBody>
      </p:sp>
      <p:sp>
        <p:nvSpPr>
          <p:cNvPr id="85" name="Text 70"/>
          <p:cNvSpPr txBox="1"/>
          <p:nvPr/>
        </p:nvSpPr>
        <p:spPr>
          <a:xfrm>
            <a:off x="56692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6" name="Text 71"/>
          <p:cNvSpPr txBox="1"/>
          <p:nvPr/>
        </p:nvSpPr>
        <p:spPr>
          <a:xfrm>
            <a:off x="74980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Consistency Guard</a:t>
            </a:r>
            <a:endParaRPr lang="en-US" sz="1050" dirty="0"/>
          </a:p>
        </p:txBody>
      </p:sp>
      <p:sp>
        <p:nvSpPr>
          <p:cNvPr id="87" name="Text 72"/>
          <p:cNvSpPr txBox="1"/>
          <p:nvPr/>
        </p:nvSpPr>
        <p:spPr>
          <a:xfrm>
            <a:off x="93268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8" name="Shape 73"/>
          <p:cNvSpPr/>
          <p:nvPr/>
        </p:nvSpPr>
        <p:spPr>
          <a:xfrm>
            <a:off x="6675120" y="430682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89" name="Image 12" descr="preencoded.png">    </p:cNvPr>
          <p:cNvPicPr>
            <a:picLocks noChangeAspect="1"/>
          </p:cNvPicPr>
          <p:nvPr/>
        </p:nvPicPr>
        <p:blipFill>
          <a:blip r:embed="rId13"/>
          <a:stretch>
            <a:fillRect/>
          </a:stretch>
        </p:blipFill>
        <p:spPr>
          <a:xfrm>
            <a:off x="7016009" y="4375404"/>
            <a:ext cx="155448" cy="155448"/>
          </a:xfrm>
          <a:prstGeom prst="rect">
            <a:avLst/>
          </a:prstGeom>
        </p:spPr>
      </p:pic>
      <p:sp>
        <p:nvSpPr>
          <p:cNvPr id="90" name="Text 74"/>
          <p:cNvSpPr txBox="1"/>
          <p:nvPr/>
        </p:nvSpPr>
        <p:spPr>
          <a:xfrm>
            <a:off x="7235465" y="4306824"/>
            <a:ext cx="424646"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Chats</a:t>
            </a:r>
            <a:endParaRPr lang="en-US" sz="1000" dirty="0"/>
          </a:p>
        </p:txBody>
      </p:sp>
      <p:sp>
        <p:nvSpPr>
          <p:cNvPr id="91" name="Shape 75"/>
          <p:cNvSpPr/>
          <p:nvPr/>
        </p:nvSpPr>
        <p:spPr>
          <a:xfrm>
            <a:off x="6675120" y="467258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2" name="Image 13" descr="preencoded.png">    </p:cNvPr>
          <p:cNvPicPr>
            <a:picLocks noChangeAspect="1"/>
          </p:cNvPicPr>
          <p:nvPr/>
        </p:nvPicPr>
        <p:blipFill>
          <a:blip r:embed="rId14"/>
          <a:stretch>
            <a:fillRect/>
          </a:stretch>
        </p:blipFill>
        <p:spPr>
          <a:xfrm>
            <a:off x="6890311" y="4741164"/>
            <a:ext cx="155448" cy="155448"/>
          </a:xfrm>
          <a:prstGeom prst="rect">
            <a:avLst/>
          </a:prstGeom>
        </p:spPr>
      </p:pic>
      <p:sp>
        <p:nvSpPr>
          <p:cNvPr id="93" name="Text 76"/>
          <p:cNvSpPr txBox="1"/>
          <p:nvPr/>
        </p:nvSpPr>
        <p:spPr>
          <a:xfrm>
            <a:off x="7109767" y="4672584"/>
            <a:ext cx="676042"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Interviews</a:t>
            </a:r>
            <a:endParaRPr lang="en-US" sz="1000" dirty="0"/>
          </a:p>
        </p:txBody>
      </p:sp>
      <p:sp>
        <p:nvSpPr>
          <p:cNvPr id="94" name="Shape 77"/>
          <p:cNvSpPr/>
          <p:nvPr/>
        </p:nvSpPr>
        <p:spPr>
          <a:xfrm>
            <a:off x="6675120" y="503834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5" name="Image 14" descr="preencoded.png">    </p:cNvPr>
          <p:cNvPicPr>
            <a:picLocks noChangeAspect="1"/>
          </p:cNvPicPr>
          <p:nvPr/>
        </p:nvPicPr>
        <p:blipFill>
          <a:blip r:embed="rId15"/>
          <a:stretch>
            <a:fillRect/>
          </a:stretch>
        </p:blipFill>
        <p:spPr>
          <a:xfrm>
            <a:off x="7023760" y="5106924"/>
            <a:ext cx="155448" cy="155448"/>
          </a:xfrm>
          <a:prstGeom prst="rect">
            <a:avLst/>
          </a:prstGeom>
        </p:spPr>
      </p:pic>
      <p:sp>
        <p:nvSpPr>
          <p:cNvPr id="96" name="Text 78"/>
          <p:cNvSpPr txBox="1"/>
          <p:nvPr/>
        </p:nvSpPr>
        <p:spPr>
          <a:xfrm>
            <a:off x="7243216" y="5038344"/>
            <a:ext cx="409143"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Plans</a:t>
            </a:r>
            <a:endParaRPr lang="en-US" sz="1000" dirty="0"/>
          </a:p>
        </p:txBody>
      </p:sp>
      <p:sp>
        <p:nvSpPr>
          <p:cNvPr id="97" name="Shape 79"/>
          <p:cNvSpPr/>
          <p:nvPr/>
        </p:nvSpPr>
        <p:spPr>
          <a:xfrm>
            <a:off x="6675120" y="540410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8" name="Image 15" descr="preencoded.png">    </p:cNvPr>
          <p:cNvPicPr>
            <a:picLocks noChangeAspect="1"/>
          </p:cNvPicPr>
          <p:nvPr/>
        </p:nvPicPr>
        <p:blipFill>
          <a:blip r:embed="rId16"/>
          <a:stretch>
            <a:fillRect/>
          </a:stretch>
        </p:blipFill>
        <p:spPr>
          <a:xfrm>
            <a:off x="7027450" y="5472684"/>
            <a:ext cx="155448" cy="155448"/>
          </a:xfrm>
          <a:prstGeom prst="rect">
            <a:avLst/>
          </a:prstGeom>
        </p:spPr>
      </p:pic>
      <p:sp>
        <p:nvSpPr>
          <p:cNvPr id="99" name="Text 80"/>
          <p:cNvSpPr txBox="1"/>
          <p:nvPr/>
        </p:nvSpPr>
        <p:spPr>
          <a:xfrm>
            <a:off x="7246906" y="5404104"/>
            <a:ext cx="401764"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Code</a:t>
            </a:r>
            <a:endParaRPr lang="en-US" sz="1000" dirty="0"/>
          </a:p>
        </p:txBody>
      </p:sp>
      <p:sp>
        <p:nvSpPr>
          <p:cNvPr id="100" name="Shape 81"/>
          <p:cNvSpPr/>
          <p:nvPr/>
        </p:nvSpPr>
        <p:spPr>
          <a:xfrm>
            <a:off x="6675120" y="576986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101" name="Image 16" descr="preencoded.png">    </p:cNvPr>
          <p:cNvPicPr>
            <a:picLocks noChangeAspect="1"/>
          </p:cNvPicPr>
          <p:nvPr/>
        </p:nvPicPr>
        <p:blipFill>
          <a:blip r:embed="rId17"/>
          <a:stretch>
            <a:fillRect/>
          </a:stretch>
        </p:blipFill>
        <p:spPr>
          <a:xfrm>
            <a:off x="6865196" y="5838444"/>
            <a:ext cx="155448" cy="155448"/>
          </a:xfrm>
          <a:prstGeom prst="rect">
            <a:avLst/>
          </a:prstGeom>
        </p:spPr>
      </p:pic>
      <p:sp>
        <p:nvSpPr>
          <p:cNvPr id="102" name="Text 82"/>
          <p:cNvSpPr txBox="1"/>
          <p:nvPr/>
        </p:nvSpPr>
        <p:spPr>
          <a:xfrm>
            <a:off x="7084652" y="5769864"/>
            <a:ext cx="726271"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Documents</a:t>
            </a:r>
            <a:endParaRPr lang="en-US" sz="1000" dirty="0"/>
          </a:p>
        </p:txBody>
      </p:sp>
      <p:sp>
        <p:nvSpPr>
          <p:cNvPr id="103" name="Text 83"/>
          <p:cNvSpPr txBox="1"/>
          <p:nvPr/>
        </p:nvSpPr>
        <p:spPr>
          <a:xfrm>
            <a:off x="8412480" y="430682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Chat</a:t>
            </a:r>
            <a:endParaRPr lang="en-US" sz="1000" dirty="0"/>
          </a:p>
        </p:txBody>
      </p:sp>
      <p:sp>
        <p:nvSpPr>
          <p:cNvPr id="104" name="Text 84"/>
          <p:cNvSpPr txBox="1"/>
          <p:nvPr/>
        </p:nvSpPr>
        <p:spPr>
          <a:xfrm>
            <a:off x="8412480" y="467258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Interview</a:t>
            </a:r>
            <a:endParaRPr lang="en-US" sz="1000" dirty="0"/>
          </a:p>
        </p:txBody>
      </p:sp>
      <p:sp>
        <p:nvSpPr>
          <p:cNvPr id="105" name="Text 85"/>
          <p:cNvSpPr txBox="1"/>
          <p:nvPr/>
        </p:nvSpPr>
        <p:spPr>
          <a:xfrm>
            <a:off x="8412480" y="503834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6" name="Text 86"/>
          <p:cNvSpPr txBox="1"/>
          <p:nvPr/>
        </p:nvSpPr>
        <p:spPr>
          <a:xfrm>
            <a:off x="8412480" y="540410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7" name="Text 87"/>
          <p:cNvSpPr txBox="1"/>
          <p:nvPr/>
        </p:nvSpPr>
        <p:spPr>
          <a:xfrm>
            <a:off x="84124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Graph Build</a:t>
            </a:r>
            <a:endParaRPr lang="en-US" sz="1000" dirty="0"/>
          </a:p>
        </p:txBody>
      </p:sp>
      <p:sp>
        <p:nvSpPr>
          <p:cNvPr id="108" name="Text 88"/>
          <p:cNvSpPr txBox="1"/>
          <p:nvPr/>
        </p:nvSpPr>
        <p:spPr>
          <a:xfrm>
            <a:off x="461772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Summarization</a:t>
            </a:r>
            <a:endParaRPr lang="en-US" sz="1000" dirty="0"/>
          </a:p>
        </p:txBody>
      </p:sp>
      <p:sp>
        <p:nvSpPr>
          <p:cNvPr id="109" name="Text 89"/>
          <p:cNvSpPr txBox="1"/>
          <p:nvPr/>
        </p:nvSpPr>
        <p:spPr>
          <a:xfrm>
            <a:off x="104698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Orchestrator</a:t>
            </a:r>
            <a:endParaRPr lang="en-US" sz="1000" dirty="0"/>
          </a:p>
        </p:txBody>
      </p:sp>
      <p:sp>
        <p:nvSpPr>
          <p:cNvPr id="110" name="Shape 90"/>
          <p:cNvSpPr/>
          <p:nvPr/>
        </p:nvSpPr>
        <p:spPr>
          <a:xfrm>
            <a:off x="7255764" y="6126480"/>
            <a:ext cx="27432" cy="27432"/>
          </a:xfrm>
          <a:prstGeom prst="ellipse">
            <a:avLst/>
          </a:prstGeom>
          <a:solidFill>
            <a:srgbClr val="52606A"/>
          </a:solidFill>
          <a:ln/>
        </p:spPr>
      </p:sp>
      <p:sp>
        <p:nvSpPr>
          <p:cNvPr id="111" name="Shape 91"/>
          <p:cNvSpPr/>
          <p:nvPr/>
        </p:nvSpPr>
        <p:spPr>
          <a:xfrm>
            <a:off x="7255764" y="6172200"/>
            <a:ext cx="27432" cy="27432"/>
          </a:xfrm>
          <a:prstGeom prst="ellipse">
            <a:avLst/>
          </a:prstGeom>
          <a:solidFill>
            <a:srgbClr val="52606A"/>
          </a:solidFill>
          <a:ln/>
        </p:spPr>
      </p:sp>
      <p:sp>
        <p:nvSpPr>
          <p:cNvPr id="112" name="Shape 92"/>
          <p:cNvSpPr/>
          <p:nvPr/>
        </p:nvSpPr>
        <p:spPr>
          <a:xfrm>
            <a:off x="7255764" y="6217920"/>
            <a:ext cx="27432" cy="27432"/>
          </a:xfrm>
          <a:prstGeom prst="ellipse">
            <a:avLst/>
          </a:prstGeom>
          <a:solidFill>
            <a:srgbClr val="52606A"/>
          </a:solidFill>
          <a:ln/>
        </p:spPr>
      </p:sp>
      <p:sp>
        <p:nvSpPr>
          <p:cNvPr id="113" name="Shape 93"/>
          <p:cNvSpPr/>
          <p:nvPr/>
        </p:nvSpPr>
        <p:spPr>
          <a:xfrm>
            <a:off x="8993124" y="6126480"/>
            <a:ext cx="27432" cy="27432"/>
          </a:xfrm>
          <a:prstGeom prst="ellipse">
            <a:avLst/>
          </a:prstGeom>
          <a:solidFill>
            <a:srgbClr val="52606A"/>
          </a:solidFill>
          <a:ln/>
        </p:spPr>
      </p:sp>
      <p:sp>
        <p:nvSpPr>
          <p:cNvPr id="114" name="Shape 94"/>
          <p:cNvSpPr/>
          <p:nvPr/>
        </p:nvSpPr>
        <p:spPr>
          <a:xfrm>
            <a:off x="8993124" y="6172200"/>
            <a:ext cx="27432" cy="27432"/>
          </a:xfrm>
          <a:prstGeom prst="ellipse">
            <a:avLst/>
          </a:prstGeom>
          <a:solidFill>
            <a:srgbClr val="52606A"/>
          </a:solidFill>
          <a:ln/>
        </p:spPr>
      </p:sp>
      <p:sp>
        <p:nvSpPr>
          <p:cNvPr id="115" name="Shape 95"/>
          <p:cNvSpPr/>
          <p:nvPr/>
        </p:nvSpPr>
        <p:spPr>
          <a:xfrm>
            <a:off x="8993124" y="6217920"/>
            <a:ext cx="27432" cy="27432"/>
          </a:xfrm>
          <a:prstGeom prst="ellipse">
            <a:avLst/>
          </a:prstGeom>
          <a:solidFill>
            <a:srgbClr val="52606A"/>
          </a:solidFill>
          <a:ln/>
        </p:spPr>
      </p:sp>
      <p:sp>
        <p:nvSpPr>
          <p:cNvPr id="116" name="Shape 96"/>
          <p:cNvSpPr/>
          <p:nvPr/>
        </p:nvSpPr>
        <p:spPr>
          <a:xfrm>
            <a:off x="8028432" y="73152"/>
            <a:ext cx="219456" cy="219456"/>
          </a:xfrm>
          <a:prstGeom prst="ellipse">
            <a:avLst/>
          </a:prstGeom>
          <a:solidFill>
            <a:srgbClr val="2F3E46"/>
          </a:solidFill>
          <a:ln/>
        </p:spPr>
      </p:sp>
      <p:sp>
        <p:nvSpPr>
          <p:cNvPr id="117" name="Text 97"/>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Mobile App</a:t>
            </a:r>
            <a:endParaRPr lang="en-US" sz="2000" dirty="0"/>
          </a:p>
        </p:txBody>
      </p:sp>
      <p:sp>
        <p:nvSpPr>
          <p:cNvPr id="4" name="Shape 1"/>
          <p:cNvSpPr/>
          <p:nvPr/>
        </p:nvSpPr>
        <p:spPr>
          <a:xfrm>
            <a:off x="1182548"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5" name="Shape 2"/>
          <p:cNvSpPr/>
          <p:nvPr/>
        </p:nvSpPr>
        <p:spPr>
          <a:xfrm>
            <a:off x="1347140"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 name="Text 3"/>
          <p:cNvSpPr txBox="1"/>
          <p:nvPr/>
        </p:nvSpPr>
        <p:spPr>
          <a:xfrm>
            <a:off x="1475156" y="141732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COMPONENT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Consistency guard on every change</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Reacts to every change in the knowledge base so it stays consistent at all times, despite free access.</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Groups related changes into a transaction</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Validates types and references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Raises what it cannot fix as an issue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Updates the index and metrics database</a:t>
            </a:r>
            <a:endParaRPr lang="en-US" sz="800" dirty="0"/>
          </a:p>
        </p:txBody>
      </p:sp>
      <p:sp>
        <p:nvSpPr>
          <p:cNvPr id="7" name="Shape 4"/>
          <p:cNvSpPr/>
          <p:nvPr/>
        </p:nvSpPr>
        <p:spPr>
          <a:xfrm>
            <a:off x="2005508" y="4443984"/>
            <a:ext cx="155448" cy="0"/>
          </a:xfrm>
          <a:prstGeom prst="line">
            <a:avLst/>
          </a:prstGeom>
          <a:noFill/>
          <a:ln w="12700">
            <a:solidFill>
              <a:srgbClr val="2F3E46"/>
            </a:solidFill>
            <a:prstDash val="solid"/>
            <a:tailEnd type="triangle"/>
          </a:ln>
        </p:spPr>
      </p:sp>
      <p:sp>
        <p:nvSpPr>
          <p:cNvPr id="8" name="Shape 5"/>
          <p:cNvSpPr/>
          <p:nvPr/>
        </p:nvSpPr>
        <p:spPr>
          <a:xfrm>
            <a:off x="2691308" y="4443984"/>
            <a:ext cx="155448" cy="0"/>
          </a:xfrm>
          <a:prstGeom prst="line">
            <a:avLst/>
          </a:prstGeom>
          <a:noFill/>
          <a:ln w="12700">
            <a:solidFill>
              <a:srgbClr val="2F3E46"/>
            </a:solidFill>
            <a:prstDash val="solid"/>
            <a:tailEnd type="triangle"/>
          </a:ln>
        </p:spPr>
      </p:sp>
      <p:sp>
        <p:nvSpPr>
          <p:cNvPr id="9" name="Shape 6"/>
          <p:cNvSpPr/>
          <p:nvPr/>
        </p:nvSpPr>
        <p:spPr>
          <a:xfrm>
            <a:off x="2426132" y="4626864"/>
            <a:ext cx="0" cy="310896"/>
          </a:xfrm>
          <a:prstGeom prst="line">
            <a:avLst/>
          </a:prstGeom>
          <a:noFill/>
          <a:ln w="12700">
            <a:solidFill>
              <a:srgbClr val="2F3E46"/>
            </a:solidFill>
            <a:prstDash val="solid"/>
            <a:tailEnd type="triangle"/>
          </a:ln>
        </p:spPr>
      </p:sp>
      <p:sp>
        <p:nvSpPr>
          <p:cNvPr id="10" name="Text 7"/>
          <p:cNvSpPr txBox="1"/>
          <p:nvPr/>
        </p:nvSpPr>
        <p:spPr>
          <a:xfrm>
            <a:off x="14751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Run</a:t>
            </a:r>
            <a:endParaRPr lang="en-US" sz="850" dirty="0"/>
          </a:p>
        </p:txBody>
      </p:sp>
      <p:sp>
        <p:nvSpPr>
          <p:cNvPr id="11" name="Text 8"/>
          <p:cNvSpPr txBox="1"/>
          <p:nvPr/>
        </p:nvSpPr>
        <p:spPr>
          <a:xfrm>
            <a:off x="21609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Guard</a:t>
            </a:r>
            <a:endParaRPr lang="en-US" sz="850" dirty="0"/>
          </a:p>
        </p:txBody>
      </p:sp>
      <p:sp>
        <p:nvSpPr>
          <p:cNvPr id="12" name="Text 9"/>
          <p:cNvSpPr txBox="1"/>
          <p:nvPr/>
        </p:nvSpPr>
        <p:spPr>
          <a:xfrm>
            <a:off x="28467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Main line</a:t>
            </a:r>
            <a:endParaRPr lang="en-US" sz="850" dirty="0"/>
          </a:p>
        </p:txBody>
      </p:sp>
      <p:sp>
        <p:nvSpPr>
          <p:cNvPr id="13" name="Text 10"/>
          <p:cNvSpPr txBox="1"/>
          <p:nvPr/>
        </p:nvSpPr>
        <p:spPr>
          <a:xfrm>
            <a:off x="2160956" y="4937760"/>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Issue</a:t>
            </a:r>
            <a:endParaRPr lang="en-US" sz="850" dirty="0"/>
          </a:p>
        </p:txBody>
      </p:sp>
      <p:sp>
        <p:nvSpPr>
          <p:cNvPr id="14" name="Shape 11"/>
          <p:cNvSpPr/>
          <p:nvPr/>
        </p:nvSpPr>
        <p:spPr>
          <a:xfrm>
            <a:off x="1273988" y="5696712"/>
            <a:ext cx="2304288" cy="566928"/>
          </a:xfrm>
          <a:prstGeom prst="rect">
            <a:avLst/>
          </a:prstGeom>
          <a:solidFill>
            <a:srgbClr val="F7F5F0"/>
          </a:solidFill>
          <a:ln/>
        </p:spPr>
      </p:sp>
      <p:sp>
        <p:nvSpPr>
          <p:cNvPr id="15" name="Shape 12"/>
          <p:cNvSpPr/>
          <p:nvPr/>
        </p:nvSpPr>
        <p:spPr>
          <a:xfrm>
            <a:off x="1273988" y="5696712"/>
            <a:ext cx="2304288" cy="0"/>
          </a:xfrm>
          <a:prstGeom prst="line">
            <a:avLst/>
          </a:prstGeom>
          <a:noFill/>
          <a:ln w="9525">
            <a:solidFill>
              <a:srgbClr val="D5D9D3"/>
            </a:solidFill>
            <a:prstDash val="solid"/>
          </a:ln>
        </p:spPr>
      </p:sp>
      <p:pic>
        <p:nvPicPr>
          <p:cNvPr id="16" name="Image 0" descr="preencoded.png">    </p:cNvPr>
          <p:cNvPicPr>
            <a:picLocks noChangeAspect="1"/>
          </p:cNvPicPr>
          <p:nvPr/>
        </p:nvPicPr>
        <p:blipFill>
          <a:blip r:embed="rId1"/>
          <a:stretch>
            <a:fillRect/>
          </a:stretch>
        </p:blipFill>
        <p:spPr>
          <a:xfrm>
            <a:off x="1412977" y="5788152"/>
            <a:ext cx="182880" cy="182880"/>
          </a:xfrm>
          <a:prstGeom prst="rect">
            <a:avLst/>
          </a:prstGeom>
        </p:spPr>
      </p:pic>
      <p:sp>
        <p:nvSpPr>
          <p:cNvPr id="17" name="Text 13"/>
          <p:cNvSpPr txBox="1"/>
          <p:nvPr/>
        </p:nvSpPr>
        <p:spPr>
          <a:xfrm>
            <a:off x="1273988"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18" name="Image 1" descr="preencoded.png">    </p:cNvPr>
          <p:cNvPicPr>
            <a:picLocks noChangeAspect="1"/>
          </p:cNvPicPr>
          <p:nvPr/>
        </p:nvPicPr>
        <p:blipFill>
          <a:blip r:embed="rId2"/>
          <a:stretch>
            <a:fillRect/>
          </a:stretch>
        </p:blipFill>
        <p:spPr>
          <a:xfrm>
            <a:off x="1873834" y="5788152"/>
            <a:ext cx="182880" cy="182880"/>
          </a:xfrm>
          <a:prstGeom prst="rect">
            <a:avLst/>
          </a:prstGeom>
        </p:spPr>
      </p:pic>
      <p:sp>
        <p:nvSpPr>
          <p:cNvPr id="19" name="Text 14"/>
          <p:cNvSpPr txBox="1"/>
          <p:nvPr/>
        </p:nvSpPr>
        <p:spPr>
          <a:xfrm>
            <a:off x="173484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20" name="Image 2" descr="preencoded.png">    </p:cNvPr>
          <p:cNvPicPr>
            <a:picLocks noChangeAspect="1"/>
          </p:cNvPicPr>
          <p:nvPr/>
        </p:nvPicPr>
        <p:blipFill>
          <a:blip r:embed="rId3"/>
          <a:stretch>
            <a:fillRect/>
          </a:stretch>
        </p:blipFill>
        <p:spPr>
          <a:xfrm>
            <a:off x="2334692" y="5788152"/>
            <a:ext cx="182880" cy="182880"/>
          </a:xfrm>
          <a:prstGeom prst="rect">
            <a:avLst/>
          </a:prstGeom>
        </p:spPr>
      </p:pic>
      <p:sp>
        <p:nvSpPr>
          <p:cNvPr id="21" name="Text 15"/>
          <p:cNvSpPr txBox="1"/>
          <p:nvPr/>
        </p:nvSpPr>
        <p:spPr>
          <a:xfrm>
            <a:off x="2195703"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22" name="Image 3" descr="preencoded.png">    </p:cNvPr>
          <p:cNvPicPr>
            <a:picLocks noChangeAspect="1"/>
          </p:cNvPicPr>
          <p:nvPr/>
        </p:nvPicPr>
        <p:blipFill>
          <a:blip r:embed="rId4"/>
          <a:stretch>
            <a:fillRect/>
          </a:stretch>
        </p:blipFill>
        <p:spPr>
          <a:xfrm>
            <a:off x="2795549" y="5788152"/>
            <a:ext cx="182880" cy="182880"/>
          </a:xfrm>
          <a:prstGeom prst="rect">
            <a:avLst/>
          </a:prstGeom>
        </p:spPr>
      </p:pic>
      <p:sp>
        <p:nvSpPr>
          <p:cNvPr id="23" name="Text 16"/>
          <p:cNvSpPr txBox="1"/>
          <p:nvPr/>
        </p:nvSpPr>
        <p:spPr>
          <a:xfrm>
            <a:off x="2656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Timeline</a:t>
            </a:r>
            <a:endParaRPr lang="en-US" sz="700" dirty="0"/>
          </a:p>
        </p:txBody>
      </p:sp>
      <p:pic>
        <p:nvPicPr>
          <p:cNvPr id="24" name="Image 4" descr="preencoded.png">    </p:cNvPr>
          <p:cNvPicPr>
            <a:picLocks noChangeAspect="1"/>
          </p:cNvPicPr>
          <p:nvPr/>
        </p:nvPicPr>
        <p:blipFill>
          <a:blip r:embed="rId5"/>
          <a:stretch>
            <a:fillRect/>
          </a:stretch>
        </p:blipFill>
        <p:spPr>
          <a:xfrm>
            <a:off x="3256407" y="5788152"/>
            <a:ext cx="182880" cy="182880"/>
          </a:xfrm>
          <a:prstGeom prst="rect">
            <a:avLst/>
          </a:prstGeom>
        </p:spPr>
      </p:pic>
      <p:sp>
        <p:nvSpPr>
          <p:cNvPr id="25" name="Text 17"/>
          <p:cNvSpPr txBox="1"/>
          <p:nvPr/>
        </p:nvSpPr>
        <p:spPr>
          <a:xfrm>
            <a:off x="3117418"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sp>
        <p:nvSpPr>
          <p:cNvPr id="26" name="Shape 18"/>
          <p:cNvSpPr/>
          <p:nvPr/>
        </p:nvSpPr>
        <p:spPr>
          <a:xfrm>
            <a:off x="1228268" y="1005840"/>
            <a:ext cx="2395728" cy="5303520"/>
          </a:xfrm>
          <a:prstGeom prst="roundRect">
            <a:avLst>
              <a:gd name="adj" fmla="val 11832"/>
            </a:avLst>
          </a:prstGeom>
          <a:ln w="91440">
            <a:solidFill>
              <a:srgbClr val="2F3E46"/>
            </a:solidFill>
            <a:prstDash val="solid"/>
          </a:ln>
        </p:spPr>
      </p:sp>
      <p:sp>
        <p:nvSpPr>
          <p:cNvPr id="27" name="Shape 19"/>
          <p:cNvSpPr/>
          <p:nvPr/>
        </p:nvSpPr>
        <p:spPr>
          <a:xfrm>
            <a:off x="2078660" y="1088136"/>
            <a:ext cx="694944" cy="128016"/>
          </a:xfrm>
          <a:prstGeom prst="roundRect">
            <a:avLst>
              <a:gd name="adj" fmla="val 50000"/>
            </a:avLst>
          </a:prstGeom>
          <a:solidFill>
            <a:srgbClr val="2F3E46"/>
          </a:solidFill>
          <a:ln/>
        </p:spPr>
      </p:sp>
      <p:sp>
        <p:nvSpPr>
          <p:cNvPr id="28" name="Text 20"/>
          <p:cNvSpPr txBox="1"/>
          <p:nvPr/>
        </p:nvSpPr>
        <p:spPr>
          <a:xfrm>
            <a:off x="816788"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Entity cards</a:t>
            </a:r>
            <a:endParaRPr lang="en-US" sz="1000" dirty="0"/>
          </a:p>
        </p:txBody>
      </p:sp>
      <p:sp>
        <p:nvSpPr>
          <p:cNvPr id="29" name="Shape 21"/>
          <p:cNvSpPr/>
          <p:nvPr/>
        </p:nvSpPr>
        <p:spPr>
          <a:xfrm>
            <a:off x="4852264"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30" name="Shape 22"/>
          <p:cNvSpPr/>
          <p:nvPr/>
        </p:nvSpPr>
        <p:spPr>
          <a:xfrm>
            <a:off x="4943704" y="1051560"/>
            <a:ext cx="2304288" cy="4645152"/>
          </a:xfrm>
          <a:prstGeom prst="rect">
            <a:avLst/>
          </a:prstGeom>
          <a:solidFill>
            <a:srgbClr val="DCE7DF"/>
          </a:solidFill>
          <a:ln/>
        </p:spPr>
      </p:sp>
      <p:sp>
        <p:nvSpPr>
          <p:cNvPr id="31" name="Shape 23"/>
          <p:cNvSpPr/>
          <p:nvPr/>
        </p:nvSpPr>
        <p:spPr>
          <a:xfrm rot="150000">
            <a:off x="5053432"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32" name="Text 24"/>
          <p:cNvSpPr txBox="1"/>
          <p:nvPr/>
        </p:nvSpPr>
        <p:spPr>
          <a:xfrm rot="150000">
            <a:off x="5221333"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DECISION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Remote access over a private mesh</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No port is exposed to the public internet; clients reach the machine through a WireGuard mesh.</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API listens only on the mesh</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One key per enrolled device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Lost devices revoked centrally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shared secret in clients</a:t>
            </a:r>
            <a:endParaRPr lang="en-US" sz="800" dirty="0"/>
          </a:p>
        </p:txBody>
      </p:sp>
      <p:sp>
        <p:nvSpPr>
          <p:cNvPr id="33" name="Text 25"/>
          <p:cNvSpPr txBox="1"/>
          <p:nvPr/>
        </p:nvSpPr>
        <p:spPr>
          <a:xfrm rot="150000">
            <a:off x="5142952" y="4187409"/>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Layer</a:t>
            </a:r>
            <a:endParaRPr lang="en-US" sz="850" dirty="0"/>
          </a:p>
        </p:txBody>
      </p:sp>
      <p:sp>
        <p:nvSpPr>
          <p:cNvPr id="34" name="Text 26"/>
          <p:cNvSpPr txBox="1"/>
          <p:nvPr/>
        </p:nvSpPr>
        <p:spPr>
          <a:xfrm rot="150000">
            <a:off x="5800414" y="4228890"/>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Protection</a:t>
            </a:r>
            <a:endParaRPr lang="en-US" sz="850" dirty="0"/>
          </a:p>
        </p:txBody>
      </p:sp>
      <p:sp>
        <p:nvSpPr>
          <p:cNvPr id="35" name="Text 27"/>
          <p:cNvSpPr txBox="1"/>
          <p:nvPr/>
        </p:nvSpPr>
        <p:spPr>
          <a:xfrm rot="150000">
            <a:off x="5130986" y="4461468"/>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Tunnel</a:t>
            </a:r>
            <a:endParaRPr lang="en-US" sz="850" dirty="0"/>
          </a:p>
        </p:txBody>
      </p:sp>
      <p:sp>
        <p:nvSpPr>
          <p:cNvPr id="36" name="Text 28"/>
          <p:cNvSpPr txBox="1"/>
          <p:nvPr/>
        </p:nvSpPr>
        <p:spPr>
          <a:xfrm rot="150000">
            <a:off x="5788449" y="45029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End-to-end encryption</a:t>
            </a:r>
            <a:endParaRPr lang="en-US" sz="850" dirty="0"/>
          </a:p>
        </p:txBody>
      </p:sp>
      <p:sp>
        <p:nvSpPr>
          <p:cNvPr id="37" name="Text 29"/>
          <p:cNvSpPr txBox="1"/>
          <p:nvPr/>
        </p:nvSpPr>
        <p:spPr>
          <a:xfrm rot="150000">
            <a:off x="5119020" y="4735527"/>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API</a:t>
            </a:r>
            <a:endParaRPr lang="en-US" sz="850" dirty="0"/>
          </a:p>
        </p:txBody>
      </p:sp>
      <p:sp>
        <p:nvSpPr>
          <p:cNvPr id="38" name="Text 30"/>
          <p:cNvSpPr txBox="1"/>
          <p:nvPr/>
        </p:nvSpPr>
        <p:spPr>
          <a:xfrm rot="150000">
            <a:off x="5776483" y="4777008"/>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Per-user session</a:t>
            </a:r>
            <a:endParaRPr lang="en-US" sz="850" dirty="0"/>
          </a:p>
        </p:txBody>
      </p:sp>
      <p:sp>
        <p:nvSpPr>
          <p:cNvPr id="39" name="Text 31"/>
          <p:cNvSpPr txBox="1"/>
          <p:nvPr/>
        </p:nvSpPr>
        <p:spPr>
          <a:xfrm rot="150000">
            <a:off x="5107055" y="5009586"/>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Edge</a:t>
            </a:r>
            <a:endParaRPr lang="en-US" sz="850" dirty="0"/>
          </a:p>
        </p:txBody>
      </p:sp>
      <p:sp>
        <p:nvSpPr>
          <p:cNvPr id="40" name="Text 32"/>
          <p:cNvSpPr txBox="1"/>
          <p:nvPr/>
        </p:nvSpPr>
        <p:spPr>
          <a:xfrm rot="150000">
            <a:off x="5764517" y="5051067"/>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No inbound firewall rule</a:t>
            </a:r>
            <a:endParaRPr lang="en-US" sz="850" dirty="0"/>
          </a:p>
        </p:txBody>
      </p:sp>
      <p:sp>
        <p:nvSpPr>
          <p:cNvPr id="41" name="Text 33"/>
          <p:cNvSpPr txBox="1"/>
          <p:nvPr/>
        </p:nvSpPr>
        <p:spPr>
          <a:xfrm rot="21150000">
            <a:off x="5171067" y="3747748"/>
            <a:ext cx="1005840" cy="292608"/>
          </a:xfrm>
          <a:prstGeom prst="roundRect">
            <a:avLst>
              <a:gd name="adj" fmla="val 18750"/>
            </a:avLst>
          </a:prstGeom>
          <a:solidFill>
            <a:srgbClr val="FFFFFF"/>
          </a:solidFill>
          <a:ln w="25400">
            <a:solidFill>
              <a:srgbClr val="3F6B52"/>
            </a:solidFill>
          </a:ln>
        </p:spPr>
        <p:txBody>
          <a:bodyPr wrap="square" lIns="0" tIns="0" rIns="0" bIns="0" rtlCol="0" anchor="ctr"/>
          <a:lstStyle/>
          <a:p>
            <a:pPr algn="ctr" indent="0" marL="0">
              <a:buNone/>
            </a:pPr>
            <a:r>
              <a:rPr lang="en-US" sz="1000" b="1" spc="150" kern="0" dirty="0">
                <a:solidFill>
                  <a:srgbClr val="3F6B52"/>
                </a:solidFill>
                <a:latin typeface="Calibri" pitchFamily="34" charset="0"/>
                <a:ea typeface="Calibri" pitchFamily="34" charset="-122"/>
                <a:cs typeface="Calibri" pitchFamily="34" charset="-120"/>
              </a:rPr>
              <a:t>APPROVE</a:t>
            </a:r>
            <a:endParaRPr lang="en-US" sz="1000" dirty="0"/>
          </a:p>
        </p:txBody>
      </p:sp>
      <p:sp>
        <p:nvSpPr>
          <p:cNvPr id="42" name="Shape 34"/>
          <p:cNvSpPr/>
          <p:nvPr/>
        </p:nvSpPr>
        <p:spPr>
          <a:xfrm>
            <a:off x="6299703" y="3823915"/>
            <a:ext cx="566928" cy="0"/>
          </a:xfrm>
          <a:prstGeom prst="line">
            <a:avLst/>
          </a:prstGeom>
          <a:noFill/>
          <a:ln w="25400">
            <a:solidFill>
              <a:srgbClr val="2F3E46">
                <a:alpha val="85000"/>
              </a:srgbClr>
            </a:solidFill>
            <a:prstDash val="solid"/>
            <a:tailEnd type="triangle"/>
          </a:ln>
        </p:spPr>
      </p:sp>
      <p:pic>
        <p:nvPicPr>
          <p:cNvPr id="43" name="Image 5" descr="preencoded.png">    </p:cNvPr>
          <p:cNvPicPr>
            <a:picLocks noChangeAspect="1"/>
          </p:cNvPicPr>
          <p:nvPr/>
        </p:nvPicPr>
        <p:blipFill>
          <a:blip r:embed="rId6"/>
          <a:stretch>
            <a:fillRect/>
          </a:stretch>
        </p:blipFill>
        <p:spPr>
          <a:xfrm>
            <a:off x="6793479" y="3869635"/>
            <a:ext cx="237744" cy="237744"/>
          </a:xfrm>
          <a:prstGeom prst="rect">
            <a:avLst/>
          </a:prstGeom>
        </p:spPr>
      </p:pic>
      <p:sp>
        <p:nvSpPr>
          <p:cNvPr id="44" name="Shape 35"/>
          <p:cNvSpPr/>
          <p:nvPr/>
        </p:nvSpPr>
        <p:spPr>
          <a:xfrm>
            <a:off x="4943704" y="5696712"/>
            <a:ext cx="2304288" cy="566928"/>
          </a:xfrm>
          <a:prstGeom prst="rect">
            <a:avLst/>
          </a:prstGeom>
          <a:solidFill>
            <a:srgbClr val="F7F5F0"/>
          </a:solidFill>
          <a:ln/>
        </p:spPr>
      </p:sp>
      <p:sp>
        <p:nvSpPr>
          <p:cNvPr id="45" name="Shape 36"/>
          <p:cNvSpPr/>
          <p:nvPr/>
        </p:nvSpPr>
        <p:spPr>
          <a:xfrm>
            <a:off x="4943704" y="5696712"/>
            <a:ext cx="2304288" cy="0"/>
          </a:xfrm>
          <a:prstGeom prst="line">
            <a:avLst/>
          </a:prstGeom>
          <a:noFill/>
          <a:ln w="9525">
            <a:solidFill>
              <a:srgbClr val="D5D9D3"/>
            </a:solidFill>
            <a:prstDash val="solid"/>
          </a:ln>
        </p:spPr>
      </p:sp>
      <p:pic>
        <p:nvPicPr>
          <p:cNvPr id="46" name="Image 6" descr="preencoded.png">    </p:cNvPr>
          <p:cNvPicPr>
            <a:picLocks noChangeAspect="1"/>
          </p:cNvPicPr>
          <p:nvPr/>
        </p:nvPicPr>
        <p:blipFill>
          <a:blip r:embed="rId7"/>
          <a:stretch>
            <a:fillRect/>
          </a:stretch>
        </p:blipFill>
        <p:spPr>
          <a:xfrm>
            <a:off x="5082692" y="5788152"/>
            <a:ext cx="182880" cy="182880"/>
          </a:xfrm>
          <a:prstGeom prst="rect">
            <a:avLst/>
          </a:prstGeom>
        </p:spPr>
      </p:pic>
      <p:sp>
        <p:nvSpPr>
          <p:cNvPr id="47" name="Text 37"/>
          <p:cNvSpPr txBox="1"/>
          <p:nvPr/>
        </p:nvSpPr>
        <p:spPr>
          <a:xfrm>
            <a:off x="4943704"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48" name="Image 7" descr="preencoded.png">    </p:cNvPr>
          <p:cNvPicPr>
            <a:picLocks noChangeAspect="1"/>
          </p:cNvPicPr>
          <p:nvPr/>
        </p:nvPicPr>
        <p:blipFill>
          <a:blip r:embed="rId8"/>
          <a:stretch>
            <a:fillRect/>
          </a:stretch>
        </p:blipFill>
        <p:spPr>
          <a:xfrm>
            <a:off x="5543550" y="5788152"/>
            <a:ext cx="182880" cy="182880"/>
          </a:xfrm>
          <a:prstGeom prst="rect">
            <a:avLst/>
          </a:prstGeom>
        </p:spPr>
      </p:pic>
      <p:sp>
        <p:nvSpPr>
          <p:cNvPr id="49" name="Text 38"/>
          <p:cNvSpPr txBox="1"/>
          <p:nvPr/>
        </p:nvSpPr>
        <p:spPr>
          <a:xfrm>
            <a:off x="5404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50" name="Image 8" descr="preencoded.png">    </p:cNvPr>
          <p:cNvPicPr>
            <a:picLocks noChangeAspect="1"/>
          </p:cNvPicPr>
          <p:nvPr/>
        </p:nvPicPr>
        <p:blipFill>
          <a:blip r:embed="rId9"/>
          <a:stretch>
            <a:fillRect/>
          </a:stretch>
        </p:blipFill>
        <p:spPr>
          <a:xfrm>
            <a:off x="6004408" y="5788152"/>
            <a:ext cx="182880" cy="182880"/>
          </a:xfrm>
          <a:prstGeom prst="rect">
            <a:avLst/>
          </a:prstGeom>
        </p:spPr>
      </p:pic>
      <p:sp>
        <p:nvSpPr>
          <p:cNvPr id="51" name="Text 39"/>
          <p:cNvSpPr txBox="1"/>
          <p:nvPr/>
        </p:nvSpPr>
        <p:spPr>
          <a:xfrm>
            <a:off x="5865419"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52" name="Image 9" descr="preencoded.png">    </p:cNvPr>
          <p:cNvPicPr>
            <a:picLocks noChangeAspect="1"/>
          </p:cNvPicPr>
          <p:nvPr/>
        </p:nvPicPr>
        <p:blipFill>
          <a:blip r:embed="rId10"/>
          <a:stretch>
            <a:fillRect/>
          </a:stretch>
        </p:blipFill>
        <p:spPr>
          <a:xfrm>
            <a:off x="6465265" y="5788152"/>
            <a:ext cx="182880" cy="182880"/>
          </a:xfrm>
          <a:prstGeom prst="rect">
            <a:avLst/>
          </a:prstGeom>
        </p:spPr>
      </p:pic>
      <p:sp>
        <p:nvSpPr>
          <p:cNvPr id="53" name="Text 40"/>
          <p:cNvSpPr txBox="1"/>
          <p:nvPr/>
        </p:nvSpPr>
        <p:spPr>
          <a:xfrm>
            <a:off x="6326276"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Timeline</a:t>
            </a:r>
            <a:endParaRPr lang="en-US" sz="700" dirty="0"/>
          </a:p>
        </p:txBody>
      </p:sp>
      <p:pic>
        <p:nvPicPr>
          <p:cNvPr id="54" name="Image 10" descr="preencoded.png">    </p:cNvPr>
          <p:cNvPicPr>
            <a:picLocks noChangeAspect="1"/>
          </p:cNvPicPr>
          <p:nvPr/>
        </p:nvPicPr>
        <p:blipFill>
          <a:blip r:embed="rId11"/>
          <a:stretch>
            <a:fillRect/>
          </a:stretch>
        </p:blipFill>
        <p:spPr>
          <a:xfrm>
            <a:off x="6926123" y="5788152"/>
            <a:ext cx="182880" cy="182880"/>
          </a:xfrm>
          <a:prstGeom prst="rect">
            <a:avLst/>
          </a:prstGeom>
        </p:spPr>
      </p:pic>
      <p:sp>
        <p:nvSpPr>
          <p:cNvPr id="55" name="Text 41"/>
          <p:cNvSpPr txBox="1"/>
          <p:nvPr/>
        </p:nvSpPr>
        <p:spPr>
          <a:xfrm>
            <a:off x="6787134"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sp>
        <p:nvSpPr>
          <p:cNvPr id="56" name="Shape 42"/>
          <p:cNvSpPr/>
          <p:nvPr/>
        </p:nvSpPr>
        <p:spPr>
          <a:xfrm>
            <a:off x="4897984" y="1005840"/>
            <a:ext cx="2395728" cy="5303520"/>
          </a:xfrm>
          <a:prstGeom prst="roundRect">
            <a:avLst>
              <a:gd name="adj" fmla="val 11832"/>
            </a:avLst>
          </a:prstGeom>
          <a:ln w="91440">
            <a:solidFill>
              <a:srgbClr val="2F3E46"/>
            </a:solidFill>
            <a:prstDash val="solid"/>
          </a:ln>
        </p:spPr>
      </p:sp>
      <p:sp>
        <p:nvSpPr>
          <p:cNvPr id="57" name="Shape 43"/>
          <p:cNvSpPr/>
          <p:nvPr/>
        </p:nvSpPr>
        <p:spPr>
          <a:xfrm>
            <a:off x="5748376" y="1088136"/>
            <a:ext cx="694944" cy="128016"/>
          </a:xfrm>
          <a:prstGeom prst="roundRect">
            <a:avLst>
              <a:gd name="adj" fmla="val 50000"/>
            </a:avLst>
          </a:prstGeom>
          <a:solidFill>
            <a:srgbClr val="2F3E46"/>
          </a:solidFill>
          <a:ln/>
        </p:spPr>
      </p:sp>
      <p:sp>
        <p:nvSpPr>
          <p:cNvPr id="58" name="Text 44"/>
          <p:cNvSpPr txBox="1"/>
          <p:nvPr/>
        </p:nvSpPr>
        <p:spPr>
          <a:xfrm>
            <a:off x="4486504"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right to approve</a:t>
            </a:r>
            <a:endParaRPr lang="en-US" sz="1000" dirty="0"/>
          </a:p>
        </p:txBody>
      </p:sp>
      <p:sp>
        <p:nvSpPr>
          <p:cNvPr id="59" name="Shape 45"/>
          <p:cNvSpPr/>
          <p:nvPr/>
        </p:nvSpPr>
        <p:spPr>
          <a:xfrm>
            <a:off x="8521979"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60" name="Shape 46"/>
          <p:cNvSpPr/>
          <p:nvPr/>
        </p:nvSpPr>
        <p:spPr>
          <a:xfrm>
            <a:off x="8613419" y="1051560"/>
            <a:ext cx="2304288" cy="4645152"/>
          </a:xfrm>
          <a:prstGeom prst="rect">
            <a:avLst/>
          </a:prstGeom>
          <a:solidFill>
            <a:srgbClr val="F4DCD6"/>
          </a:solidFill>
          <a:ln/>
        </p:spPr>
      </p:sp>
      <p:sp>
        <p:nvSpPr>
          <p:cNvPr id="61" name="Shape 47"/>
          <p:cNvSpPr/>
          <p:nvPr/>
        </p:nvSpPr>
        <p:spPr>
          <a:xfrm rot="21450000">
            <a:off x="8649995"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2" name="Text 48"/>
          <p:cNvSpPr txBox="1"/>
          <p:nvPr/>
        </p:nvSpPr>
        <p:spPr>
          <a:xfrm rot="21450000">
            <a:off x="8738126"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FEATURE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Attention feed ranking</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Ranks what should be done right now so the product ends up the best it can be.</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One feed across enabled projects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Items are entities of any type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project priority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Read straight from the index</a:t>
            </a:r>
            <a:endParaRPr lang="en-US" sz="800" dirty="0"/>
          </a:p>
        </p:txBody>
      </p:sp>
      <p:sp>
        <p:nvSpPr>
          <p:cNvPr id="63" name="Text 49"/>
          <p:cNvSpPr txBox="1"/>
          <p:nvPr/>
        </p:nvSpPr>
        <p:spPr>
          <a:xfrm rot="21450000">
            <a:off x="8817691" y="4241653"/>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Parameter</a:t>
            </a:r>
            <a:endParaRPr lang="en-US" sz="850" dirty="0"/>
          </a:p>
        </p:txBody>
      </p:sp>
      <p:sp>
        <p:nvSpPr>
          <p:cNvPr id="64" name="Text 50"/>
          <p:cNvSpPr txBox="1"/>
          <p:nvPr/>
        </p:nvSpPr>
        <p:spPr>
          <a:xfrm rot="21450000">
            <a:off x="9475154" y="4200172"/>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Measures</a:t>
            </a:r>
            <a:endParaRPr lang="en-US" sz="850" dirty="0"/>
          </a:p>
        </p:txBody>
      </p:sp>
      <p:sp>
        <p:nvSpPr>
          <p:cNvPr id="65" name="Text 51"/>
          <p:cNvSpPr txBox="1"/>
          <p:nvPr/>
        </p:nvSpPr>
        <p:spPr>
          <a:xfrm rot="21450000">
            <a:off x="8829657" y="4515712"/>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Product</a:t>
            </a:r>
            <a:endParaRPr lang="en-US" sz="850" dirty="0"/>
          </a:p>
        </p:txBody>
      </p:sp>
      <p:sp>
        <p:nvSpPr>
          <p:cNvPr id="66" name="Text 52"/>
          <p:cNvSpPr txBox="1"/>
          <p:nvPr/>
        </p:nvSpPr>
        <p:spPr>
          <a:xfrm rot="21450000">
            <a:off x="9487120" y="4474231"/>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product</a:t>
            </a:r>
            <a:endParaRPr lang="en-US" sz="850" dirty="0"/>
          </a:p>
        </p:txBody>
      </p:sp>
      <p:sp>
        <p:nvSpPr>
          <p:cNvPr id="67" name="Text 53"/>
          <p:cNvSpPr txBox="1"/>
          <p:nvPr/>
        </p:nvSpPr>
        <p:spPr>
          <a:xfrm rot="21450000">
            <a:off x="8841622" y="4789771"/>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Timeline</a:t>
            </a:r>
            <a:endParaRPr lang="en-US" sz="850" dirty="0"/>
          </a:p>
        </p:txBody>
      </p:sp>
      <p:sp>
        <p:nvSpPr>
          <p:cNvPr id="68" name="Text 54"/>
          <p:cNvSpPr txBox="1"/>
          <p:nvPr/>
        </p:nvSpPr>
        <p:spPr>
          <a:xfrm rot="21450000">
            <a:off x="9499085" y="4748290"/>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timeline</a:t>
            </a:r>
            <a:endParaRPr lang="en-US" sz="850" dirty="0"/>
          </a:p>
        </p:txBody>
      </p:sp>
      <p:sp>
        <p:nvSpPr>
          <p:cNvPr id="69" name="Text 55"/>
          <p:cNvSpPr txBox="1"/>
          <p:nvPr/>
        </p:nvSpPr>
        <p:spPr>
          <a:xfrm rot="21450000">
            <a:off x="8853588" y="5063830"/>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Unlocks</a:t>
            </a:r>
            <a:endParaRPr lang="en-US" sz="850" dirty="0"/>
          </a:p>
        </p:txBody>
      </p:sp>
      <p:sp>
        <p:nvSpPr>
          <p:cNvPr id="70" name="Text 56"/>
          <p:cNvSpPr txBox="1"/>
          <p:nvPr/>
        </p:nvSpPr>
        <p:spPr>
          <a:xfrm rot="21450000">
            <a:off x="9511051" y="50223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How much it unlocks</a:t>
            </a:r>
            <a:endParaRPr lang="en-US" sz="850" dirty="0"/>
          </a:p>
        </p:txBody>
      </p:sp>
      <p:sp>
        <p:nvSpPr>
          <p:cNvPr id="71" name="Text 57"/>
          <p:cNvSpPr txBox="1"/>
          <p:nvPr/>
        </p:nvSpPr>
        <p:spPr>
          <a:xfrm rot="450000">
            <a:off x="9684504" y="3747748"/>
            <a:ext cx="1005840" cy="292608"/>
          </a:xfrm>
          <a:prstGeom prst="roundRect">
            <a:avLst>
              <a:gd name="adj" fmla="val 18750"/>
            </a:avLst>
          </a:prstGeom>
          <a:solidFill>
            <a:srgbClr val="FFFFFF"/>
          </a:solidFill>
          <a:ln w="25400">
            <a:solidFill>
              <a:srgbClr val="A0402F"/>
            </a:solidFill>
          </a:ln>
        </p:spPr>
        <p:txBody>
          <a:bodyPr wrap="square" lIns="0" tIns="0" rIns="0" bIns="0" rtlCol="0" anchor="ctr"/>
          <a:lstStyle/>
          <a:p>
            <a:pPr algn="ctr" indent="0" marL="0">
              <a:buNone/>
            </a:pPr>
            <a:r>
              <a:rPr lang="en-US" sz="1000" b="1" spc="150" kern="0" dirty="0">
                <a:solidFill>
                  <a:srgbClr val="A0402F"/>
                </a:solidFill>
                <a:latin typeface="Calibri" pitchFamily="34" charset="0"/>
                <a:ea typeface="Calibri" pitchFamily="34" charset="-122"/>
                <a:cs typeface="Calibri" pitchFamily="34" charset="-120"/>
              </a:rPr>
              <a:t>DISAPPROVE</a:t>
            </a:r>
            <a:endParaRPr lang="en-US" sz="1000" dirty="0"/>
          </a:p>
        </p:txBody>
      </p:sp>
      <p:sp>
        <p:nvSpPr>
          <p:cNvPr id="72" name="Shape 58"/>
          <p:cNvSpPr/>
          <p:nvPr/>
        </p:nvSpPr>
        <p:spPr>
          <a:xfrm flipH="1">
            <a:off x="8994780" y="3823915"/>
            <a:ext cx="566928" cy="0"/>
          </a:xfrm>
          <a:prstGeom prst="line">
            <a:avLst/>
          </a:prstGeom>
          <a:noFill/>
          <a:ln w="25400">
            <a:solidFill>
              <a:srgbClr val="2F3E46">
                <a:alpha val="85000"/>
              </a:srgbClr>
            </a:solidFill>
            <a:prstDash val="solid"/>
            <a:tailEnd type="triangle"/>
          </a:ln>
        </p:spPr>
      </p:sp>
      <p:pic>
        <p:nvPicPr>
          <p:cNvPr id="73" name="Image 11" descr="preencoded.png">    </p:cNvPr>
          <p:cNvPicPr>
            <a:picLocks noChangeAspect="1"/>
          </p:cNvPicPr>
          <p:nvPr/>
        </p:nvPicPr>
        <p:blipFill>
          <a:blip r:embed="rId12"/>
          <a:stretch>
            <a:fillRect/>
          </a:stretch>
        </p:blipFill>
        <p:spPr>
          <a:xfrm>
            <a:off x="8848476" y="3869635"/>
            <a:ext cx="237744" cy="237744"/>
          </a:xfrm>
          <a:prstGeom prst="rect">
            <a:avLst/>
          </a:prstGeom>
        </p:spPr>
      </p:pic>
      <p:sp>
        <p:nvSpPr>
          <p:cNvPr id="74" name="Shape 59"/>
          <p:cNvSpPr/>
          <p:nvPr/>
        </p:nvSpPr>
        <p:spPr>
          <a:xfrm>
            <a:off x="8613419" y="5696712"/>
            <a:ext cx="2304288" cy="566928"/>
          </a:xfrm>
          <a:prstGeom prst="rect">
            <a:avLst/>
          </a:prstGeom>
          <a:solidFill>
            <a:srgbClr val="F7F5F0"/>
          </a:solidFill>
          <a:ln/>
        </p:spPr>
      </p:sp>
      <p:sp>
        <p:nvSpPr>
          <p:cNvPr id="75" name="Shape 60"/>
          <p:cNvSpPr/>
          <p:nvPr/>
        </p:nvSpPr>
        <p:spPr>
          <a:xfrm>
            <a:off x="8613419" y="5696712"/>
            <a:ext cx="2304288" cy="0"/>
          </a:xfrm>
          <a:prstGeom prst="line">
            <a:avLst/>
          </a:prstGeom>
          <a:noFill/>
          <a:ln w="9525">
            <a:solidFill>
              <a:srgbClr val="D5D9D3"/>
            </a:solidFill>
            <a:prstDash val="solid"/>
          </a:ln>
        </p:spPr>
      </p:sp>
      <p:pic>
        <p:nvPicPr>
          <p:cNvPr id="76" name="Image 12" descr="preencoded.png">    </p:cNvPr>
          <p:cNvPicPr>
            <a:picLocks noChangeAspect="1"/>
          </p:cNvPicPr>
          <p:nvPr/>
        </p:nvPicPr>
        <p:blipFill>
          <a:blip r:embed="rId13"/>
          <a:stretch>
            <a:fillRect/>
          </a:stretch>
        </p:blipFill>
        <p:spPr>
          <a:xfrm>
            <a:off x="8752408" y="5788152"/>
            <a:ext cx="182880" cy="182880"/>
          </a:xfrm>
          <a:prstGeom prst="rect">
            <a:avLst/>
          </a:prstGeom>
        </p:spPr>
      </p:pic>
      <p:sp>
        <p:nvSpPr>
          <p:cNvPr id="77" name="Text 61"/>
          <p:cNvSpPr txBox="1"/>
          <p:nvPr/>
        </p:nvSpPr>
        <p:spPr>
          <a:xfrm>
            <a:off x="8613419"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78" name="Image 13" descr="preencoded.png">    </p:cNvPr>
          <p:cNvPicPr>
            <a:picLocks noChangeAspect="1"/>
          </p:cNvPicPr>
          <p:nvPr/>
        </p:nvPicPr>
        <p:blipFill>
          <a:blip r:embed="rId14"/>
          <a:stretch>
            <a:fillRect/>
          </a:stretch>
        </p:blipFill>
        <p:spPr>
          <a:xfrm>
            <a:off x="9213266" y="5788152"/>
            <a:ext cx="182880" cy="182880"/>
          </a:xfrm>
          <a:prstGeom prst="rect">
            <a:avLst/>
          </a:prstGeom>
        </p:spPr>
      </p:pic>
      <p:sp>
        <p:nvSpPr>
          <p:cNvPr id="79" name="Text 62"/>
          <p:cNvSpPr txBox="1"/>
          <p:nvPr/>
        </p:nvSpPr>
        <p:spPr>
          <a:xfrm>
            <a:off x="9074277"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80" name="Image 14" descr="preencoded.png">    </p:cNvPr>
          <p:cNvPicPr>
            <a:picLocks noChangeAspect="1"/>
          </p:cNvPicPr>
          <p:nvPr/>
        </p:nvPicPr>
        <p:blipFill>
          <a:blip r:embed="rId15"/>
          <a:stretch>
            <a:fillRect/>
          </a:stretch>
        </p:blipFill>
        <p:spPr>
          <a:xfrm>
            <a:off x="9674123" y="5788152"/>
            <a:ext cx="182880" cy="182880"/>
          </a:xfrm>
          <a:prstGeom prst="rect">
            <a:avLst/>
          </a:prstGeom>
        </p:spPr>
      </p:pic>
      <p:sp>
        <p:nvSpPr>
          <p:cNvPr id="81" name="Text 63"/>
          <p:cNvSpPr txBox="1"/>
          <p:nvPr/>
        </p:nvSpPr>
        <p:spPr>
          <a:xfrm>
            <a:off x="953513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82" name="Image 15" descr="preencoded.png">    </p:cNvPr>
          <p:cNvPicPr>
            <a:picLocks noChangeAspect="1"/>
          </p:cNvPicPr>
          <p:nvPr/>
        </p:nvPicPr>
        <p:blipFill>
          <a:blip r:embed="rId16"/>
          <a:stretch>
            <a:fillRect/>
          </a:stretch>
        </p:blipFill>
        <p:spPr>
          <a:xfrm>
            <a:off x="10134981" y="5788152"/>
            <a:ext cx="182880" cy="182880"/>
          </a:xfrm>
          <a:prstGeom prst="rect">
            <a:avLst/>
          </a:prstGeom>
        </p:spPr>
      </p:pic>
      <p:sp>
        <p:nvSpPr>
          <p:cNvPr id="83" name="Text 64"/>
          <p:cNvSpPr txBox="1"/>
          <p:nvPr/>
        </p:nvSpPr>
        <p:spPr>
          <a:xfrm>
            <a:off x="9995992"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Timeline</a:t>
            </a:r>
            <a:endParaRPr lang="en-US" sz="700" dirty="0"/>
          </a:p>
        </p:txBody>
      </p:sp>
      <p:pic>
        <p:nvPicPr>
          <p:cNvPr id="84" name="Image 16" descr="preencoded.png">    </p:cNvPr>
          <p:cNvPicPr>
            <a:picLocks noChangeAspect="1"/>
          </p:cNvPicPr>
          <p:nvPr/>
        </p:nvPicPr>
        <p:blipFill>
          <a:blip r:embed="rId17"/>
          <a:stretch>
            <a:fillRect/>
          </a:stretch>
        </p:blipFill>
        <p:spPr>
          <a:xfrm>
            <a:off x="10595839" y="5788152"/>
            <a:ext cx="182880" cy="182880"/>
          </a:xfrm>
          <a:prstGeom prst="rect">
            <a:avLst/>
          </a:prstGeom>
        </p:spPr>
      </p:pic>
      <p:sp>
        <p:nvSpPr>
          <p:cNvPr id="85" name="Text 65"/>
          <p:cNvSpPr txBox="1"/>
          <p:nvPr/>
        </p:nvSpPr>
        <p:spPr>
          <a:xfrm>
            <a:off x="10456850"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sp>
        <p:nvSpPr>
          <p:cNvPr id="86" name="Shape 66"/>
          <p:cNvSpPr/>
          <p:nvPr/>
        </p:nvSpPr>
        <p:spPr>
          <a:xfrm>
            <a:off x="8613419" y="1051560"/>
            <a:ext cx="2304288" cy="3255264"/>
          </a:xfrm>
          <a:prstGeom prst="rect">
            <a:avLst/>
          </a:prstGeom>
          <a:solidFill>
            <a:srgbClr val="1E293B">
              <a:alpha val="18000"/>
            </a:srgbClr>
          </a:solidFill>
          <a:ln/>
        </p:spPr>
      </p:sp>
      <p:sp>
        <p:nvSpPr>
          <p:cNvPr id="87" name="Shape 67"/>
          <p:cNvSpPr/>
          <p:nvPr/>
        </p:nvSpPr>
        <p:spPr>
          <a:xfrm>
            <a:off x="8613419" y="4306824"/>
            <a:ext cx="2304288" cy="2029968"/>
          </a:xfrm>
          <a:prstGeom prst="roundRect">
            <a:avLst>
              <a:gd name="adj" fmla="val 11712"/>
            </a:avLst>
          </a:prstGeom>
          <a:solidFill>
            <a:srgbClr val="FFFFFF"/>
          </a:solidFill>
          <a:ln/>
          <a:effectLst>
            <a:outerShdw sx="100000" sy="100000" kx="0" ky="0" algn="bl" rotWithShape="0" blurRad="127000" dist="38100" dir="16200000">
              <a:srgbClr val="1E293B">
                <a:alpha val="20000"/>
              </a:srgbClr>
            </a:outerShdw>
          </a:effectLst>
        </p:spPr>
      </p:sp>
      <p:sp>
        <p:nvSpPr>
          <p:cNvPr id="88" name="Shape 68"/>
          <p:cNvSpPr/>
          <p:nvPr/>
        </p:nvSpPr>
        <p:spPr>
          <a:xfrm>
            <a:off x="9491243" y="4398264"/>
            <a:ext cx="548640" cy="45720"/>
          </a:xfrm>
          <a:prstGeom prst="roundRect">
            <a:avLst>
              <a:gd name="adj" fmla="val 50000"/>
            </a:avLst>
          </a:prstGeom>
          <a:solidFill>
            <a:srgbClr val="D5D9D3"/>
          </a:solidFill>
          <a:ln/>
        </p:spPr>
      </p:sp>
      <p:sp>
        <p:nvSpPr>
          <p:cNvPr id="89" name="Text 69"/>
          <p:cNvSpPr txBox="1"/>
          <p:nvPr/>
        </p:nvSpPr>
        <p:spPr>
          <a:xfrm>
            <a:off x="8778011" y="4507992"/>
            <a:ext cx="1975104" cy="420624"/>
          </a:xfrm>
          <a:prstGeom prst="rect">
            <a:avLst/>
          </a:prstGeom>
          <a:noFill/>
          <a:ln/>
        </p:spPr>
        <p:txBody>
          <a:bodyPr wrap="square" lIns="0" tIns="0" rIns="0" bIns="0" rtlCol="0" anchor="ctr"/>
          <a:lstStyle/>
          <a:p>
            <a:pPr indent="0" marL="0">
              <a:buNone/>
            </a:pPr>
            <a:r>
              <a:rPr lang="en-US" sz="1300" b="1" dirty="0">
                <a:solidFill>
                  <a:srgbClr val="2F3E46"/>
                </a:solidFill>
                <a:latin typeface="Cambria" pitchFamily="34" charset="0"/>
                <a:ea typeface="Cambria" pitchFamily="34" charset="-122"/>
                <a:cs typeface="Cambria" pitchFamily="34" charset="-120"/>
              </a:rPr>
              <a:t>Disapprove</a:t>
            </a:r>
            <a:endParaRPr lang="en-US" sz="1300" dirty="0"/>
          </a:p>
        </p:txBody>
      </p:sp>
      <p:sp>
        <p:nvSpPr>
          <p:cNvPr id="90" name="Text 70"/>
          <p:cNvSpPr txBox="1"/>
          <p:nvPr/>
        </p:nvSpPr>
        <p:spPr>
          <a:xfrm>
            <a:off x="8778011" y="4983480"/>
            <a:ext cx="1975104" cy="566928"/>
          </a:xfrm>
          <a:prstGeom prst="roundRect">
            <a:avLst>
              <a:gd name="adj" fmla="val 12903"/>
            </a:avLst>
          </a:prstGeom>
          <a:solidFill>
            <a:srgbClr val="F7F5F0"/>
          </a:solidFill>
          <a:ln w="12700">
            <a:solidFill>
              <a:srgbClr val="B85042"/>
            </a:solidFill>
          </a:ln>
        </p:spPr>
        <p:txBody>
          <a:bodyPr wrap="square" lIns="101600" tIns="101600" rIns="101600" bIns="101600" rtlCol="0" anchor="t"/>
          <a:lstStyle/>
          <a:p>
            <a:pPr indent="0" marL="0">
              <a:buNone/>
            </a:pPr>
            <a:r>
              <a:rPr lang="en-US" sz="900" dirty="0">
                <a:solidFill>
                  <a:srgbClr val="2F3E46"/>
                </a:solidFill>
                <a:latin typeface="Calibri" pitchFamily="34" charset="0"/>
                <a:ea typeface="Calibri" pitchFamily="34" charset="-122"/>
                <a:cs typeface="Calibri" pitchFamily="34" charset="-120"/>
              </a:rPr>
              <a:t>Put issues above features when their scores tie.</a:t>
            </a:r>
            <a:endParaRPr lang="en-US" sz="900" dirty="0"/>
          </a:p>
        </p:txBody>
      </p:sp>
      <p:sp>
        <p:nvSpPr>
          <p:cNvPr id="91" name="Text 71"/>
          <p:cNvSpPr txBox="1"/>
          <p:nvPr/>
        </p:nvSpPr>
        <p:spPr>
          <a:xfrm>
            <a:off x="8778011" y="5660136"/>
            <a:ext cx="932688" cy="347472"/>
          </a:xfrm>
          <a:prstGeom prst="roundRect">
            <a:avLst>
              <a:gd name="adj" fmla="val 50000"/>
            </a:avLst>
          </a:prstGeom>
          <a:solidFill>
            <a:srgbClr val="FFFFFF"/>
          </a:solidFill>
          <a:ln w="12700">
            <a:solidFill>
              <a:srgbClr val="D5D9D3"/>
            </a:solidFill>
          </a:ln>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Cancel</a:t>
            </a:r>
            <a:endParaRPr lang="en-US" sz="1000" dirty="0"/>
          </a:p>
        </p:txBody>
      </p:sp>
      <p:sp>
        <p:nvSpPr>
          <p:cNvPr id="92" name="Text 72"/>
          <p:cNvSpPr txBox="1"/>
          <p:nvPr/>
        </p:nvSpPr>
        <p:spPr>
          <a:xfrm>
            <a:off x="9820427" y="5660136"/>
            <a:ext cx="932688" cy="347472"/>
          </a:xfrm>
          <a:prstGeom prst="roundRect">
            <a:avLst>
              <a:gd name="adj" fmla="val 50000"/>
            </a:avLst>
          </a:prstGeom>
          <a:solidFill>
            <a:srgbClr val="B85042"/>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Send back</a:t>
            </a:r>
            <a:endParaRPr lang="en-US" sz="1000" dirty="0"/>
          </a:p>
        </p:txBody>
      </p:sp>
      <p:sp>
        <p:nvSpPr>
          <p:cNvPr id="93" name="Shape 73"/>
          <p:cNvSpPr/>
          <p:nvPr/>
        </p:nvSpPr>
        <p:spPr>
          <a:xfrm>
            <a:off x="8567699" y="1005840"/>
            <a:ext cx="2395728" cy="5303520"/>
          </a:xfrm>
          <a:prstGeom prst="roundRect">
            <a:avLst>
              <a:gd name="adj" fmla="val 11832"/>
            </a:avLst>
          </a:prstGeom>
          <a:ln w="91440">
            <a:solidFill>
              <a:srgbClr val="2F3E46"/>
            </a:solidFill>
            <a:prstDash val="solid"/>
          </a:ln>
        </p:spPr>
      </p:sp>
      <p:sp>
        <p:nvSpPr>
          <p:cNvPr id="94" name="Shape 74"/>
          <p:cNvSpPr/>
          <p:nvPr/>
        </p:nvSpPr>
        <p:spPr>
          <a:xfrm>
            <a:off x="9418091" y="1088136"/>
            <a:ext cx="694944" cy="128016"/>
          </a:xfrm>
          <a:prstGeom prst="roundRect">
            <a:avLst>
              <a:gd name="adj" fmla="val 50000"/>
            </a:avLst>
          </a:prstGeom>
          <a:solidFill>
            <a:srgbClr val="2F3E46"/>
          </a:solidFill>
          <a:ln/>
        </p:spPr>
      </p:sp>
      <p:sp>
        <p:nvSpPr>
          <p:cNvPr id="95" name="Text 75"/>
          <p:cNvSpPr txBox="1"/>
          <p:nvPr/>
        </p:nvSpPr>
        <p:spPr>
          <a:xfrm>
            <a:off x="8156219"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left to disapprove with a comment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Agent tools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Graph completeness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guard</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resolution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2026-10-06T19:52:00Z</dcterms:created>
  <dcterms:modified xsi:type="dcterms:W3CDTF">2026-10-06T19:52:00Z</dcterms:modified>
</cp:coreProperties>
</file>