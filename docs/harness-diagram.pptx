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and patterns.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change optimization proposes passes the consistency guard, lands unverified and takes effect once the user approves it in the feed. Optimization reads every chat and proposes a skill, memory, sub-agent or definition change only for a pattern seen at least three times, as a Harness/Pattern with its evidence; nothing is learnt from one chat, and nothing takes effect before the user approves it. Runs start on demand from the chat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coverage,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every API handler, ask included, without the UI.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COMPONENT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374572" y="5788152"/>
            <a:ext cx="182880" cy="182880"/>
          </a:xfrm>
          <a:prstGeom prst="rect">
            <a:avLst/>
          </a:prstGeom>
        </p:spPr>
      </p:pic>
      <p:sp>
        <p:nvSpPr>
          <p:cNvPr id="17" name="Text 13"/>
          <p:cNvSpPr txBox="1"/>
          <p:nvPr/>
        </p:nvSpPr>
        <p:spPr>
          <a:xfrm>
            <a:off x="1273988"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758620" y="5788152"/>
            <a:ext cx="182880" cy="182880"/>
          </a:xfrm>
          <a:prstGeom prst="rect">
            <a:avLst/>
          </a:prstGeom>
        </p:spPr>
      </p:pic>
      <p:sp>
        <p:nvSpPr>
          <p:cNvPr id="19" name="Text 14"/>
          <p:cNvSpPr txBox="1"/>
          <p:nvPr/>
        </p:nvSpPr>
        <p:spPr>
          <a:xfrm>
            <a:off x="165803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142668" y="5788152"/>
            <a:ext cx="182880" cy="182880"/>
          </a:xfrm>
          <a:prstGeom prst="rect">
            <a:avLst/>
          </a:prstGeom>
        </p:spPr>
      </p:pic>
      <p:sp>
        <p:nvSpPr>
          <p:cNvPr id="21" name="Text 15"/>
          <p:cNvSpPr txBox="1"/>
          <p:nvPr/>
        </p:nvSpPr>
        <p:spPr>
          <a:xfrm>
            <a:off x="204208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526716" y="5788152"/>
            <a:ext cx="182880" cy="182880"/>
          </a:xfrm>
          <a:prstGeom prst="rect">
            <a:avLst/>
          </a:prstGeom>
        </p:spPr>
      </p:pic>
      <p:sp>
        <p:nvSpPr>
          <p:cNvPr id="23" name="Text 16"/>
          <p:cNvSpPr txBox="1"/>
          <p:nvPr/>
        </p:nvSpPr>
        <p:spPr>
          <a:xfrm>
            <a:off x="242613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24" name="Image 4" descr="preencoded.png">    </p:cNvPr>
          <p:cNvPicPr>
            <a:picLocks noChangeAspect="1"/>
          </p:cNvPicPr>
          <p:nvPr/>
        </p:nvPicPr>
        <p:blipFill>
          <a:blip r:embed="rId5"/>
          <a:stretch>
            <a:fillRect/>
          </a:stretch>
        </p:blipFill>
        <p:spPr>
          <a:xfrm>
            <a:off x="2910764" y="5788152"/>
            <a:ext cx="182880" cy="182880"/>
          </a:xfrm>
          <a:prstGeom prst="rect">
            <a:avLst/>
          </a:prstGeom>
        </p:spPr>
      </p:pic>
      <p:sp>
        <p:nvSpPr>
          <p:cNvPr id="25" name="Text 17"/>
          <p:cNvSpPr txBox="1"/>
          <p:nvPr/>
        </p:nvSpPr>
        <p:spPr>
          <a:xfrm>
            <a:off x="281018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6" name="Image 5" descr="preencoded.png">    </p:cNvPr>
          <p:cNvPicPr>
            <a:picLocks noChangeAspect="1"/>
          </p:cNvPicPr>
          <p:nvPr/>
        </p:nvPicPr>
        <p:blipFill>
          <a:blip r:embed="rId6"/>
          <a:stretch>
            <a:fillRect/>
          </a:stretch>
        </p:blipFill>
        <p:spPr>
          <a:xfrm>
            <a:off x="3294812" y="5788152"/>
            <a:ext cx="182880" cy="182880"/>
          </a:xfrm>
          <a:prstGeom prst="rect">
            <a:avLst/>
          </a:prstGeom>
        </p:spPr>
      </p:pic>
      <p:sp>
        <p:nvSpPr>
          <p:cNvPr id="27" name="Text 18"/>
          <p:cNvSpPr txBox="1"/>
          <p:nvPr/>
        </p:nvSpPr>
        <p:spPr>
          <a:xfrm>
            <a:off x="319422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8" name="Shape 19"/>
          <p:cNvSpPr/>
          <p:nvPr/>
        </p:nvSpPr>
        <p:spPr>
          <a:xfrm>
            <a:off x="1228268" y="1005840"/>
            <a:ext cx="2395728" cy="5303520"/>
          </a:xfrm>
          <a:prstGeom prst="roundRect">
            <a:avLst>
              <a:gd name="adj" fmla="val 11832"/>
            </a:avLst>
          </a:prstGeom>
          <a:ln w="91440">
            <a:solidFill>
              <a:srgbClr val="2F3E46"/>
            </a:solidFill>
            <a:prstDash val="solid"/>
          </a:ln>
        </p:spPr>
      </p:sp>
      <p:sp>
        <p:nvSpPr>
          <p:cNvPr id="29" name="Shape 20"/>
          <p:cNvSpPr/>
          <p:nvPr/>
        </p:nvSpPr>
        <p:spPr>
          <a:xfrm>
            <a:off x="2078660" y="1088136"/>
            <a:ext cx="694944" cy="128016"/>
          </a:xfrm>
          <a:prstGeom prst="roundRect">
            <a:avLst>
              <a:gd name="adj" fmla="val 50000"/>
            </a:avLst>
          </a:prstGeom>
          <a:solidFill>
            <a:srgbClr val="2F3E46"/>
          </a:solidFill>
          <a:ln/>
        </p:spPr>
      </p:sp>
      <p:sp>
        <p:nvSpPr>
          <p:cNvPr id="30" name="Text 21"/>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31" name="Shape 22"/>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2" name="Shape 23"/>
          <p:cNvSpPr/>
          <p:nvPr/>
        </p:nvSpPr>
        <p:spPr>
          <a:xfrm>
            <a:off x="4943704" y="1051560"/>
            <a:ext cx="2304288" cy="4645152"/>
          </a:xfrm>
          <a:prstGeom prst="rect">
            <a:avLst/>
          </a:prstGeom>
          <a:solidFill>
            <a:srgbClr val="DCE7DF"/>
          </a:solidFill>
          <a:ln/>
        </p:spPr>
      </p:sp>
      <p:sp>
        <p:nvSpPr>
          <p:cNvPr id="33" name="Shape 24"/>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4" name="Text 25"/>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DECISION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5" name="Text 26"/>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6" name="Text 27"/>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7" name="Text 28"/>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8" name="Text 29"/>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9" name="Text 30"/>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40" name="Text 31"/>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41" name="Text 32"/>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2" name="Text 33"/>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3" name="Text 34"/>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4" name="Shape 35"/>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5" name="Image 6" descr="preencoded.png">    </p:cNvPr>
          <p:cNvPicPr>
            <a:picLocks noChangeAspect="1"/>
          </p:cNvPicPr>
          <p:nvPr/>
        </p:nvPicPr>
        <p:blipFill>
          <a:blip r:embed="rId7"/>
          <a:stretch>
            <a:fillRect/>
          </a:stretch>
        </p:blipFill>
        <p:spPr>
          <a:xfrm>
            <a:off x="6793479" y="3869635"/>
            <a:ext cx="237744" cy="237744"/>
          </a:xfrm>
          <a:prstGeom prst="rect">
            <a:avLst/>
          </a:prstGeom>
        </p:spPr>
      </p:pic>
      <p:sp>
        <p:nvSpPr>
          <p:cNvPr id="46" name="Shape 36"/>
          <p:cNvSpPr/>
          <p:nvPr/>
        </p:nvSpPr>
        <p:spPr>
          <a:xfrm>
            <a:off x="4943704" y="5696712"/>
            <a:ext cx="2304288" cy="566928"/>
          </a:xfrm>
          <a:prstGeom prst="rect">
            <a:avLst/>
          </a:prstGeom>
          <a:solidFill>
            <a:srgbClr val="F7F5F0"/>
          </a:solidFill>
          <a:ln/>
        </p:spPr>
      </p:sp>
      <p:sp>
        <p:nvSpPr>
          <p:cNvPr id="47" name="Shape 37"/>
          <p:cNvSpPr/>
          <p:nvPr/>
        </p:nvSpPr>
        <p:spPr>
          <a:xfrm>
            <a:off x="4943704" y="5696712"/>
            <a:ext cx="2304288" cy="0"/>
          </a:xfrm>
          <a:prstGeom prst="line">
            <a:avLst/>
          </a:prstGeom>
          <a:noFill/>
          <a:ln w="9525">
            <a:solidFill>
              <a:srgbClr val="D5D9D3"/>
            </a:solidFill>
            <a:prstDash val="solid"/>
          </a:ln>
        </p:spPr>
      </p:sp>
      <p:pic>
        <p:nvPicPr>
          <p:cNvPr id="48" name="Image 7" descr="preencoded.png">    </p:cNvPr>
          <p:cNvPicPr>
            <a:picLocks noChangeAspect="1"/>
          </p:cNvPicPr>
          <p:nvPr/>
        </p:nvPicPr>
        <p:blipFill>
          <a:blip r:embed="rId8"/>
          <a:stretch>
            <a:fillRect/>
          </a:stretch>
        </p:blipFill>
        <p:spPr>
          <a:xfrm>
            <a:off x="5044288" y="5788152"/>
            <a:ext cx="182880" cy="182880"/>
          </a:xfrm>
          <a:prstGeom prst="rect">
            <a:avLst/>
          </a:prstGeom>
        </p:spPr>
      </p:pic>
      <p:sp>
        <p:nvSpPr>
          <p:cNvPr id="49" name="Text 38"/>
          <p:cNvSpPr txBox="1"/>
          <p:nvPr/>
        </p:nvSpPr>
        <p:spPr>
          <a:xfrm>
            <a:off x="4943704"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50" name="Image 8" descr="preencoded.png">    </p:cNvPr>
          <p:cNvPicPr>
            <a:picLocks noChangeAspect="1"/>
          </p:cNvPicPr>
          <p:nvPr/>
        </p:nvPicPr>
        <p:blipFill>
          <a:blip r:embed="rId9"/>
          <a:stretch>
            <a:fillRect/>
          </a:stretch>
        </p:blipFill>
        <p:spPr>
          <a:xfrm>
            <a:off x="5428336" y="5788152"/>
            <a:ext cx="182880" cy="182880"/>
          </a:xfrm>
          <a:prstGeom prst="rect">
            <a:avLst/>
          </a:prstGeom>
        </p:spPr>
      </p:pic>
      <p:sp>
        <p:nvSpPr>
          <p:cNvPr id="51" name="Text 39"/>
          <p:cNvSpPr txBox="1"/>
          <p:nvPr/>
        </p:nvSpPr>
        <p:spPr>
          <a:xfrm>
            <a:off x="532775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2" name="Image 9" descr="preencoded.png">    </p:cNvPr>
          <p:cNvPicPr>
            <a:picLocks noChangeAspect="1"/>
          </p:cNvPicPr>
          <p:nvPr/>
        </p:nvPicPr>
        <p:blipFill>
          <a:blip r:embed="rId10"/>
          <a:stretch>
            <a:fillRect/>
          </a:stretch>
        </p:blipFill>
        <p:spPr>
          <a:xfrm>
            <a:off x="5812384" y="5788152"/>
            <a:ext cx="182880" cy="182880"/>
          </a:xfrm>
          <a:prstGeom prst="rect">
            <a:avLst/>
          </a:prstGeom>
        </p:spPr>
      </p:pic>
      <p:sp>
        <p:nvSpPr>
          <p:cNvPr id="53" name="Text 40"/>
          <p:cNvSpPr txBox="1"/>
          <p:nvPr/>
        </p:nvSpPr>
        <p:spPr>
          <a:xfrm>
            <a:off x="571180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4" name="Image 10" descr="preencoded.png">    </p:cNvPr>
          <p:cNvPicPr>
            <a:picLocks noChangeAspect="1"/>
          </p:cNvPicPr>
          <p:nvPr/>
        </p:nvPicPr>
        <p:blipFill>
          <a:blip r:embed="rId11"/>
          <a:stretch>
            <a:fillRect/>
          </a:stretch>
        </p:blipFill>
        <p:spPr>
          <a:xfrm>
            <a:off x="6196432" y="5788152"/>
            <a:ext cx="182880" cy="182880"/>
          </a:xfrm>
          <a:prstGeom prst="rect">
            <a:avLst/>
          </a:prstGeom>
        </p:spPr>
      </p:pic>
      <p:sp>
        <p:nvSpPr>
          <p:cNvPr id="55" name="Text 41"/>
          <p:cNvSpPr txBox="1"/>
          <p:nvPr/>
        </p:nvSpPr>
        <p:spPr>
          <a:xfrm>
            <a:off x="609584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56" name="Image 11" descr="preencoded.png">    </p:cNvPr>
          <p:cNvPicPr>
            <a:picLocks noChangeAspect="1"/>
          </p:cNvPicPr>
          <p:nvPr/>
        </p:nvPicPr>
        <p:blipFill>
          <a:blip r:embed="rId12"/>
          <a:stretch>
            <a:fillRect/>
          </a:stretch>
        </p:blipFill>
        <p:spPr>
          <a:xfrm>
            <a:off x="6580480" y="5788152"/>
            <a:ext cx="182880" cy="182880"/>
          </a:xfrm>
          <a:prstGeom prst="rect">
            <a:avLst/>
          </a:prstGeom>
        </p:spPr>
      </p:pic>
      <p:sp>
        <p:nvSpPr>
          <p:cNvPr id="57" name="Text 42"/>
          <p:cNvSpPr txBox="1"/>
          <p:nvPr/>
        </p:nvSpPr>
        <p:spPr>
          <a:xfrm>
            <a:off x="647989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8" name="Image 12" descr="preencoded.png">    </p:cNvPr>
          <p:cNvPicPr>
            <a:picLocks noChangeAspect="1"/>
          </p:cNvPicPr>
          <p:nvPr/>
        </p:nvPicPr>
        <p:blipFill>
          <a:blip r:embed="rId13"/>
          <a:stretch>
            <a:fillRect/>
          </a:stretch>
        </p:blipFill>
        <p:spPr>
          <a:xfrm>
            <a:off x="6964528" y="5788152"/>
            <a:ext cx="182880" cy="182880"/>
          </a:xfrm>
          <a:prstGeom prst="rect">
            <a:avLst/>
          </a:prstGeom>
        </p:spPr>
      </p:pic>
      <p:sp>
        <p:nvSpPr>
          <p:cNvPr id="59" name="Text 43"/>
          <p:cNvSpPr txBox="1"/>
          <p:nvPr/>
        </p:nvSpPr>
        <p:spPr>
          <a:xfrm>
            <a:off x="686394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60" name="Shape 44"/>
          <p:cNvSpPr/>
          <p:nvPr/>
        </p:nvSpPr>
        <p:spPr>
          <a:xfrm>
            <a:off x="4897984" y="1005840"/>
            <a:ext cx="2395728" cy="5303520"/>
          </a:xfrm>
          <a:prstGeom prst="roundRect">
            <a:avLst>
              <a:gd name="adj" fmla="val 11832"/>
            </a:avLst>
          </a:prstGeom>
          <a:ln w="91440">
            <a:solidFill>
              <a:srgbClr val="2F3E46"/>
            </a:solidFill>
            <a:prstDash val="solid"/>
          </a:ln>
        </p:spPr>
      </p:sp>
      <p:sp>
        <p:nvSpPr>
          <p:cNvPr id="61" name="Shape 45"/>
          <p:cNvSpPr/>
          <p:nvPr/>
        </p:nvSpPr>
        <p:spPr>
          <a:xfrm>
            <a:off x="5748376" y="1088136"/>
            <a:ext cx="694944" cy="128016"/>
          </a:xfrm>
          <a:prstGeom prst="roundRect">
            <a:avLst>
              <a:gd name="adj" fmla="val 50000"/>
            </a:avLst>
          </a:prstGeom>
          <a:solidFill>
            <a:srgbClr val="2F3E46"/>
          </a:solidFill>
          <a:ln/>
        </p:spPr>
      </p:sp>
      <p:sp>
        <p:nvSpPr>
          <p:cNvPr id="62" name="Text 46"/>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63" name="Shape 47"/>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4" name="Shape 48"/>
          <p:cNvSpPr/>
          <p:nvPr/>
        </p:nvSpPr>
        <p:spPr>
          <a:xfrm>
            <a:off x="8613419" y="1051560"/>
            <a:ext cx="2304288" cy="4645152"/>
          </a:xfrm>
          <a:prstGeom prst="rect">
            <a:avLst/>
          </a:prstGeom>
          <a:solidFill>
            <a:srgbClr val="F4DCD6"/>
          </a:solidFill>
          <a:ln/>
        </p:spPr>
      </p:sp>
      <p:sp>
        <p:nvSpPr>
          <p:cNvPr id="65" name="Shape 49"/>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6" name="Text 50"/>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FEATURE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7" name="Text 51"/>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8" name="Text 52"/>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9" name="Text 53"/>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70" name="Text 54"/>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71" name="Text 55"/>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72" name="Text 56"/>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73" name="Text 57"/>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4" name="Text 58"/>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5" name="Text 59"/>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6" name="Shape 60"/>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7" name="Image 13" descr="preencoded.png">    </p:cNvPr>
          <p:cNvPicPr>
            <a:picLocks noChangeAspect="1"/>
          </p:cNvPicPr>
          <p:nvPr/>
        </p:nvPicPr>
        <p:blipFill>
          <a:blip r:embed="rId14"/>
          <a:stretch>
            <a:fillRect/>
          </a:stretch>
        </p:blipFill>
        <p:spPr>
          <a:xfrm>
            <a:off x="8848476" y="3869635"/>
            <a:ext cx="237744" cy="237744"/>
          </a:xfrm>
          <a:prstGeom prst="rect">
            <a:avLst/>
          </a:prstGeom>
        </p:spPr>
      </p:pic>
      <p:sp>
        <p:nvSpPr>
          <p:cNvPr id="78" name="Shape 61"/>
          <p:cNvSpPr/>
          <p:nvPr/>
        </p:nvSpPr>
        <p:spPr>
          <a:xfrm>
            <a:off x="8613419" y="5696712"/>
            <a:ext cx="2304288" cy="566928"/>
          </a:xfrm>
          <a:prstGeom prst="rect">
            <a:avLst/>
          </a:prstGeom>
          <a:solidFill>
            <a:srgbClr val="F7F5F0"/>
          </a:solidFill>
          <a:ln/>
        </p:spPr>
      </p:sp>
      <p:sp>
        <p:nvSpPr>
          <p:cNvPr id="79" name="Shape 62"/>
          <p:cNvSpPr/>
          <p:nvPr/>
        </p:nvSpPr>
        <p:spPr>
          <a:xfrm>
            <a:off x="8613419" y="5696712"/>
            <a:ext cx="2304288" cy="0"/>
          </a:xfrm>
          <a:prstGeom prst="line">
            <a:avLst/>
          </a:prstGeom>
          <a:noFill/>
          <a:ln w="9525">
            <a:solidFill>
              <a:srgbClr val="D5D9D3"/>
            </a:solidFill>
            <a:prstDash val="solid"/>
          </a:ln>
        </p:spPr>
      </p:sp>
      <p:pic>
        <p:nvPicPr>
          <p:cNvPr id="80" name="Image 14" descr="preencoded.png">    </p:cNvPr>
          <p:cNvPicPr>
            <a:picLocks noChangeAspect="1"/>
          </p:cNvPicPr>
          <p:nvPr/>
        </p:nvPicPr>
        <p:blipFill>
          <a:blip r:embed="rId15"/>
          <a:stretch>
            <a:fillRect/>
          </a:stretch>
        </p:blipFill>
        <p:spPr>
          <a:xfrm>
            <a:off x="8714003" y="5788152"/>
            <a:ext cx="182880" cy="182880"/>
          </a:xfrm>
          <a:prstGeom prst="rect">
            <a:avLst/>
          </a:prstGeom>
        </p:spPr>
      </p:pic>
      <p:sp>
        <p:nvSpPr>
          <p:cNvPr id="81" name="Text 63"/>
          <p:cNvSpPr txBox="1"/>
          <p:nvPr/>
        </p:nvSpPr>
        <p:spPr>
          <a:xfrm>
            <a:off x="8613419"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82" name="Image 15" descr="preencoded.png">    </p:cNvPr>
          <p:cNvPicPr>
            <a:picLocks noChangeAspect="1"/>
          </p:cNvPicPr>
          <p:nvPr/>
        </p:nvPicPr>
        <p:blipFill>
          <a:blip r:embed="rId16"/>
          <a:stretch>
            <a:fillRect/>
          </a:stretch>
        </p:blipFill>
        <p:spPr>
          <a:xfrm>
            <a:off x="9098051" y="5788152"/>
            <a:ext cx="182880" cy="182880"/>
          </a:xfrm>
          <a:prstGeom prst="rect">
            <a:avLst/>
          </a:prstGeom>
        </p:spPr>
      </p:pic>
      <p:sp>
        <p:nvSpPr>
          <p:cNvPr id="83" name="Text 64"/>
          <p:cNvSpPr txBox="1"/>
          <p:nvPr/>
        </p:nvSpPr>
        <p:spPr>
          <a:xfrm>
            <a:off x="8997467"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4" name="Image 16" descr="preencoded.png">    </p:cNvPr>
          <p:cNvPicPr>
            <a:picLocks noChangeAspect="1"/>
          </p:cNvPicPr>
          <p:nvPr/>
        </p:nvPicPr>
        <p:blipFill>
          <a:blip r:embed="rId17"/>
          <a:stretch>
            <a:fillRect/>
          </a:stretch>
        </p:blipFill>
        <p:spPr>
          <a:xfrm>
            <a:off x="9482099" y="5788152"/>
            <a:ext cx="182880" cy="182880"/>
          </a:xfrm>
          <a:prstGeom prst="rect">
            <a:avLst/>
          </a:prstGeom>
        </p:spPr>
      </p:pic>
      <p:sp>
        <p:nvSpPr>
          <p:cNvPr id="85" name="Text 65"/>
          <p:cNvSpPr txBox="1"/>
          <p:nvPr/>
        </p:nvSpPr>
        <p:spPr>
          <a:xfrm>
            <a:off x="9381515"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6" name="Image 17" descr="preencoded.png">    </p:cNvPr>
          <p:cNvPicPr>
            <a:picLocks noChangeAspect="1"/>
          </p:cNvPicPr>
          <p:nvPr/>
        </p:nvPicPr>
        <p:blipFill>
          <a:blip r:embed="rId18"/>
          <a:stretch>
            <a:fillRect/>
          </a:stretch>
        </p:blipFill>
        <p:spPr>
          <a:xfrm>
            <a:off x="9866147" y="5788152"/>
            <a:ext cx="182880" cy="182880"/>
          </a:xfrm>
          <a:prstGeom prst="rect">
            <a:avLst/>
          </a:prstGeom>
        </p:spPr>
      </p:pic>
      <p:sp>
        <p:nvSpPr>
          <p:cNvPr id="87" name="Text 66"/>
          <p:cNvSpPr txBox="1"/>
          <p:nvPr/>
        </p:nvSpPr>
        <p:spPr>
          <a:xfrm>
            <a:off x="9765563"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88" name="Image 18" descr="preencoded.png">    </p:cNvPr>
          <p:cNvPicPr>
            <a:picLocks noChangeAspect="1"/>
          </p:cNvPicPr>
          <p:nvPr/>
        </p:nvPicPr>
        <p:blipFill>
          <a:blip r:embed="rId19"/>
          <a:stretch>
            <a:fillRect/>
          </a:stretch>
        </p:blipFill>
        <p:spPr>
          <a:xfrm>
            <a:off x="10250195" y="5788152"/>
            <a:ext cx="182880" cy="182880"/>
          </a:xfrm>
          <a:prstGeom prst="rect">
            <a:avLst/>
          </a:prstGeom>
        </p:spPr>
      </p:pic>
      <p:sp>
        <p:nvSpPr>
          <p:cNvPr id="89" name="Text 67"/>
          <p:cNvSpPr txBox="1"/>
          <p:nvPr/>
        </p:nvSpPr>
        <p:spPr>
          <a:xfrm>
            <a:off x="10149611"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90" name="Image 19" descr="preencoded.png">    </p:cNvPr>
          <p:cNvPicPr>
            <a:picLocks noChangeAspect="1"/>
          </p:cNvPicPr>
          <p:nvPr/>
        </p:nvPicPr>
        <p:blipFill>
          <a:blip r:embed="rId20"/>
          <a:stretch>
            <a:fillRect/>
          </a:stretch>
        </p:blipFill>
        <p:spPr>
          <a:xfrm>
            <a:off x="10634243" y="5788152"/>
            <a:ext cx="182880" cy="182880"/>
          </a:xfrm>
          <a:prstGeom prst="rect">
            <a:avLst/>
          </a:prstGeom>
        </p:spPr>
      </p:pic>
      <p:sp>
        <p:nvSpPr>
          <p:cNvPr id="91" name="Text 68"/>
          <p:cNvSpPr txBox="1"/>
          <p:nvPr/>
        </p:nvSpPr>
        <p:spPr>
          <a:xfrm>
            <a:off x="10533659"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92" name="Shape 69"/>
          <p:cNvSpPr/>
          <p:nvPr/>
        </p:nvSpPr>
        <p:spPr>
          <a:xfrm>
            <a:off x="8613419" y="1051560"/>
            <a:ext cx="2304288" cy="3255264"/>
          </a:xfrm>
          <a:prstGeom prst="rect">
            <a:avLst/>
          </a:prstGeom>
          <a:solidFill>
            <a:srgbClr val="1E293B">
              <a:alpha val="18000"/>
            </a:srgbClr>
          </a:solidFill>
          <a:ln/>
        </p:spPr>
      </p:sp>
      <p:sp>
        <p:nvSpPr>
          <p:cNvPr id="93" name="Shape 70"/>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94" name="Shape 71"/>
          <p:cNvSpPr/>
          <p:nvPr/>
        </p:nvSpPr>
        <p:spPr>
          <a:xfrm>
            <a:off x="9491243" y="4398264"/>
            <a:ext cx="548640" cy="45720"/>
          </a:xfrm>
          <a:prstGeom prst="roundRect">
            <a:avLst>
              <a:gd name="adj" fmla="val 50000"/>
            </a:avLst>
          </a:prstGeom>
          <a:solidFill>
            <a:srgbClr val="D5D9D3"/>
          </a:solidFill>
          <a:ln/>
        </p:spPr>
      </p:sp>
      <p:sp>
        <p:nvSpPr>
          <p:cNvPr id="95" name="Text 72"/>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6" name="Text 73"/>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Put issues above features when their scores tie.</a:t>
            </a:r>
            <a:endParaRPr lang="en-US" sz="900" dirty="0"/>
          </a:p>
        </p:txBody>
      </p:sp>
      <p:sp>
        <p:nvSpPr>
          <p:cNvPr id="97" name="Text 74"/>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8" name="Text 75"/>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9" name="Shape 76"/>
          <p:cNvSpPr/>
          <p:nvPr/>
        </p:nvSpPr>
        <p:spPr>
          <a:xfrm>
            <a:off x="8567699" y="1005840"/>
            <a:ext cx="2395728" cy="5303520"/>
          </a:xfrm>
          <a:prstGeom prst="roundRect">
            <a:avLst>
              <a:gd name="adj" fmla="val 11832"/>
            </a:avLst>
          </a:prstGeom>
          <a:ln w="91440">
            <a:solidFill>
              <a:srgbClr val="2F3E46"/>
            </a:solidFill>
            <a:prstDash val="solid"/>
          </a:ln>
        </p:spPr>
      </p:sp>
      <p:sp>
        <p:nvSpPr>
          <p:cNvPr id="100" name="Shape 77"/>
          <p:cNvSpPr/>
          <p:nvPr/>
        </p:nvSpPr>
        <p:spPr>
          <a:xfrm>
            <a:off x="9418091" y="1088136"/>
            <a:ext cx="694944" cy="128016"/>
          </a:xfrm>
          <a:prstGeom prst="roundRect">
            <a:avLst>
              <a:gd name="adj" fmla="val 50000"/>
            </a:avLst>
          </a:prstGeom>
          <a:solidFill>
            <a:srgbClr val="2F3E46"/>
          </a:solidFill>
          <a:ln/>
        </p:spPr>
      </p:sp>
      <p:sp>
        <p:nvSpPr>
          <p:cNvPr id="101" name="Text 78"/>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2026-10-06T12:32:10Z</dcterms:created>
  <dcterms:modified xsi:type="dcterms:W3CDTF">2026-10-06T12:32:10Z</dcterms:modified>
</cp:coreProperties>
</file>