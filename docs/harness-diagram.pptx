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Style: Terracotta Editorial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Style: Terracotta Editorial — mobile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everything works together. One loop per project. Triggers queue runs; each run works in its own checkout of the main line; summarization turns its artifacts into cards; the consistency gate validates the transaction and lands it as one commit; the index follows the main line and the feed ranks what is unverified; the user approves, sends back or chats. A card the user writes needs no run: it goes straight through the consistency gate and lands verified. Runs the user starts go at once, alongside the queued automation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Entities. The unit of the knowledge base. The type is the path on disk. The entity is its card, within the character limit. References link entities and are walked by Graph RAG. A summary is an entity with artifacts beneath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types. Every entity has one of the types in docs/entity-types.tsv, grouped in domains, each with the colour and glyph the app shows; four examples per domain. The type is the path of the entity in the knowledge graph. The Harness domain holds the entities of Momentum itself: automations, triggers, issues, conflicts, chats, plans and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states. Verification is the user's judgement: approval verifies, any rewrite by a run makes the entity unverified again. Sync is the entity against its artifacts and implementation. Contradictions count the open contradiction issues over the 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Automations. Ten automations around the knowledge graph, each with its trigger: schedule, event, the user, the Stop hook or enabling the project. Automation runs go one at a time per project; runs the user starts go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Triggers. Each automation has a trigger entity in each workspace, holding its schedule, its events and whether it starts on demand. Exploration every two hours, preparation every two hours at half past, validation at 02:00, consistency check at 03:00, retention at 04:00, optimization at 05:00. An approved entity with nothing implementing it starts implementation; a finished implementation starts validation. Summarization runs in the Stop hook of every run and graph build while the project is enabled, so neither has a trigger entity. Triggered loops pause while the feed is at its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 management. Automations are configured through the knowledge base, not through settings. The definition is an entity in the harness workspace, one per automation, with the Claude Code files as its artifacts; the triggers are an entity per automation in each workspace. The user edits them, or optimization proposes changes; either way the change passes the consistency gate, lands on the main line and is verified through the feed. Runs start on demand from the chat and stop from the chat; models and concurrency are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Summarization. When a run stops, its Stop hook hands the artifacts it added, changed or deleted to the summarization sub-agent, which writes one summary entity per piece of work. Artifacts changed by the user's own commits make the entities over them artifact_ahead, and a summarization run rewrites their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Consistency gate. Every write is checked while the run works. When it ends, the transaction passes the gate: card limit, type and references. Everything lands as one commit; what fails carries an issue entity. The consistency check reads the knowledge graph only, never the artifacts, and counts contradictions on each 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Issue types. The kinds of issue the consistency check raises over the knowledge graph. By rule: unresolved references, cards over the character limit, types outside entity-types.tsv or their directory. By reading, in three severities: high for contradiction, logical and ambiguity; medium for design gap, naming and repetition; low for verbose, struct and split. Each finding is its own issue entity, concerning the entity at fault first and the entities it clashes with, repeats or belongs with, with two to four options to resolve it; the check fixes nothing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 One branch per workspace. A run lands as one commit: fast-forwarded when the main line has not moved, replayed onto the new tip otherwise, with a conflict entity over what changed meanwhile. Approval is one more commit. Automation runs queue one at a time; the user's chats run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actions. Swipe right approves: one commit, verified; an implementable entity with nothing implementing it starts an implementation run. Swipe left sends back with a comment: a chat run works on the entity. Chat, run on demand, stop a run, manage projects, edit entities and change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Settings. The Settings tab: theme on this device; included projects, each enabled or disabled, with its knowledge graph build; feed size, the items before loops pause; cards, the character limit and presentation rules; paths never summarized; lifetimes per entity type; concurrent runs in total; models, one for all, per automation or by implementation risk. Values shown are the harness defaults, with models shown by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slideLayout" Target="../slideLayouts/slideLayout1.xml"/><Relationship Id="rId1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slideLayout" Target="../slideLayouts/slideLayout1.xml"/><Relationship Id="rId1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388620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Harness</a:t>
            </a:r>
            <a:endParaRPr lang="en-US" sz="2000" dirty="0"/>
          </a:p>
        </p:txBody>
      </p:sp>
      <p:sp>
        <p:nvSpPr>
          <p:cNvPr id="4" name="Text 1"/>
          <p:cNvSpPr txBox="1"/>
          <p:nvPr/>
        </p:nvSpPr>
        <p:spPr>
          <a:xfrm>
            <a:off x="4389120" y="274320"/>
            <a:ext cx="1920240" cy="457200"/>
          </a:xfrm>
          <a:prstGeom prst="rect">
            <a:avLst/>
          </a:prstGeom>
          <a:solidFill>
            <a:srgbClr val="B85042"/>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Products</a:t>
            </a:r>
            <a:endParaRPr lang="en-US" sz="2000" dirty="0"/>
          </a:p>
        </p:txBody>
      </p:sp>
      <p:sp>
        <p:nvSpPr>
          <p:cNvPr id="5" name="Shape 2"/>
          <p:cNvSpPr/>
          <p:nvPr/>
        </p:nvSpPr>
        <p:spPr>
          <a:xfrm>
            <a:off x="320040" y="914400"/>
            <a:ext cx="1874520" cy="1000354"/>
          </a:xfrm>
          <a:prstGeom prst="rect">
            <a:avLst/>
          </a:prstGeom>
          <a:solidFill>
            <a:srgbClr val="EEF1EC"/>
          </a:solidFill>
          <a:ln/>
        </p:spPr>
      </p:sp>
      <p:sp>
        <p:nvSpPr>
          <p:cNvPr id="6" name="Text 3"/>
          <p:cNvSpPr txBox="1"/>
          <p:nvPr/>
        </p:nvSpPr>
        <p:spPr>
          <a:xfrm>
            <a:off x="320040" y="914400"/>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Settings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Included projects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Feed size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Cards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Lifetimes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Agents</a:t>
            </a:r>
            <a:endParaRPr lang="en-US" sz="1000" dirty="0"/>
          </a:p>
        </p:txBody>
      </p:sp>
      <p:sp>
        <p:nvSpPr>
          <p:cNvPr id="7" name="Shape 4"/>
          <p:cNvSpPr/>
          <p:nvPr/>
        </p:nvSpPr>
        <p:spPr>
          <a:xfrm>
            <a:off x="1847088" y="987552"/>
            <a:ext cx="274320" cy="274320"/>
          </a:xfrm>
          <a:prstGeom prst="ellipse">
            <a:avLst/>
          </a:prstGeom>
          <a:solidFill>
            <a:srgbClr val="FFFFFF"/>
          </a:solidFill>
          <a:ln/>
        </p:spPr>
      </p:sp>
      <p:pic>
        <p:nvPicPr>
          <p:cNvPr id="8" name="Image 0" descr="preencoded.png">    </p:cNvPr>
          <p:cNvPicPr>
            <a:picLocks noChangeAspect="1"/>
          </p:cNvPicPr>
          <p:nvPr/>
        </p:nvPicPr>
        <p:blipFill>
          <a:blip r:embed="rId1"/>
          <a:stretch>
            <a:fillRect/>
          </a:stretch>
        </p:blipFill>
        <p:spPr>
          <a:xfrm>
            <a:off x="1915668" y="1056132"/>
            <a:ext cx="137160" cy="137160"/>
          </a:xfrm>
          <a:prstGeom prst="rect">
            <a:avLst/>
          </a:prstGeom>
        </p:spPr>
      </p:pic>
      <p:sp>
        <p:nvSpPr>
          <p:cNvPr id="9" name="Shape 5"/>
          <p:cNvSpPr/>
          <p:nvPr/>
        </p:nvSpPr>
        <p:spPr>
          <a:xfrm>
            <a:off x="2331720" y="914400"/>
            <a:ext cx="1874520" cy="1000354"/>
          </a:xfrm>
          <a:prstGeom prst="rect">
            <a:avLst/>
          </a:prstGeom>
          <a:solidFill>
            <a:srgbClr val="EEF1EC"/>
          </a:solidFill>
          <a:ln/>
        </p:spPr>
      </p:sp>
      <p:sp>
        <p:nvSpPr>
          <p:cNvPr id="10" name="Text 6"/>
          <p:cNvSpPr txBox="1"/>
          <p:nvPr/>
        </p:nvSpPr>
        <p:spPr>
          <a:xfrm>
            <a:off x="2331720" y="914400"/>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Knowledge Graph Explorer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Entity browsing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Entity search</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Reference navigation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Indices</a:t>
            </a:r>
            <a:endParaRPr lang="en-US" sz="1000" dirty="0"/>
          </a:p>
        </p:txBody>
      </p:sp>
      <p:sp>
        <p:nvSpPr>
          <p:cNvPr id="11" name="Shape 7"/>
          <p:cNvSpPr/>
          <p:nvPr/>
        </p:nvSpPr>
        <p:spPr>
          <a:xfrm>
            <a:off x="3858768" y="987552"/>
            <a:ext cx="274320" cy="27432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3927348" y="1056132"/>
            <a:ext cx="137160" cy="137160"/>
          </a:xfrm>
          <a:prstGeom prst="rect">
            <a:avLst/>
          </a:prstGeom>
        </p:spPr>
      </p:pic>
      <p:sp>
        <p:nvSpPr>
          <p:cNvPr id="13" name="Shape 8"/>
          <p:cNvSpPr/>
          <p:nvPr/>
        </p:nvSpPr>
        <p:spPr>
          <a:xfrm>
            <a:off x="320040" y="2024482"/>
            <a:ext cx="1874520" cy="1000354"/>
          </a:xfrm>
          <a:prstGeom prst="rect">
            <a:avLst/>
          </a:prstGeom>
          <a:solidFill>
            <a:srgbClr val="EEF1EC"/>
          </a:solidFill>
          <a:ln/>
        </p:spPr>
      </p:sp>
      <p:sp>
        <p:nvSpPr>
          <p:cNvPr id="14" name="Text 9"/>
          <p:cNvSpPr txBox="1"/>
          <p:nvPr/>
        </p:nvSpPr>
        <p:spPr>
          <a:xfrm>
            <a:off x="320040" y="2024482"/>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Importance Rank</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Dependencies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Stability</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Performance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Priority</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Velocity</a:t>
            </a:r>
            <a:endParaRPr lang="en-US" sz="1000" dirty="0"/>
          </a:p>
        </p:txBody>
      </p:sp>
      <p:sp>
        <p:nvSpPr>
          <p:cNvPr id="15" name="Shape 10"/>
          <p:cNvSpPr/>
          <p:nvPr/>
        </p:nvSpPr>
        <p:spPr>
          <a:xfrm>
            <a:off x="1847088" y="2097634"/>
            <a:ext cx="274320" cy="274320"/>
          </a:xfrm>
          <a:prstGeom prst="ellipse">
            <a:avLst/>
          </a:prstGeom>
          <a:solidFill>
            <a:srgbClr val="FFFFFF"/>
          </a:solidFill>
          <a:ln/>
        </p:spPr>
      </p:sp>
      <p:pic>
        <p:nvPicPr>
          <p:cNvPr id="16" name="Image 2" descr="preencoded.png">    </p:cNvPr>
          <p:cNvPicPr>
            <a:picLocks noChangeAspect="1"/>
          </p:cNvPicPr>
          <p:nvPr/>
        </p:nvPicPr>
        <p:blipFill>
          <a:blip r:embed="rId3"/>
          <a:stretch>
            <a:fillRect/>
          </a:stretch>
        </p:blipFill>
        <p:spPr>
          <a:xfrm>
            <a:off x="1915668" y="2166214"/>
            <a:ext cx="137160" cy="137160"/>
          </a:xfrm>
          <a:prstGeom prst="rect">
            <a:avLst/>
          </a:prstGeom>
        </p:spPr>
      </p:pic>
      <p:sp>
        <p:nvSpPr>
          <p:cNvPr id="17" name="Shape 11"/>
          <p:cNvSpPr/>
          <p:nvPr/>
        </p:nvSpPr>
        <p:spPr>
          <a:xfrm>
            <a:off x="2331720" y="2024482"/>
            <a:ext cx="1874520" cy="1000354"/>
          </a:xfrm>
          <a:prstGeom prst="rect">
            <a:avLst/>
          </a:prstGeom>
          <a:solidFill>
            <a:srgbClr val="EEF1EC"/>
          </a:solidFill>
          <a:ln/>
        </p:spPr>
      </p:sp>
      <p:sp>
        <p:nvSpPr>
          <p:cNvPr id="18" name="Text 12"/>
          <p:cNvSpPr txBox="1"/>
          <p:nvPr/>
        </p:nvSpPr>
        <p:spPr>
          <a:xfrm>
            <a:off x="2331720" y="2024482"/>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Chat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Question answering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Run steering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Automation launching</a:t>
            </a:r>
            <a:endParaRPr lang="en-US" sz="1000" dirty="0"/>
          </a:p>
        </p:txBody>
      </p:sp>
      <p:sp>
        <p:nvSpPr>
          <p:cNvPr id="19" name="Shape 13"/>
          <p:cNvSpPr/>
          <p:nvPr/>
        </p:nvSpPr>
        <p:spPr>
          <a:xfrm>
            <a:off x="3858768" y="2097634"/>
            <a:ext cx="274320" cy="274320"/>
          </a:xfrm>
          <a:prstGeom prst="ellipse">
            <a:avLst/>
          </a:prstGeom>
          <a:solidFill>
            <a:srgbClr val="FFFFFF"/>
          </a:solidFill>
          <a:ln/>
        </p:spPr>
      </p:sp>
      <p:pic>
        <p:nvPicPr>
          <p:cNvPr id="20" name="Image 3" descr="preencoded.png">    </p:cNvPr>
          <p:cNvPicPr>
            <a:picLocks noChangeAspect="1"/>
          </p:cNvPicPr>
          <p:nvPr/>
        </p:nvPicPr>
        <p:blipFill>
          <a:blip r:embed="rId4"/>
          <a:stretch>
            <a:fillRect/>
          </a:stretch>
        </p:blipFill>
        <p:spPr>
          <a:xfrm>
            <a:off x="3927348" y="2166214"/>
            <a:ext cx="137160" cy="137160"/>
          </a:xfrm>
          <a:prstGeom prst="rect">
            <a:avLst/>
          </a:prstGeom>
        </p:spPr>
      </p:pic>
      <p:sp>
        <p:nvSpPr>
          <p:cNvPr id="21" name="Shape 14"/>
          <p:cNvSpPr/>
          <p:nvPr/>
        </p:nvSpPr>
        <p:spPr>
          <a:xfrm>
            <a:off x="320040" y="3134563"/>
            <a:ext cx="1874520" cy="1000354"/>
          </a:xfrm>
          <a:prstGeom prst="rect">
            <a:avLst/>
          </a:prstGeom>
          <a:solidFill>
            <a:srgbClr val="EEF1EC"/>
          </a:solidFill>
          <a:ln/>
        </p:spPr>
      </p:sp>
      <p:sp>
        <p:nvSpPr>
          <p:cNvPr id="22" name="Text 15"/>
          <p:cNvSpPr txBox="1"/>
          <p:nvPr/>
        </p:nvSpPr>
        <p:spPr>
          <a:xfrm>
            <a:off x="320040" y="3134563"/>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Metrics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Alignment issues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Agents usage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Sessions duration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Consistency</a:t>
            </a:r>
            <a:endParaRPr lang="en-US" sz="1000" dirty="0"/>
          </a:p>
        </p:txBody>
      </p:sp>
      <p:sp>
        <p:nvSpPr>
          <p:cNvPr id="23" name="Shape 16"/>
          <p:cNvSpPr/>
          <p:nvPr/>
        </p:nvSpPr>
        <p:spPr>
          <a:xfrm>
            <a:off x="1847088" y="3207715"/>
            <a:ext cx="274320" cy="274320"/>
          </a:xfrm>
          <a:prstGeom prst="ellipse">
            <a:avLst/>
          </a:prstGeom>
          <a:solidFill>
            <a:srgbClr val="FFFFFF"/>
          </a:solidFill>
          <a:ln/>
        </p:spPr>
      </p:sp>
      <p:pic>
        <p:nvPicPr>
          <p:cNvPr id="24" name="Image 4" descr="preencoded.png">    </p:cNvPr>
          <p:cNvPicPr>
            <a:picLocks noChangeAspect="1"/>
          </p:cNvPicPr>
          <p:nvPr/>
        </p:nvPicPr>
        <p:blipFill>
          <a:blip r:embed="rId5"/>
          <a:stretch>
            <a:fillRect/>
          </a:stretch>
        </p:blipFill>
        <p:spPr>
          <a:xfrm>
            <a:off x="1915668" y="3276295"/>
            <a:ext cx="137160" cy="137160"/>
          </a:xfrm>
          <a:prstGeom prst="rect">
            <a:avLst/>
          </a:prstGeom>
        </p:spPr>
      </p:pic>
      <p:sp>
        <p:nvSpPr>
          <p:cNvPr id="25" name="Shape 17"/>
          <p:cNvSpPr/>
          <p:nvPr/>
        </p:nvSpPr>
        <p:spPr>
          <a:xfrm>
            <a:off x="2331720" y="3134563"/>
            <a:ext cx="1874520" cy="1000354"/>
          </a:xfrm>
          <a:prstGeom prst="rect">
            <a:avLst/>
          </a:prstGeom>
          <a:solidFill>
            <a:srgbClr val="EEF1EC"/>
          </a:solidFill>
          <a:ln/>
        </p:spPr>
      </p:sp>
      <p:sp>
        <p:nvSpPr>
          <p:cNvPr id="26" name="Text 18"/>
          <p:cNvSpPr txBox="1"/>
          <p:nvPr/>
        </p:nvSpPr>
        <p:spPr>
          <a:xfrm>
            <a:off x="2331720" y="3134563"/>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Optimization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Skills extraction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Tools extraction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Agents extraction</a:t>
            </a:r>
            <a:endParaRPr lang="en-US" sz="1000" dirty="0"/>
          </a:p>
        </p:txBody>
      </p:sp>
      <p:sp>
        <p:nvSpPr>
          <p:cNvPr id="27" name="Shape 19"/>
          <p:cNvSpPr/>
          <p:nvPr/>
        </p:nvSpPr>
        <p:spPr>
          <a:xfrm>
            <a:off x="3858768" y="3207715"/>
            <a:ext cx="274320" cy="274320"/>
          </a:xfrm>
          <a:prstGeom prst="ellipse">
            <a:avLst/>
          </a:prstGeom>
          <a:solidFill>
            <a:srgbClr val="FFFFFF"/>
          </a:solidFill>
          <a:ln/>
        </p:spPr>
      </p:sp>
      <p:pic>
        <p:nvPicPr>
          <p:cNvPr id="28" name="Image 5" descr="preencoded.png">    </p:cNvPr>
          <p:cNvPicPr>
            <a:picLocks noChangeAspect="1"/>
          </p:cNvPicPr>
          <p:nvPr/>
        </p:nvPicPr>
        <p:blipFill>
          <a:blip r:embed="rId6"/>
          <a:stretch>
            <a:fillRect/>
          </a:stretch>
        </p:blipFill>
        <p:spPr>
          <a:xfrm>
            <a:off x="3927348" y="3276295"/>
            <a:ext cx="137160" cy="137160"/>
          </a:xfrm>
          <a:prstGeom prst="rect">
            <a:avLst/>
          </a:prstGeom>
        </p:spPr>
      </p:pic>
      <p:sp>
        <p:nvSpPr>
          <p:cNvPr id="29" name="Shape 20"/>
          <p:cNvSpPr/>
          <p:nvPr/>
        </p:nvSpPr>
        <p:spPr>
          <a:xfrm>
            <a:off x="320040" y="4244645"/>
            <a:ext cx="1874520" cy="1000354"/>
          </a:xfrm>
          <a:prstGeom prst="rect">
            <a:avLst/>
          </a:prstGeom>
          <a:solidFill>
            <a:srgbClr val="EEF1EC"/>
          </a:solidFill>
          <a:ln/>
        </p:spPr>
      </p:sp>
      <p:sp>
        <p:nvSpPr>
          <p:cNvPr id="30" name="Text 21"/>
          <p:cNvSpPr txBox="1"/>
          <p:nvPr/>
        </p:nvSpPr>
        <p:spPr>
          <a:xfrm>
            <a:off x="320040" y="4244645"/>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Orchestrator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Automation deployment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Agents deployment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Metrics collection</a:t>
            </a:r>
            <a:endParaRPr lang="en-US" sz="1000" dirty="0"/>
          </a:p>
        </p:txBody>
      </p:sp>
      <p:sp>
        <p:nvSpPr>
          <p:cNvPr id="31" name="Shape 22"/>
          <p:cNvSpPr/>
          <p:nvPr/>
        </p:nvSpPr>
        <p:spPr>
          <a:xfrm>
            <a:off x="1847088" y="4317797"/>
            <a:ext cx="274320" cy="274320"/>
          </a:xfrm>
          <a:prstGeom prst="ellipse">
            <a:avLst/>
          </a:prstGeom>
          <a:solidFill>
            <a:srgbClr val="FFFFFF"/>
          </a:solidFill>
          <a:ln/>
        </p:spPr>
      </p:sp>
      <p:pic>
        <p:nvPicPr>
          <p:cNvPr id="32" name="Image 6" descr="preencoded.png">    </p:cNvPr>
          <p:cNvPicPr>
            <a:picLocks noChangeAspect="1"/>
          </p:cNvPicPr>
          <p:nvPr/>
        </p:nvPicPr>
        <p:blipFill>
          <a:blip r:embed="rId7"/>
          <a:stretch>
            <a:fillRect/>
          </a:stretch>
        </p:blipFill>
        <p:spPr>
          <a:xfrm>
            <a:off x="1915668" y="4386377"/>
            <a:ext cx="137160" cy="137160"/>
          </a:xfrm>
          <a:prstGeom prst="rect">
            <a:avLst/>
          </a:prstGeom>
        </p:spPr>
      </p:pic>
      <p:sp>
        <p:nvSpPr>
          <p:cNvPr id="33" name="Shape 23"/>
          <p:cNvSpPr/>
          <p:nvPr/>
        </p:nvSpPr>
        <p:spPr>
          <a:xfrm>
            <a:off x="2331720" y="4244645"/>
            <a:ext cx="1874520" cy="1000354"/>
          </a:xfrm>
          <a:prstGeom prst="rect">
            <a:avLst/>
          </a:prstGeom>
          <a:solidFill>
            <a:srgbClr val="EEF1EC"/>
          </a:solidFill>
          <a:ln/>
        </p:spPr>
      </p:sp>
      <p:sp>
        <p:nvSpPr>
          <p:cNvPr id="34" name="Text 24"/>
          <p:cNvSpPr txBox="1"/>
          <p:nvPr/>
        </p:nvSpPr>
        <p:spPr>
          <a:xfrm>
            <a:off x="2331720" y="4244645"/>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API</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Front-end entry point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Feed polling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Session results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Approvals</a:t>
            </a:r>
            <a:endParaRPr lang="en-US" sz="1000" dirty="0"/>
          </a:p>
        </p:txBody>
      </p:sp>
      <p:sp>
        <p:nvSpPr>
          <p:cNvPr id="35" name="Shape 25"/>
          <p:cNvSpPr/>
          <p:nvPr/>
        </p:nvSpPr>
        <p:spPr>
          <a:xfrm>
            <a:off x="3858768" y="4317797"/>
            <a:ext cx="274320" cy="274320"/>
          </a:xfrm>
          <a:prstGeom prst="ellipse">
            <a:avLst/>
          </a:prstGeom>
          <a:solidFill>
            <a:srgbClr val="FFFFFF"/>
          </a:solidFill>
          <a:ln/>
        </p:spPr>
      </p:sp>
      <p:pic>
        <p:nvPicPr>
          <p:cNvPr id="36" name="Image 7" descr="preencoded.png">    </p:cNvPr>
          <p:cNvPicPr>
            <a:picLocks noChangeAspect="1"/>
          </p:cNvPicPr>
          <p:nvPr/>
        </p:nvPicPr>
        <p:blipFill>
          <a:blip r:embed="rId8"/>
          <a:stretch>
            <a:fillRect/>
          </a:stretch>
        </p:blipFill>
        <p:spPr>
          <a:xfrm>
            <a:off x="3927348" y="4386377"/>
            <a:ext cx="137160" cy="137160"/>
          </a:xfrm>
          <a:prstGeom prst="rect">
            <a:avLst/>
          </a:prstGeom>
        </p:spPr>
      </p:pic>
      <p:sp>
        <p:nvSpPr>
          <p:cNvPr id="37" name="Shape 26"/>
          <p:cNvSpPr/>
          <p:nvPr/>
        </p:nvSpPr>
        <p:spPr>
          <a:xfrm>
            <a:off x="320040" y="5354726"/>
            <a:ext cx="1874520" cy="1000354"/>
          </a:xfrm>
          <a:prstGeom prst="rect">
            <a:avLst/>
          </a:prstGeom>
          <a:solidFill>
            <a:srgbClr val="EEF1EC"/>
          </a:solidFill>
          <a:ln/>
        </p:spPr>
      </p:sp>
      <p:sp>
        <p:nvSpPr>
          <p:cNvPr id="38" name="Text 27"/>
          <p:cNvSpPr txBox="1"/>
          <p:nvPr/>
        </p:nvSpPr>
        <p:spPr>
          <a:xfrm>
            <a:off x="320040" y="5354726"/>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Voice Tools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Full capability access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UI-free control</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API calls</a:t>
            </a:r>
            <a:endParaRPr lang="en-US" sz="1000" dirty="0"/>
          </a:p>
        </p:txBody>
      </p:sp>
      <p:sp>
        <p:nvSpPr>
          <p:cNvPr id="39" name="Shape 28"/>
          <p:cNvSpPr/>
          <p:nvPr/>
        </p:nvSpPr>
        <p:spPr>
          <a:xfrm>
            <a:off x="1847088" y="5427878"/>
            <a:ext cx="274320" cy="274320"/>
          </a:xfrm>
          <a:prstGeom prst="ellipse">
            <a:avLst/>
          </a:prstGeom>
          <a:solidFill>
            <a:srgbClr val="FFFFFF"/>
          </a:solidFill>
          <a:ln/>
        </p:spPr>
      </p:sp>
      <p:pic>
        <p:nvPicPr>
          <p:cNvPr id="40" name="Image 8" descr="preencoded.png">    </p:cNvPr>
          <p:cNvPicPr>
            <a:picLocks noChangeAspect="1"/>
          </p:cNvPicPr>
          <p:nvPr/>
        </p:nvPicPr>
        <p:blipFill>
          <a:blip r:embed="rId9"/>
          <a:stretch>
            <a:fillRect/>
          </a:stretch>
        </p:blipFill>
        <p:spPr>
          <a:xfrm>
            <a:off x="1915668" y="5496458"/>
            <a:ext cx="137160" cy="137160"/>
          </a:xfrm>
          <a:prstGeom prst="rect">
            <a:avLst/>
          </a:prstGeom>
        </p:spPr>
      </p:pic>
      <p:sp>
        <p:nvSpPr>
          <p:cNvPr id="41" name="Shape 29"/>
          <p:cNvSpPr/>
          <p:nvPr/>
        </p:nvSpPr>
        <p:spPr>
          <a:xfrm>
            <a:off x="2331720" y="5354726"/>
            <a:ext cx="1874520" cy="1000354"/>
          </a:xfrm>
          <a:prstGeom prst="rect">
            <a:avLst/>
          </a:prstGeom>
          <a:solidFill>
            <a:srgbClr val="EEF1EC"/>
          </a:solidFill>
          <a:ln/>
        </p:spPr>
      </p:sp>
      <p:sp>
        <p:nvSpPr>
          <p:cNvPr id="42" name="Text 30"/>
          <p:cNvSpPr txBox="1"/>
          <p:nvPr/>
        </p:nvSpPr>
        <p:spPr>
          <a:xfrm>
            <a:off x="2331720" y="5354726"/>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RAG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Graph retrieval</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Entity context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Chat context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Reference traversal</a:t>
            </a:r>
            <a:endParaRPr lang="en-US" sz="1000" dirty="0"/>
          </a:p>
        </p:txBody>
      </p:sp>
      <p:sp>
        <p:nvSpPr>
          <p:cNvPr id="43" name="Shape 31"/>
          <p:cNvSpPr/>
          <p:nvPr/>
        </p:nvSpPr>
        <p:spPr>
          <a:xfrm>
            <a:off x="3858768" y="5427878"/>
            <a:ext cx="274320" cy="274320"/>
          </a:xfrm>
          <a:prstGeom prst="ellipse">
            <a:avLst/>
          </a:prstGeom>
          <a:solidFill>
            <a:srgbClr val="FFFFFF"/>
          </a:solidFill>
          <a:ln/>
        </p:spPr>
      </p:sp>
      <p:pic>
        <p:nvPicPr>
          <p:cNvPr id="44" name="Image 9" descr="preencoded.png">    </p:cNvPr>
          <p:cNvPicPr>
            <a:picLocks noChangeAspect="1"/>
          </p:cNvPicPr>
          <p:nvPr/>
        </p:nvPicPr>
        <p:blipFill>
          <a:blip r:embed="rId10"/>
          <a:stretch>
            <a:fillRect/>
          </a:stretch>
        </p:blipFill>
        <p:spPr>
          <a:xfrm>
            <a:off x="3927348" y="5496458"/>
            <a:ext cx="137160" cy="137160"/>
          </a:xfrm>
          <a:prstGeom prst="rect">
            <a:avLst/>
          </a:prstGeom>
        </p:spPr>
      </p:pic>
      <p:sp>
        <p:nvSpPr>
          <p:cNvPr id="45" name="Shape 32"/>
          <p:cNvSpPr/>
          <p:nvPr/>
        </p:nvSpPr>
        <p:spPr>
          <a:xfrm>
            <a:off x="4389120" y="914400"/>
            <a:ext cx="7498080" cy="1828800"/>
          </a:xfrm>
          <a:prstGeom prst="rect">
            <a:avLst/>
          </a:prstGeom>
          <a:solidFill>
            <a:srgbClr val="F4DCD6"/>
          </a:solidFill>
          <a:ln/>
        </p:spPr>
      </p:sp>
      <p:sp>
        <p:nvSpPr>
          <p:cNvPr id="46" name="Text 33"/>
          <p:cNvSpPr txBox="1"/>
          <p:nvPr/>
        </p:nvSpPr>
        <p:spPr>
          <a:xfrm>
            <a:off x="10881360" y="1600200"/>
            <a:ext cx="914400" cy="457200"/>
          </a:xfrm>
          <a:prstGeom prst="rect">
            <a:avLst/>
          </a:prstGeom>
          <a:noFill/>
          <a:ln/>
        </p:spPr>
        <p:txBody>
          <a:bodyPr wrap="square" lIns="0" tIns="0" rIns="0" bIns="0" rtlCol="0" anchor="ctr"/>
          <a:lstStyle/>
          <a:p>
            <a:pPr algn="ctr" indent="0" marL="0">
              <a:buNone/>
            </a:pPr>
            <a:r>
              <a:rPr lang="en-US" sz="1300" i="1" dirty="0">
                <a:solidFill>
                  <a:srgbClr val="A0402F"/>
                </a:solidFill>
                <a:latin typeface="Cambria" pitchFamily="34" charset="0"/>
                <a:ea typeface="Cambria" pitchFamily="34" charset="-122"/>
                <a:cs typeface="Cambria" pitchFamily="34" charset="-120"/>
              </a:rPr>
              <a:t>Attention</a:t>
            </a:r>
            <a:endParaRPr lang="en-US" sz="1300" dirty="0"/>
          </a:p>
          <a:p>
            <a:pPr algn="ctr" indent="0" marL="0">
              <a:buNone/>
            </a:pPr>
            <a:r>
              <a:rPr lang="en-US" sz="1300" i="1" dirty="0">
                <a:solidFill>
                  <a:srgbClr val="A0402F"/>
                </a:solidFill>
                <a:latin typeface="Cambria" pitchFamily="34" charset="0"/>
                <a:ea typeface="Cambria" pitchFamily="34" charset="-122"/>
                <a:cs typeface="Cambria" pitchFamily="34" charset="-120"/>
              </a:rPr>
              <a:t>Layer</a:t>
            </a:r>
            <a:endParaRPr lang="en-US" sz="1300" dirty="0"/>
          </a:p>
        </p:txBody>
      </p:sp>
      <p:sp>
        <p:nvSpPr>
          <p:cNvPr id="47" name="Shape 34"/>
          <p:cNvSpPr/>
          <p:nvPr/>
        </p:nvSpPr>
        <p:spPr>
          <a:xfrm>
            <a:off x="4389120" y="2743200"/>
            <a:ext cx="7498080" cy="1143000"/>
          </a:xfrm>
          <a:prstGeom prst="rect">
            <a:avLst/>
          </a:prstGeom>
          <a:solidFill>
            <a:srgbClr val="EFE8D2"/>
          </a:solidFill>
          <a:ln/>
        </p:spPr>
      </p:sp>
      <p:sp>
        <p:nvSpPr>
          <p:cNvPr id="48" name="Text 35"/>
          <p:cNvSpPr txBox="1"/>
          <p:nvPr/>
        </p:nvSpPr>
        <p:spPr>
          <a:xfrm>
            <a:off x="10881360" y="3081528"/>
            <a:ext cx="914400" cy="457200"/>
          </a:xfrm>
          <a:prstGeom prst="rect">
            <a:avLst/>
          </a:prstGeom>
          <a:noFill/>
          <a:ln/>
        </p:spPr>
        <p:txBody>
          <a:bodyPr wrap="square" lIns="0" tIns="0" rIns="0" bIns="0" rtlCol="0" anchor="ctr"/>
          <a:lstStyle/>
          <a:p>
            <a:pPr algn="ctr" indent="0" marL="0">
              <a:buNone/>
            </a:pPr>
            <a:r>
              <a:rPr lang="en-US" sz="1300" i="1" dirty="0">
                <a:solidFill>
                  <a:srgbClr val="7C6224"/>
                </a:solidFill>
                <a:latin typeface="Cambria" pitchFamily="34" charset="0"/>
                <a:ea typeface="Cambria" pitchFamily="34" charset="-122"/>
                <a:cs typeface="Cambria" pitchFamily="34" charset="-120"/>
              </a:rPr>
              <a:t>Knowledge</a:t>
            </a:r>
            <a:endParaRPr lang="en-US" sz="1300" dirty="0"/>
          </a:p>
          <a:p>
            <a:pPr algn="ctr" indent="0" marL="0">
              <a:buNone/>
            </a:pPr>
            <a:r>
              <a:rPr lang="en-US" sz="1300" i="1" dirty="0">
                <a:solidFill>
                  <a:srgbClr val="7C6224"/>
                </a:solidFill>
                <a:latin typeface="Cambria" pitchFamily="34" charset="0"/>
                <a:ea typeface="Cambria" pitchFamily="34" charset="-122"/>
                <a:cs typeface="Cambria" pitchFamily="34" charset="-120"/>
              </a:rPr>
              <a:t>Layer</a:t>
            </a:r>
            <a:endParaRPr lang="en-US" sz="1300" dirty="0"/>
          </a:p>
        </p:txBody>
      </p:sp>
      <p:sp>
        <p:nvSpPr>
          <p:cNvPr id="49" name="Shape 36"/>
          <p:cNvSpPr/>
          <p:nvPr/>
        </p:nvSpPr>
        <p:spPr>
          <a:xfrm>
            <a:off x="4389120" y="3886200"/>
            <a:ext cx="7498080" cy="2468880"/>
          </a:xfrm>
          <a:prstGeom prst="rect">
            <a:avLst/>
          </a:prstGeom>
          <a:solidFill>
            <a:srgbClr val="DCE7DF"/>
          </a:solidFill>
          <a:ln/>
        </p:spPr>
      </p:sp>
      <p:sp>
        <p:nvSpPr>
          <p:cNvPr id="50" name="Text 37"/>
          <p:cNvSpPr txBox="1"/>
          <p:nvPr/>
        </p:nvSpPr>
        <p:spPr>
          <a:xfrm>
            <a:off x="10881360" y="4617720"/>
            <a:ext cx="914400" cy="457200"/>
          </a:xfrm>
          <a:prstGeom prst="rect">
            <a:avLst/>
          </a:prstGeom>
          <a:noFill/>
          <a:ln/>
        </p:spPr>
        <p:txBody>
          <a:bodyPr wrap="square" lIns="0" tIns="0" rIns="0" bIns="0" rtlCol="0" anchor="ctr"/>
          <a:lstStyle/>
          <a:p>
            <a:pPr algn="ctr" indent="0" marL="0">
              <a:buNone/>
            </a:pPr>
            <a:r>
              <a:rPr lang="en-US" sz="1300" i="1" dirty="0">
                <a:solidFill>
                  <a:srgbClr val="3F6B52"/>
                </a:solidFill>
                <a:latin typeface="Cambria" pitchFamily="34" charset="0"/>
                <a:ea typeface="Cambria" pitchFamily="34" charset="-122"/>
                <a:cs typeface="Cambria" pitchFamily="34" charset="-120"/>
              </a:rPr>
              <a:t>Product</a:t>
            </a:r>
            <a:endParaRPr lang="en-US" sz="1300" dirty="0"/>
          </a:p>
          <a:p>
            <a:pPr algn="ctr" indent="0" marL="0">
              <a:buNone/>
            </a:pPr>
            <a:r>
              <a:rPr lang="en-US" sz="1300" i="1" dirty="0">
                <a:solidFill>
                  <a:srgbClr val="3F6B52"/>
                </a:solidFill>
                <a:latin typeface="Cambria" pitchFamily="34" charset="0"/>
                <a:ea typeface="Cambria" pitchFamily="34" charset="-122"/>
                <a:cs typeface="Cambria" pitchFamily="34" charset="-120"/>
              </a:rPr>
              <a:t>Layer</a:t>
            </a:r>
            <a:endParaRPr lang="en-US" sz="1300" dirty="0"/>
          </a:p>
        </p:txBody>
      </p:sp>
      <p:sp>
        <p:nvSpPr>
          <p:cNvPr id="51" name="Shape 38"/>
          <p:cNvSpPr/>
          <p:nvPr/>
        </p:nvSpPr>
        <p:spPr>
          <a:xfrm>
            <a:off x="8138160" y="1627632"/>
            <a:ext cx="0" cy="4727448"/>
          </a:xfrm>
          <a:prstGeom prst="line">
            <a:avLst/>
          </a:prstGeom>
          <a:noFill/>
          <a:ln w="15875">
            <a:solidFill>
              <a:srgbClr val="B85042"/>
            </a:solidFill>
            <a:prstDash val="dash"/>
          </a:ln>
        </p:spPr>
      </p:sp>
      <p:sp>
        <p:nvSpPr>
          <p:cNvPr id="52" name="Text 39"/>
          <p:cNvSpPr txBox="1"/>
          <p:nvPr/>
        </p:nvSpPr>
        <p:spPr>
          <a:xfrm>
            <a:off x="6236208" y="1024128"/>
            <a:ext cx="1005840" cy="274320"/>
          </a:xfrm>
          <a:prstGeom prst="rect">
            <a:avLst/>
          </a:prstGeom>
          <a:noFill/>
          <a:ln/>
        </p:spPr>
        <p:txBody>
          <a:bodyPr wrap="square" lIns="0" tIns="0" rIns="0" bIns="0" rtlCol="0" anchor="ctr"/>
          <a:lstStyle/>
          <a:p>
            <a:pPr algn="l" indent="0" marL="0">
              <a:buNone/>
            </a:pPr>
            <a:r>
              <a:rPr lang="en-US" sz="1200" b="1" dirty="0">
                <a:solidFill>
                  <a:srgbClr val="8A6D2B"/>
                </a:solidFill>
                <a:latin typeface="Cambria" pitchFamily="34" charset="0"/>
                <a:ea typeface="Cambria" pitchFamily="34" charset="-122"/>
                <a:cs typeface="Cambria" pitchFamily="34" charset="-120"/>
              </a:rPr>
              <a:t>Unverified</a:t>
            </a:r>
            <a:endParaRPr lang="en-US" sz="1200" dirty="0"/>
          </a:p>
        </p:txBody>
      </p:sp>
      <p:pic>
        <p:nvPicPr>
          <p:cNvPr id="53" name="Image 10" descr="preencoded.png">    </p:cNvPr>
          <p:cNvPicPr>
            <a:picLocks noChangeAspect="1"/>
          </p:cNvPicPr>
          <p:nvPr/>
        </p:nvPicPr>
        <p:blipFill>
          <a:blip r:embed="rId11"/>
          <a:stretch>
            <a:fillRect/>
          </a:stretch>
        </p:blipFill>
        <p:spPr>
          <a:xfrm>
            <a:off x="5989320" y="1069848"/>
            <a:ext cx="182880" cy="182880"/>
          </a:xfrm>
          <a:prstGeom prst="rect">
            <a:avLst/>
          </a:prstGeom>
        </p:spPr>
      </p:pic>
      <p:sp>
        <p:nvSpPr>
          <p:cNvPr id="54" name="Text 40"/>
          <p:cNvSpPr txBox="1"/>
          <p:nvPr/>
        </p:nvSpPr>
        <p:spPr>
          <a:xfrm>
            <a:off x="9518904" y="1024128"/>
            <a:ext cx="1005840" cy="274320"/>
          </a:xfrm>
          <a:prstGeom prst="rect">
            <a:avLst/>
          </a:prstGeom>
          <a:noFill/>
          <a:ln/>
        </p:spPr>
        <p:txBody>
          <a:bodyPr wrap="square" lIns="0" tIns="0" rIns="0" bIns="0" rtlCol="0" anchor="ctr"/>
          <a:lstStyle/>
          <a:p>
            <a:pPr algn="l" indent="0" marL="0">
              <a:buNone/>
            </a:pPr>
            <a:r>
              <a:rPr lang="en-US" sz="1200" b="1" dirty="0">
                <a:solidFill>
                  <a:srgbClr val="3F6B52"/>
                </a:solidFill>
                <a:latin typeface="Cambria" pitchFamily="34" charset="0"/>
                <a:ea typeface="Cambria" pitchFamily="34" charset="-122"/>
                <a:cs typeface="Cambria" pitchFamily="34" charset="-120"/>
              </a:rPr>
              <a:t>Verified</a:t>
            </a:r>
            <a:endParaRPr lang="en-US" sz="1200" dirty="0"/>
          </a:p>
        </p:txBody>
      </p:sp>
      <p:pic>
        <p:nvPicPr>
          <p:cNvPr id="55" name="Image 11" descr="preencoded.png">    </p:cNvPr>
          <p:cNvPicPr>
            <a:picLocks noChangeAspect="1"/>
          </p:cNvPicPr>
          <p:nvPr/>
        </p:nvPicPr>
        <p:blipFill>
          <a:blip r:embed="rId12"/>
          <a:stretch>
            <a:fillRect/>
          </a:stretch>
        </p:blipFill>
        <p:spPr>
          <a:xfrm>
            <a:off x="9272016" y="1069848"/>
            <a:ext cx="182880" cy="182880"/>
          </a:xfrm>
          <a:prstGeom prst="rect">
            <a:avLst/>
          </a:prstGeom>
        </p:spPr>
      </p:pic>
      <p:sp>
        <p:nvSpPr>
          <p:cNvPr id="56" name="Text 41"/>
          <p:cNvSpPr txBox="1"/>
          <p:nvPr/>
        </p:nvSpPr>
        <p:spPr>
          <a:xfrm>
            <a:off x="7360920" y="6400800"/>
            <a:ext cx="1554480"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Consistency border</a:t>
            </a:r>
            <a:endParaRPr lang="en-US" sz="1000" dirty="0"/>
          </a:p>
        </p:txBody>
      </p:sp>
      <p:sp>
        <p:nvSpPr>
          <p:cNvPr id="57" name="Shape 42"/>
          <p:cNvSpPr/>
          <p:nvPr/>
        </p:nvSpPr>
        <p:spPr>
          <a:xfrm>
            <a:off x="8138160" y="749808"/>
            <a:ext cx="0" cy="457200"/>
          </a:xfrm>
          <a:prstGeom prst="line">
            <a:avLst/>
          </a:prstGeom>
          <a:noFill/>
          <a:ln w="12700">
            <a:solidFill>
              <a:srgbClr val="2F3E46"/>
            </a:solidFill>
            <a:prstDash val="solid"/>
            <a:tailEnd type="triangle"/>
          </a:ln>
        </p:spPr>
      </p:sp>
      <p:sp>
        <p:nvSpPr>
          <p:cNvPr id="58" name="Shape 43"/>
          <p:cNvSpPr/>
          <p:nvPr/>
        </p:nvSpPr>
        <p:spPr>
          <a:xfrm flipV="1">
            <a:off x="7423404" y="1627632"/>
            <a:ext cx="469392" cy="402336"/>
          </a:xfrm>
          <a:prstGeom prst="line">
            <a:avLst/>
          </a:prstGeom>
          <a:noFill/>
          <a:ln w="12700">
            <a:solidFill>
              <a:srgbClr val="2F3E46"/>
            </a:solidFill>
            <a:prstDash val="solid"/>
            <a:tailEnd type="triangle"/>
          </a:ln>
        </p:spPr>
      </p:sp>
      <p:sp>
        <p:nvSpPr>
          <p:cNvPr id="59" name="Shape 44"/>
          <p:cNvSpPr/>
          <p:nvPr/>
        </p:nvSpPr>
        <p:spPr>
          <a:xfrm>
            <a:off x="8383524" y="1627632"/>
            <a:ext cx="469392" cy="402336"/>
          </a:xfrm>
          <a:prstGeom prst="line">
            <a:avLst/>
          </a:prstGeom>
          <a:noFill/>
          <a:ln w="12700">
            <a:solidFill>
              <a:srgbClr val="2F3E46"/>
            </a:solidFill>
            <a:prstDash val="solid"/>
            <a:tailEnd type="triangle"/>
          </a:ln>
        </p:spPr>
      </p:sp>
      <p:sp>
        <p:nvSpPr>
          <p:cNvPr id="60" name="Shape 45"/>
          <p:cNvSpPr/>
          <p:nvPr/>
        </p:nvSpPr>
        <p:spPr>
          <a:xfrm flipV="1">
            <a:off x="6480126" y="2450592"/>
            <a:ext cx="527148" cy="649224"/>
          </a:xfrm>
          <a:prstGeom prst="line">
            <a:avLst/>
          </a:prstGeom>
          <a:noFill/>
          <a:ln w="12700">
            <a:solidFill>
              <a:srgbClr val="2F3E46"/>
            </a:solidFill>
            <a:prstDash val="solid"/>
            <a:tailEnd type="triangle"/>
          </a:ln>
        </p:spPr>
      </p:sp>
      <p:sp>
        <p:nvSpPr>
          <p:cNvPr id="61" name="Shape 46"/>
          <p:cNvSpPr/>
          <p:nvPr/>
        </p:nvSpPr>
        <p:spPr>
          <a:xfrm>
            <a:off x="6949440" y="3310128"/>
            <a:ext cx="548640" cy="0"/>
          </a:xfrm>
          <a:prstGeom prst="line">
            <a:avLst/>
          </a:prstGeom>
          <a:noFill/>
          <a:ln w="12700">
            <a:solidFill>
              <a:srgbClr val="2F3E46"/>
            </a:solidFill>
            <a:prstDash val="solid"/>
            <a:headEnd type="triangle"/>
            <a:tailEnd type="triangle"/>
          </a:ln>
        </p:spPr>
      </p:sp>
      <p:sp>
        <p:nvSpPr>
          <p:cNvPr id="62" name="Shape 47"/>
          <p:cNvSpPr/>
          <p:nvPr/>
        </p:nvSpPr>
        <p:spPr>
          <a:xfrm>
            <a:off x="8778240" y="3310128"/>
            <a:ext cx="548640" cy="0"/>
          </a:xfrm>
          <a:prstGeom prst="line">
            <a:avLst/>
          </a:prstGeom>
          <a:noFill/>
          <a:ln w="12700">
            <a:solidFill>
              <a:srgbClr val="2F3E46"/>
            </a:solidFill>
            <a:prstDash val="solid"/>
            <a:headEnd type="triangle"/>
            <a:tailEnd type="triangle"/>
          </a:ln>
        </p:spPr>
      </p:sp>
      <p:sp>
        <p:nvSpPr>
          <p:cNvPr id="63" name="Shape 48"/>
          <p:cNvSpPr/>
          <p:nvPr/>
        </p:nvSpPr>
        <p:spPr>
          <a:xfrm>
            <a:off x="9269046" y="2450592"/>
            <a:ext cx="527148" cy="649224"/>
          </a:xfrm>
          <a:prstGeom prst="line">
            <a:avLst/>
          </a:prstGeom>
          <a:noFill/>
          <a:ln w="12700">
            <a:solidFill>
              <a:srgbClr val="2F3E46"/>
            </a:solidFill>
            <a:prstDash val="solid"/>
            <a:tailEnd type="triangle"/>
          </a:ln>
        </p:spPr>
      </p:sp>
      <p:sp>
        <p:nvSpPr>
          <p:cNvPr id="64" name="Shape 49"/>
          <p:cNvSpPr/>
          <p:nvPr/>
        </p:nvSpPr>
        <p:spPr>
          <a:xfrm>
            <a:off x="10055203" y="3520440"/>
            <a:ext cx="943814" cy="2249424"/>
          </a:xfrm>
          <a:prstGeom prst="line">
            <a:avLst/>
          </a:prstGeom>
          <a:noFill/>
          <a:ln w="12700">
            <a:solidFill>
              <a:srgbClr val="2F3E46"/>
            </a:solidFill>
            <a:prstDash val="solid"/>
            <a:tailEnd type="triangle"/>
          </a:ln>
        </p:spPr>
      </p:sp>
      <p:sp>
        <p:nvSpPr>
          <p:cNvPr id="65" name="Shape 50"/>
          <p:cNvSpPr/>
          <p:nvPr/>
        </p:nvSpPr>
        <p:spPr>
          <a:xfrm flipV="1">
            <a:off x="5277303" y="3520440"/>
            <a:ext cx="943814" cy="2249424"/>
          </a:xfrm>
          <a:prstGeom prst="line">
            <a:avLst/>
          </a:prstGeom>
          <a:noFill/>
          <a:ln w="12700">
            <a:solidFill>
              <a:srgbClr val="2F3E46"/>
            </a:solidFill>
            <a:prstDash val="solid"/>
            <a:tailEnd type="triangle"/>
          </a:ln>
        </p:spPr>
      </p:sp>
      <p:sp>
        <p:nvSpPr>
          <p:cNvPr id="66" name="Shape 51"/>
          <p:cNvSpPr/>
          <p:nvPr/>
        </p:nvSpPr>
        <p:spPr>
          <a:xfrm flipH="1">
            <a:off x="7863840" y="4315968"/>
            <a:ext cx="548640" cy="0"/>
          </a:xfrm>
          <a:prstGeom prst="line">
            <a:avLst/>
          </a:prstGeom>
          <a:noFill/>
          <a:ln w="12700">
            <a:solidFill>
              <a:srgbClr val="2F3E46"/>
            </a:solidFill>
            <a:prstDash val="solid"/>
            <a:tailEnd type="triangle"/>
          </a:ln>
        </p:spPr>
      </p:sp>
      <p:sp>
        <p:nvSpPr>
          <p:cNvPr id="67" name="Shape 52"/>
          <p:cNvSpPr/>
          <p:nvPr/>
        </p:nvSpPr>
        <p:spPr>
          <a:xfrm flipH="1">
            <a:off x="7863840" y="4718304"/>
            <a:ext cx="548640" cy="0"/>
          </a:xfrm>
          <a:prstGeom prst="line">
            <a:avLst/>
          </a:prstGeom>
          <a:noFill/>
          <a:ln w="12700">
            <a:solidFill>
              <a:srgbClr val="2F3E46"/>
            </a:solidFill>
            <a:prstDash val="solid"/>
            <a:tailEnd type="triangle"/>
          </a:ln>
        </p:spPr>
      </p:sp>
      <p:sp>
        <p:nvSpPr>
          <p:cNvPr id="68" name="Shape 53"/>
          <p:cNvSpPr/>
          <p:nvPr/>
        </p:nvSpPr>
        <p:spPr>
          <a:xfrm flipH="1">
            <a:off x="7863840" y="5120640"/>
            <a:ext cx="548640" cy="0"/>
          </a:xfrm>
          <a:prstGeom prst="line">
            <a:avLst/>
          </a:prstGeom>
          <a:noFill/>
          <a:ln w="12700">
            <a:solidFill>
              <a:srgbClr val="2F3E46"/>
            </a:solidFill>
            <a:prstDash val="solid"/>
            <a:tailEnd type="triangle"/>
          </a:ln>
        </p:spPr>
      </p:sp>
      <p:sp>
        <p:nvSpPr>
          <p:cNvPr id="69" name="Shape 54"/>
          <p:cNvSpPr/>
          <p:nvPr/>
        </p:nvSpPr>
        <p:spPr>
          <a:xfrm flipH="1">
            <a:off x="7863840" y="5522976"/>
            <a:ext cx="548640" cy="0"/>
          </a:xfrm>
          <a:prstGeom prst="line">
            <a:avLst/>
          </a:prstGeom>
          <a:noFill/>
          <a:ln w="12700">
            <a:solidFill>
              <a:srgbClr val="2F3E46"/>
            </a:solidFill>
            <a:prstDash val="solid"/>
            <a:tailEnd type="triangle"/>
          </a:ln>
        </p:spPr>
      </p:sp>
      <p:sp>
        <p:nvSpPr>
          <p:cNvPr id="70" name="Shape 55"/>
          <p:cNvSpPr/>
          <p:nvPr/>
        </p:nvSpPr>
        <p:spPr>
          <a:xfrm flipH="1">
            <a:off x="7863840" y="5925312"/>
            <a:ext cx="548640" cy="0"/>
          </a:xfrm>
          <a:prstGeom prst="line">
            <a:avLst/>
          </a:prstGeom>
          <a:noFill/>
          <a:ln w="12700">
            <a:solidFill>
              <a:srgbClr val="2F3E46"/>
            </a:solidFill>
            <a:prstDash val="solid"/>
            <a:tailEnd type="triangle"/>
          </a:ln>
        </p:spPr>
      </p:sp>
      <p:sp>
        <p:nvSpPr>
          <p:cNvPr id="71" name="Shape 56"/>
          <p:cNvSpPr/>
          <p:nvPr/>
        </p:nvSpPr>
        <p:spPr>
          <a:xfrm>
            <a:off x="9601200" y="4315968"/>
            <a:ext cx="868680" cy="1609344"/>
          </a:xfrm>
          <a:custGeom>
            <a:avLst/>
            <a:gdLst/>
            <a:ahLst/>
            <a:cxnLst/>
            <a:rect l="l" t="t" r="r" b="b"/>
            <a:pathLst>
              <a:path w="868680" h="1609344">
                <a:moveTo>
                  <a:pt x="868680" y="1609344"/>
                </a:moveTo>
                <a:cubicBezTo>
                  <a:pt x="390906" y="1609344"/>
                  <a:pt x="477774" y="0"/>
                  <a:pt x="0" y="0"/>
                </a:cubicBezTo>
              </a:path>
            </a:pathLst>
          </a:custGeom>
          <a:ln w="12700">
            <a:solidFill>
              <a:srgbClr val="2F3E46"/>
            </a:solidFill>
            <a:prstDash val="solid"/>
            <a:tailEnd type="triangle"/>
          </a:ln>
        </p:spPr>
      </p:sp>
      <p:sp>
        <p:nvSpPr>
          <p:cNvPr id="72" name="Shape 57"/>
          <p:cNvSpPr/>
          <p:nvPr/>
        </p:nvSpPr>
        <p:spPr>
          <a:xfrm>
            <a:off x="5806440" y="4315968"/>
            <a:ext cx="868680" cy="1609344"/>
          </a:xfrm>
          <a:custGeom>
            <a:avLst/>
            <a:gdLst/>
            <a:ahLst/>
            <a:cxnLst/>
            <a:rect l="l" t="t" r="r" b="b"/>
            <a:pathLst>
              <a:path w="868680" h="1609344">
                <a:moveTo>
                  <a:pt x="868680" y="0"/>
                </a:moveTo>
                <a:cubicBezTo>
                  <a:pt x="390906" y="0"/>
                  <a:pt x="477774" y="1609344"/>
                  <a:pt x="0" y="1609344"/>
                </a:cubicBezTo>
              </a:path>
            </a:pathLst>
          </a:custGeom>
          <a:ln w="12700">
            <a:solidFill>
              <a:srgbClr val="2F3E46"/>
            </a:solidFill>
            <a:prstDash val="solid"/>
            <a:tailEnd type="triangle"/>
          </a:ln>
        </p:spPr>
      </p:sp>
      <p:sp>
        <p:nvSpPr>
          <p:cNvPr id="73" name="Shape 58"/>
          <p:cNvSpPr/>
          <p:nvPr/>
        </p:nvSpPr>
        <p:spPr>
          <a:xfrm>
            <a:off x="9601200" y="4718304"/>
            <a:ext cx="868680" cy="1207008"/>
          </a:xfrm>
          <a:custGeom>
            <a:avLst/>
            <a:gdLst/>
            <a:ahLst/>
            <a:cxnLst/>
            <a:rect l="l" t="t" r="r" b="b"/>
            <a:pathLst>
              <a:path w="868680" h="1207008">
                <a:moveTo>
                  <a:pt x="868680" y="1207008"/>
                </a:moveTo>
                <a:cubicBezTo>
                  <a:pt x="390906" y="1207008"/>
                  <a:pt x="477774" y="0"/>
                  <a:pt x="0" y="0"/>
                </a:cubicBezTo>
              </a:path>
            </a:pathLst>
          </a:custGeom>
          <a:ln w="12700">
            <a:solidFill>
              <a:srgbClr val="2F3E46"/>
            </a:solidFill>
            <a:prstDash val="solid"/>
            <a:tailEnd type="triangle"/>
          </a:ln>
        </p:spPr>
      </p:sp>
      <p:sp>
        <p:nvSpPr>
          <p:cNvPr id="74" name="Shape 59"/>
          <p:cNvSpPr/>
          <p:nvPr/>
        </p:nvSpPr>
        <p:spPr>
          <a:xfrm>
            <a:off x="5806440" y="4718304"/>
            <a:ext cx="868680" cy="1207008"/>
          </a:xfrm>
          <a:custGeom>
            <a:avLst/>
            <a:gdLst/>
            <a:ahLst/>
            <a:cxnLst/>
            <a:rect l="l" t="t" r="r" b="b"/>
            <a:pathLst>
              <a:path w="868680" h="1207008">
                <a:moveTo>
                  <a:pt x="868680" y="0"/>
                </a:moveTo>
                <a:cubicBezTo>
                  <a:pt x="390906" y="0"/>
                  <a:pt x="477774" y="1207008"/>
                  <a:pt x="0" y="1207008"/>
                </a:cubicBezTo>
              </a:path>
            </a:pathLst>
          </a:custGeom>
          <a:ln w="12700">
            <a:solidFill>
              <a:srgbClr val="2F3E46"/>
            </a:solidFill>
            <a:prstDash val="solid"/>
            <a:tailEnd type="triangle"/>
          </a:ln>
        </p:spPr>
      </p:sp>
      <p:sp>
        <p:nvSpPr>
          <p:cNvPr id="75" name="Shape 60"/>
          <p:cNvSpPr/>
          <p:nvPr/>
        </p:nvSpPr>
        <p:spPr>
          <a:xfrm>
            <a:off x="9601200" y="5120640"/>
            <a:ext cx="868680" cy="804672"/>
          </a:xfrm>
          <a:custGeom>
            <a:avLst/>
            <a:gdLst/>
            <a:ahLst/>
            <a:cxnLst/>
            <a:rect l="l" t="t" r="r" b="b"/>
            <a:pathLst>
              <a:path w="868680" h="804672">
                <a:moveTo>
                  <a:pt x="868680" y="804672"/>
                </a:moveTo>
                <a:cubicBezTo>
                  <a:pt x="390906" y="804672"/>
                  <a:pt x="477774" y="0"/>
                  <a:pt x="0" y="0"/>
                </a:cubicBezTo>
              </a:path>
            </a:pathLst>
          </a:custGeom>
          <a:ln w="12700">
            <a:solidFill>
              <a:srgbClr val="2F3E46"/>
            </a:solidFill>
            <a:prstDash val="solid"/>
            <a:tailEnd type="triangle"/>
          </a:ln>
        </p:spPr>
      </p:sp>
      <p:sp>
        <p:nvSpPr>
          <p:cNvPr id="76" name="Shape 61"/>
          <p:cNvSpPr/>
          <p:nvPr/>
        </p:nvSpPr>
        <p:spPr>
          <a:xfrm>
            <a:off x="5806440" y="5120640"/>
            <a:ext cx="868680" cy="804672"/>
          </a:xfrm>
          <a:custGeom>
            <a:avLst/>
            <a:gdLst/>
            <a:ahLst/>
            <a:cxnLst/>
            <a:rect l="l" t="t" r="r" b="b"/>
            <a:pathLst>
              <a:path w="868680" h="804672">
                <a:moveTo>
                  <a:pt x="868680" y="0"/>
                </a:moveTo>
                <a:cubicBezTo>
                  <a:pt x="390906" y="0"/>
                  <a:pt x="477774" y="804672"/>
                  <a:pt x="0" y="804672"/>
                </a:cubicBezTo>
              </a:path>
            </a:pathLst>
          </a:custGeom>
          <a:ln w="12700">
            <a:solidFill>
              <a:srgbClr val="2F3E46"/>
            </a:solidFill>
            <a:prstDash val="solid"/>
            <a:tailEnd type="triangle"/>
          </a:ln>
        </p:spPr>
      </p:sp>
      <p:sp>
        <p:nvSpPr>
          <p:cNvPr id="77" name="Shape 62"/>
          <p:cNvSpPr/>
          <p:nvPr/>
        </p:nvSpPr>
        <p:spPr>
          <a:xfrm>
            <a:off x="9601200" y="5522976"/>
            <a:ext cx="868680" cy="402336"/>
          </a:xfrm>
          <a:custGeom>
            <a:avLst/>
            <a:gdLst/>
            <a:ahLst/>
            <a:cxnLst/>
            <a:rect l="l" t="t" r="r" b="b"/>
            <a:pathLst>
              <a:path w="868680" h="402336">
                <a:moveTo>
                  <a:pt x="868680" y="402336"/>
                </a:moveTo>
                <a:cubicBezTo>
                  <a:pt x="390906" y="402336"/>
                  <a:pt x="477774" y="0"/>
                  <a:pt x="0" y="0"/>
                </a:cubicBezTo>
              </a:path>
            </a:pathLst>
          </a:custGeom>
          <a:ln w="12700">
            <a:solidFill>
              <a:srgbClr val="2F3E46"/>
            </a:solidFill>
            <a:prstDash val="solid"/>
            <a:tailEnd type="triangle"/>
          </a:ln>
        </p:spPr>
      </p:sp>
      <p:sp>
        <p:nvSpPr>
          <p:cNvPr id="78" name="Shape 63"/>
          <p:cNvSpPr/>
          <p:nvPr/>
        </p:nvSpPr>
        <p:spPr>
          <a:xfrm>
            <a:off x="5806440" y="5522976"/>
            <a:ext cx="868680" cy="402336"/>
          </a:xfrm>
          <a:custGeom>
            <a:avLst/>
            <a:gdLst/>
            <a:ahLst/>
            <a:cxnLst/>
            <a:rect l="l" t="t" r="r" b="b"/>
            <a:pathLst>
              <a:path w="868680" h="402336">
                <a:moveTo>
                  <a:pt x="868680" y="0"/>
                </a:moveTo>
                <a:cubicBezTo>
                  <a:pt x="390906" y="0"/>
                  <a:pt x="477774" y="402336"/>
                  <a:pt x="0" y="402336"/>
                </a:cubicBezTo>
              </a:path>
            </a:pathLst>
          </a:custGeom>
          <a:ln w="12700">
            <a:solidFill>
              <a:srgbClr val="2F3E46"/>
            </a:solidFill>
            <a:prstDash val="solid"/>
            <a:tailEnd type="triangle"/>
          </a:ln>
        </p:spPr>
      </p:sp>
      <p:sp>
        <p:nvSpPr>
          <p:cNvPr id="79" name="Shape 64"/>
          <p:cNvSpPr/>
          <p:nvPr/>
        </p:nvSpPr>
        <p:spPr>
          <a:xfrm flipH="1">
            <a:off x="9601200" y="5925312"/>
            <a:ext cx="868680" cy="0"/>
          </a:xfrm>
          <a:prstGeom prst="line">
            <a:avLst/>
          </a:prstGeom>
          <a:noFill/>
          <a:ln w="12700">
            <a:solidFill>
              <a:srgbClr val="2F3E46"/>
            </a:solidFill>
            <a:prstDash val="solid"/>
            <a:tailEnd type="triangle"/>
          </a:ln>
        </p:spPr>
      </p:sp>
      <p:sp>
        <p:nvSpPr>
          <p:cNvPr id="80" name="Shape 65"/>
          <p:cNvSpPr/>
          <p:nvPr/>
        </p:nvSpPr>
        <p:spPr>
          <a:xfrm flipH="1">
            <a:off x="5806440" y="5925312"/>
            <a:ext cx="868680" cy="0"/>
          </a:xfrm>
          <a:prstGeom prst="line">
            <a:avLst/>
          </a:prstGeom>
          <a:noFill/>
          <a:ln w="12700">
            <a:solidFill>
              <a:srgbClr val="2F3E46"/>
            </a:solidFill>
            <a:prstDash val="solid"/>
            <a:tailEnd type="triangle"/>
          </a:ln>
        </p:spPr>
      </p:sp>
      <p:sp>
        <p:nvSpPr>
          <p:cNvPr id="81" name="Text 66"/>
          <p:cNvSpPr txBox="1"/>
          <p:nvPr/>
        </p:nvSpPr>
        <p:spPr>
          <a:xfrm>
            <a:off x="7498080" y="1207008"/>
            <a:ext cx="1280160" cy="420624"/>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50" dirty="0">
                <a:solidFill>
                  <a:srgbClr val="2F3E46"/>
                </a:solidFill>
                <a:latin typeface="Calibri" pitchFamily="34" charset="0"/>
                <a:ea typeface="Calibri" pitchFamily="34" charset="-122"/>
                <a:cs typeface="Calibri" pitchFamily="34" charset="-120"/>
              </a:rPr>
              <a:t>Attention Feed</a:t>
            </a:r>
            <a:endParaRPr lang="en-US" sz="1050" dirty="0"/>
          </a:p>
        </p:txBody>
      </p:sp>
      <p:sp>
        <p:nvSpPr>
          <p:cNvPr id="82" name="Text 67"/>
          <p:cNvSpPr txBox="1"/>
          <p:nvPr/>
        </p:nvSpPr>
        <p:spPr>
          <a:xfrm>
            <a:off x="6537960" y="2029968"/>
            <a:ext cx="1280160" cy="420624"/>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50" dirty="0">
                <a:solidFill>
                  <a:srgbClr val="2F3E46"/>
                </a:solidFill>
                <a:latin typeface="Calibri" pitchFamily="34" charset="0"/>
                <a:ea typeface="Calibri" pitchFamily="34" charset="-122"/>
                <a:cs typeface="Calibri" pitchFamily="34" charset="-120"/>
              </a:rPr>
              <a:t>Prioritizer</a:t>
            </a:r>
            <a:endParaRPr lang="en-US" sz="1050" dirty="0"/>
          </a:p>
        </p:txBody>
      </p:sp>
      <p:sp>
        <p:nvSpPr>
          <p:cNvPr id="83" name="Text 68"/>
          <p:cNvSpPr txBox="1"/>
          <p:nvPr/>
        </p:nvSpPr>
        <p:spPr>
          <a:xfrm>
            <a:off x="8458200" y="2029968"/>
            <a:ext cx="1280160" cy="420624"/>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50" dirty="0">
                <a:solidFill>
                  <a:srgbClr val="2F3E46"/>
                </a:solidFill>
                <a:latin typeface="Calibri" pitchFamily="34" charset="0"/>
                <a:ea typeface="Calibri" pitchFamily="34" charset="-122"/>
                <a:cs typeface="Calibri" pitchFamily="34" charset="-120"/>
              </a:rPr>
              <a:t>Retention</a:t>
            </a:r>
            <a:endParaRPr lang="en-US" sz="1050" dirty="0"/>
          </a:p>
        </p:txBody>
      </p:sp>
      <p:sp>
        <p:nvSpPr>
          <p:cNvPr id="84" name="Text 69"/>
          <p:cNvSpPr txBox="1"/>
          <p:nvPr/>
        </p:nvSpPr>
        <p:spPr>
          <a:xfrm>
            <a:off x="5669280" y="3099816"/>
            <a:ext cx="1280160" cy="420624"/>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50" dirty="0">
                <a:solidFill>
                  <a:srgbClr val="2F3E46"/>
                </a:solidFill>
                <a:latin typeface="Calibri" pitchFamily="34" charset="0"/>
                <a:ea typeface="Calibri" pitchFamily="34" charset="-122"/>
                <a:cs typeface="Calibri" pitchFamily="34" charset="-120"/>
              </a:rPr>
              <a:t>Entity Cards</a:t>
            </a:r>
            <a:endParaRPr lang="en-US" sz="1050" dirty="0"/>
          </a:p>
        </p:txBody>
      </p:sp>
      <p:sp>
        <p:nvSpPr>
          <p:cNvPr id="85" name="Text 70"/>
          <p:cNvSpPr txBox="1"/>
          <p:nvPr/>
        </p:nvSpPr>
        <p:spPr>
          <a:xfrm>
            <a:off x="7498080" y="3099816"/>
            <a:ext cx="1280160" cy="420624"/>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50" dirty="0">
                <a:solidFill>
                  <a:srgbClr val="2F3E46"/>
                </a:solidFill>
                <a:latin typeface="Calibri" pitchFamily="34" charset="0"/>
                <a:ea typeface="Calibri" pitchFamily="34" charset="-122"/>
                <a:cs typeface="Calibri" pitchFamily="34" charset="-120"/>
              </a:rPr>
              <a:t>Consistency Gate</a:t>
            </a:r>
            <a:endParaRPr lang="en-US" sz="1050" dirty="0"/>
          </a:p>
        </p:txBody>
      </p:sp>
      <p:sp>
        <p:nvSpPr>
          <p:cNvPr id="86" name="Text 71"/>
          <p:cNvSpPr txBox="1"/>
          <p:nvPr/>
        </p:nvSpPr>
        <p:spPr>
          <a:xfrm>
            <a:off x="9326880" y="3099816"/>
            <a:ext cx="1280160" cy="420624"/>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50" dirty="0">
                <a:solidFill>
                  <a:srgbClr val="2F3E46"/>
                </a:solidFill>
                <a:latin typeface="Calibri" pitchFamily="34" charset="0"/>
                <a:ea typeface="Calibri" pitchFamily="34" charset="-122"/>
                <a:cs typeface="Calibri" pitchFamily="34" charset="-120"/>
              </a:rPr>
              <a:t>Knowledge Graph</a:t>
            </a:r>
            <a:endParaRPr lang="en-US" sz="1050" dirty="0"/>
          </a:p>
        </p:txBody>
      </p:sp>
      <p:sp>
        <p:nvSpPr>
          <p:cNvPr id="87" name="Shape 72"/>
          <p:cNvSpPr/>
          <p:nvPr/>
        </p:nvSpPr>
        <p:spPr>
          <a:xfrm>
            <a:off x="6675120" y="4160520"/>
            <a:ext cx="1188720" cy="310896"/>
          </a:xfrm>
          <a:prstGeom prst="rect">
            <a:avLst/>
          </a:prstGeom>
          <a:solidFill>
            <a:srgbClr val="FFFFFF"/>
          </a:solidFill>
          <a:ln w="9525">
            <a:solidFill>
              <a:srgbClr val="2F3E46"/>
            </a:solidFill>
            <a:prstDash val="solid"/>
          </a:ln>
          <a:effectLst>
            <a:outerShdw sx="100000" sy="100000" kx="0" ky="0" algn="bl" rotWithShape="0" blurRad="38100" dist="19050" dir="5400000">
              <a:srgbClr val="1E293B">
                <a:alpha val="18000"/>
              </a:srgbClr>
            </a:outerShdw>
          </a:effectLst>
        </p:spPr>
      </p:sp>
      <p:pic>
        <p:nvPicPr>
          <p:cNvPr id="88" name="Image 12" descr="preencoded.png">    </p:cNvPr>
          <p:cNvPicPr>
            <a:picLocks noChangeAspect="1"/>
          </p:cNvPicPr>
          <p:nvPr/>
        </p:nvPicPr>
        <p:blipFill>
          <a:blip r:embed="rId13"/>
          <a:stretch>
            <a:fillRect/>
          </a:stretch>
        </p:blipFill>
        <p:spPr>
          <a:xfrm>
            <a:off x="7024939" y="4238244"/>
            <a:ext cx="155448" cy="155448"/>
          </a:xfrm>
          <a:prstGeom prst="rect">
            <a:avLst/>
          </a:prstGeom>
        </p:spPr>
      </p:pic>
      <p:sp>
        <p:nvSpPr>
          <p:cNvPr id="89" name="Text 73"/>
          <p:cNvSpPr txBox="1"/>
          <p:nvPr/>
        </p:nvSpPr>
        <p:spPr>
          <a:xfrm>
            <a:off x="7244395" y="4160520"/>
            <a:ext cx="406787" cy="310896"/>
          </a:xfrm>
          <a:prstGeom prst="rect">
            <a:avLst/>
          </a:prstGeom>
          <a:noFill/>
          <a:ln/>
        </p:spPr>
        <p:txBody>
          <a:bodyPr wrap="square" lIns="0" tIns="0" rIns="0" bIns="0" rtlCol="0" anchor="ctr"/>
          <a:lstStyle/>
          <a:p>
            <a:pPr algn="l" indent="0" marL="0">
              <a:buNone/>
            </a:pPr>
            <a:r>
              <a:rPr lang="en-US" sz="1000" dirty="0">
                <a:solidFill>
                  <a:srgbClr val="2F3E46"/>
                </a:solidFill>
                <a:latin typeface="Calibri" pitchFamily="34" charset="0"/>
                <a:ea typeface="Calibri" pitchFamily="34" charset="-122"/>
                <a:cs typeface="Calibri" pitchFamily="34" charset="-120"/>
              </a:rPr>
              <a:t>Story</a:t>
            </a:r>
            <a:endParaRPr lang="en-US" sz="1000" dirty="0"/>
          </a:p>
        </p:txBody>
      </p:sp>
      <p:sp>
        <p:nvSpPr>
          <p:cNvPr id="90" name="Shape 74"/>
          <p:cNvSpPr/>
          <p:nvPr/>
        </p:nvSpPr>
        <p:spPr>
          <a:xfrm>
            <a:off x="6675120" y="4562856"/>
            <a:ext cx="1188720" cy="310896"/>
          </a:xfrm>
          <a:prstGeom prst="rect">
            <a:avLst/>
          </a:prstGeom>
          <a:solidFill>
            <a:srgbClr val="FFFFFF"/>
          </a:solidFill>
          <a:ln w="9525">
            <a:solidFill>
              <a:srgbClr val="2F3E46"/>
            </a:solidFill>
            <a:prstDash val="solid"/>
          </a:ln>
          <a:effectLst>
            <a:outerShdw sx="100000" sy="100000" kx="0" ky="0" algn="bl" rotWithShape="0" blurRad="38100" dist="19050" dir="5400000">
              <a:srgbClr val="1E293B">
                <a:alpha val="18000"/>
              </a:srgbClr>
            </a:outerShdw>
          </a:effectLst>
        </p:spPr>
      </p:sp>
      <p:pic>
        <p:nvPicPr>
          <p:cNvPr id="91" name="Image 13" descr="preencoded.png">    </p:cNvPr>
          <p:cNvPicPr>
            <a:picLocks noChangeAspect="1"/>
          </p:cNvPicPr>
          <p:nvPr/>
        </p:nvPicPr>
        <p:blipFill>
          <a:blip r:embed="rId14"/>
          <a:stretch>
            <a:fillRect/>
          </a:stretch>
        </p:blipFill>
        <p:spPr>
          <a:xfrm>
            <a:off x="7048596" y="4640580"/>
            <a:ext cx="155448" cy="155448"/>
          </a:xfrm>
          <a:prstGeom prst="rect">
            <a:avLst/>
          </a:prstGeom>
        </p:spPr>
      </p:pic>
      <p:sp>
        <p:nvSpPr>
          <p:cNvPr id="92" name="Text 75"/>
          <p:cNvSpPr txBox="1"/>
          <p:nvPr/>
        </p:nvSpPr>
        <p:spPr>
          <a:xfrm>
            <a:off x="7268052" y="4562856"/>
            <a:ext cx="359472" cy="310896"/>
          </a:xfrm>
          <a:prstGeom prst="rect">
            <a:avLst/>
          </a:prstGeom>
          <a:noFill/>
          <a:ln/>
        </p:spPr>
        <p:txBody>
          <a:bodyPr wrap="square" lIns="0" tIns="0" rIns="0" bIns="0" rtlCol="0" anchor="ctr"/>
          <a:lstStyle/>
          <a:p>
            <a:pPr algn="l" indent="0" marL="0">
              <a:buNone/>
            </a:pPr>
            <a:r>
              <a:rPr lang="en-US" sz="1000" dirty="0">
                <a:solidFill>
                  <a:srgbClr val="2F3E46"/>
                </a:solidFill>
                <a:latin typeface="Calibri" pitchFamily="34" charset="0"/>
                <a:ea typeface="Calibri" pitchFamily="34" charset="-122"/>
                <a:cs typeface="Calibri" pitchFamily="34" charset="-120"/>
              </a:rPr>
              <a:t>Plan</a:t>
            </a:r>
            <a:endParaRPr lang="en-US" sz="1000" dirty="0"/>
          </a:p>
        </p:txBody>
      </p:sp>
      <p:sp>
        <p:nvSpPr>
          <p:cNvPr id="93" name="Shape 76"/>
          <p:cNvSpPr/>
          <p:nvPr/>
        </p:nvSpPr>
        <p:spPr>
          <a:xfrm>
            <a:off x="6675120" y="4965192"/>
            <a:ext cx="1188720" cy="310896"/>
          </a:xfrm>
          <a:prstGeom prst="rect">
            <a:avLst/>
          </a:prstGeom>
          <a:solidFill>
            <a:srgbClr val="FFFFFF"/>
          </a:solidFill>
          <a:ln w="9525">
            <a:solidFill>
              <a:srgbClr val="2F3E46"/>
            </a:solidFill>
            <a:prstDash val="solid"/>
          </a:ln>
          <a:effectLst>
            <a:outerShdw sx="100000" sy="100000" kx="0" ky="0" algn="bl" rotWithShape="0" blurRad="38100" dist="19050" dir="5400000">
              <a:srgbClr val="1E293B">
                <a:alpha val="18000"/>
              </a:srgbClr>
            </a:outerShdw>
          </a:effectLst>
        </p:spPr>
      </p:sp>
      <p:pic>
        <p:nvPicPr>
          <p:cNvPr id="94" name="Image 14" descr="preencoded.png">    </p:cNvPr>
          <p:cNvPicPr>
            <a:picLocks noChangeAspect="1"/>
          </p:cNvPicPr>
          <p:nvPr/>
        </p:nvPicPr>
        <p:blipFill>
          <a:blip r:embed="rId15"/>
          <a:stretch>
            <a:fillRect/>
          </a:stretch>
        </p:blipFill>
        <p:spPr>
          <a:xfrm>
            <a:off x="6967268" y="5042916"/>
            <a:ext cx="155448" cy="155448"/>
          </a:xfrm>
          <a:prstGeom prst="rect">
            <a:avLst/>
          </a:prstGeom>
        </p:spPr>
      </p:pic>
      <p:sp>
        <p:nvSpPr>
          <p:cNvPr id="95" name="Text 77"/>
          <p:cNvSpPr txBox="1"/>
          <p:nvPr/>
        </p:nvSpPr>
        <p:spPr>
          <a:xfrm>
            <a:off x="7186724" y="4965192"/>
            <a:ext cx="522129" cy="310896"/>
          </a:xfrm>
          <a:prstGeom prst="rect">
            <a:avLst/>
          </a:prstGeom>
          <a:noFill/>
          <a:ln/>
        </p:spPr>
        <p:txBody>
          <a:bodyPr wrap="square" lIns="0" tIns="0" rIns="0" bIns="0" rtlCol="0" anchor="ctr"/>
          <a:lstStyle/>
          <a:p>
            <a:pPr algn="l" indent="0" marL="0">
              <a:buNone/>
            </a:pPr>
            <a:r>
              <a:rPr lang="en-US" sz="1000" dirty="0">
                <a:solidFill>
                  <a:srgbClr val="2F3E46"/>
                </a:solidFill>
                <a:latin typeface="Calibri" pitchFamily="34" charset="0"/>
                <a:ea typeface="Calibri" pitchFamily="34" charset="-122"/>
                <a:cs typeface="Calibri" pitchFamily="34" charset="-120"/>
              </a:rPr>
              <a:t>Change</a:t>
            </a:r>
            <a:endParaRPr lang="en-US" sz="1000" dirty="0"/>
          </a:p>
        </p:txBody>
      </p:sp>
      <p:sp>
        <p:nvSpPr>
          <p:cNvPr id="96" name="Shape 78"/>
          <p:cNvSpPr/>
          <p:nvPr/>
        </p:nvSpPr>
        <p:spPr>
          <a:xfrm>
            <a:off x="6675120" y="5367528"/>
            <a:ext cx="1188720" cy="310896"/>
          </a:xfrm>
          <a:prstGeom prst="rect">
            <a:avLst/>
          </a:prstGeom>
          <a:solidFill>
            <a:srgbClr val="FFFFFF"/>
          </a:solidFill>
          <a:ln w="9525">
            <a:solidFill>
              <a:srgbClr val="2F3E46"/>
            </a:solidFill>
            <a:prstDash val="solid"/>
          </a:ln>
          <a:effectLst>
            <a:outerShdw sx="100000" sy="100000" kx="0" ky="0" algn="bl" rotWithShape="0" blurRad="38100" dist="19050" dir="5400000">
              <a:srgbClr val="1E293B">
                <a:alpha val="18000"/>
              </a:srgbClr>
            </a:outerShdw>
          </a:effectLst>
        </p:spPr>
      </p:sp>
      <p:pic>
        <p:nvPicPr>
          <p:cNvPr id="97" name="Image 15" descr="preencoded.png">    </p:cNvPr>
          <p:cNvPicPr>
            <a:picLocks noChangeAspect="1"/>
          </p:cNvPicPr>
          <p:nvPr/>
        </p:nvPicPr>
        <p:blipFill>
          <a:blip r:embed="rId16"/>
          <a:stretch>
            <a:fillRect/>
          </a:stretch>
        </p:blipFill>
        <p:spPr>
          <a:xfrm>
            <a:off x="7061960" y="5445252"/>
            <a:ext cx="155448" cy="155448"/>
          </a:xfrm>
          <a:prstGeom prst="rect">
            <a:avLst/>
          </a:prstGeom>
        </p:spPr>
      </p:pic>
      <p:sp>
        <p:nvSpPr>
          <p:cNvPr id="98" name="Text 79"/>
          <p:cNvSpPr txBox="1"/>
          <p:nvPr/>
        </p:nvSpPr>
        <p:spPr>
          <a:xfrm>
            <a:off x="7281416" y="5367528"/>
            <a:ext cx="332745" cy="310896"/>
          </a:xfrm>
          <a:prstGeom prst="rect">
            <a:avLst/>
          </a:prstGeom>
          <a:noFill/>
          <a:ln/>
        </p:spPr>
        <p:txBody>
          <a:bodyPr wrap="square" lIns="0" tIns="0" rIns="0" bIns="0" rtlCol="0" anchor="ctr"/>
          <a:lstStyle/>
          <a:p>
            <a:pPr algn="l" indent="0" marL="0">
              <a:buNone/>
            </a:pPr>
            <a:r>
              <a:rPr lang="en-US" sz="1000" dirty="0">
                <a:solidFill>
                  <a:srgbClr val="2F3E46"/>
                </a:solidFill>
                <a:latin typeface="Calibri" pitchFamily="34" charset="0"/>
                <a:ea typeface="Calibri" pitchFamily="34" charset="-122"/>
                <a:cs typeface="Calibri" pitchFamily="34" charset="-120"/>
              </a:rPr>
              <a:t>Bug</a:t>
            </a:r>
            <a:endParaRPr lang="en-US" sz="1000" dirty="0"/>
          </a:p>
        </p:txBody>
      </p:sp>
      <p:sp>
        <p:nvSpPr>
          <p:cNvPr id="99" name="Shape 80"/>
          <p:cNvSpPr/>
          <p:nvPr/>
        </p:nvSpPr>
        <p:spPr>
          <a:xfrm>
            <a:off x="6675120" y="5769864"/>
            <a:ext cx="1188720" cy="310896"/>
          </a:xfrm>
          <a:prstGeom prst="rect">
            <a:avLst/>
          </a:prstGeom>
          <a:solidFill>
            <a:srgbClr val="FFFFFF"/>
          </a:solidFill>
          <a:ln w="9525">
            <a:solidFill>
              <a:srgbClr val="2F3E46"/>
            </a:solidFill>
            <a:prstDash val="solid"/>
          </a:ln>
          <a:effectLst>
            <a:outerShdw sx="100000" sy="100000" kx="0" ky="0" algn="bl" rotWithShape="0" blurRad="38100" dist="19050" dir="5400000">
              <a:srgbClr val="1E293B">
                <a:alpha val="18000"/>
              </a:srgbClr>
            </a:outerShdw>
          </a:effectLst>
        </p:spPr>
      </p:sp>
      <p:pic>
        <p:nvPicPr>
          <p:cNvPr id="100" name="Image 16" descr="preencoded.png">    </p:cNvPr>
          <p:cNvPicPr>
            <a:picLocks noChangeAspect="1"/>
          </p:cNvPicPr>
          <p:nvPr/>
        </p:nvPicPr>
        <p:blipFill>
          <a:blip r:embed="rId17"/>
          <a:stretch>
            <a:fillRect/>
          </a:stretch>
        </p:blipFill>
        <p:spPr>
          <a:xfrm>
            <a:off x="6940137" y="5847588"/>
            <a:ext cx="155448" cy="155448"/>
          </a:xfrm>
          <a:prstGeom prst="rect">
            <a:avLst/>
          </a:prstGeom>
        </p:spPr>
      </p:pic>
      <p:sp>
        <p:nvSpPr>
          <p:cNvPr id="101" name="Text 81"/>
          <p:cNvSpPr txBox="1"/>
          <p:nvPr/>
        </p:nvSpPr>
        <p:spPr>
          <a:xfrm>
            <a:off x="7159593" y="5769864"/>
            <a:ext cx="576389" cy="310896"/>
          </a:xfrm>
          <a:prstGeom prst="rect">
            <a:avLst/>
          </a:prstGeom>
          <a:noFill/>
          <a:ln/>
        </p:spPr>
        <p:txBody>
          <a:bodyPr wrap="square" lIns="0" tIns="0" rIns="0" bIns="0" rtlCol="0" anchor="ctr"/>
          <a:lstStyle/>
          <a:p>
            <a:pPr algn="l" indent="0" marL="0">
              <a:buNone/>
            </a:pPr>
            <a:r>
              <a:rPr lang="en-US" sz="1000" dirty="0">
                <a:solidFill>
                  <a:srgbClr val="2F3E46"/>
                </a:solidFill>
                <a:latin typeface="Calibri" pitchFamily="34" charset="0"/>
                <a:ea typeface="Calibri" pitchFamily="34" charset="-122"/>
                <a:cs typeface="Calibri" pitchFamily="34" charset="-120"/>
              </a:rPr>
              <a:t>Refactor</a:t>
            </a:r>
            <a:endParaRPr lang="en-US" sz="1000" dirty="0"/>
          </a:p>
        </p:txBody>
      </p:sp>
      <p:sp>
        <p:nvSpPr>
          <p:cNvPr id="102" name="Text 82"/>
          <p:cNvSpPr txBox="1"/>
          <p:nvPr/>
        </p:nvSpPr>
        <p:spPr>
          <a:xfrm>
            <a:off x="8412480" y="4160520"/>
            <a:ext cx="1188720" cy="310896"/>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Exploration</a:t>
            </a:r>
            <a:endParaRPr lang="en-US" sz="1000" dirty="0"/>
          </a:p>
        </p:txBody>
      </p:sp>
      <p:sp>
        <p:nvSpPr>
          <p:cNvPr id="103" name="Text 83"/>
          <p:cNvSpPr txBox="1"/>
          <p:nvPr/>
        </p:nvSpPr>
        <p:spPr>
          <a:xfrm>
            <a:off x="8412480" y="4562856"/>
            <a:ext cx="1188720" cy="310896"/>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Preparation</a:t>
            </a:r>
            <a:endParaRPr lang="en-US" sz="1000" dirty="0"/>
          </a:p>
        </p:txBody>
      </p:sp>
      <p:sp>
        <p:nvSpPr>
          <p:cNvPr id="104" name="Text 84"/>
          <p:cNvSpPr txBox="1"/>
          <p:nvPr/>
        </p:nvSpPr>
        <p:spPr>
          <a:xfrm>
            <a:off x="8412480" y="4965192"/>
            <a:ext cx="1188720" cy="310896"/>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Implementation</a:t>
            </a:r>
            <a:endParaRPr lang="en-US" sz="1000" dirty="0"/>
          </a:p>
        </p:txBody>
      </p:sp>
      <p:sp>
        <p:nvSpPr>
          <p:cNvPr id="105" name="Text 85"/>
          <p:cNvSpPr txBox="1"/>
          <p:nvPr/>
        </p:nvSpPr>
        <p:spPr>
          <a:xfrm>
            <a:off x="8412480" y="5367528"/>
            <a:ext cx="1188720" cy="310896"/>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Testing</a:t>
            </a:r>
            <a:endParaRPr lang="en-US" sz="1000" dirty="0"/>
          </a:p>
        </p:txBody>
      </p:sp>
      <p:sp>
        <p:nvSpPr>
          <p:cNvPr id="106" name="Text 86"/>
          <p:cNvSpPr txBox="1"/>
          <p:nvPr/>
        </p:nvSpPr>
        <p:spPr>
          <a:xfrm>
            <a:off x="8412480" y="5769864"/>
            <a:ext cx="1188720" cy="310896"/>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Review</a:t>
            </a:r>
            <a:endParaRPr lang="en-US" sz="1000" dirty="0"/>
          </a:p>
        </p:txBody>
      </p:sp>
      <p:sp>
        <p:nvSpPr>
          <p:cNvPr id="107" name="Text 87"/>
          <p:cNvSpPr txBox="1"/>
          <p:nvPr/>
        </p:nvSpPr>
        <p:spPr>
          <a:xfrm>
            <a:off x="4617720" y="5769864"/>
            <a:ext cx="1188720" cy="310896"/>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Summarizer</a:t>
            </a:r>
            <a:endParaRPr lang="en-US" sz="1000" dirty="0"/>
          </a:p>
        </p:txBody>
      </p:sp>
      <p:sp>
        <p:nvSpPr>
          <p:cNvPr id="108" name="Text 88"/>
          <p:cNvSpPr txBox="1"/>
          <p:nvPr/>
        </p:nvSpPr>
        <p:spPr>
          <a:xfrm>
            <a:off x="10469880" y="5769864"/>
            <a:ext cx="1188720" cy="310896"/>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Triggers</a:t>
            </a:r>
            <a:endParaRPr lang="en-US" sz="1000" dirty="0"/>
          </a:p>
        </p:txBody>
      </p:sp>
      <p:sp>
        <p:nvSpPr>
          <p:cNvPr id="109" name="Shape 89"/>
          <p:cNvSpPr/>
          <p:nvPr/>
        </p:nvSpPr>
        <p:spPr>
          <a:xfrm>
            <a:off x="7255764" y="6144768"/>
            <a:ext cx="27432" cy="27432"/>
          </a:xfrm>
          <a:prstGeom prst="ellipse">
            <a:avLst/>
          </a:prstGeom>
          <a:solidFill>
            <a:srgbClr val="2F3E46"/>
          </a:solidFill>
          <a:ln/>
        </p:spPr>
      </p:sp>
      <p:sp>
        <p:nvSpPr>
          <p:cNvPr id="110" name="Shape 90"/>
          <p:cNvSpPr/>
          <p:nvPr/>
        </p:nvSpPr>
        <p:spPr>
          <a:xfrm>
            <a:off x="7255764" y="6190488"/>
            <a:ext cx="27432" cy="27432"/>
          </a:xfrm>
          <a:prstGeom prst="ellipse">
            <a:avLst/>
          </a:prstGeom>
          <a:solidFill>
            <a:srgbClr val="2F3E46"/>
          </a:solidFill>
          <a:ln/>
        </p:spPr>
      </p:sp>
      <p:sp>
        <p:nvSpPr>
          <p:cNvPr id="111" name="Shape 91"/>
          <p:cNvSpPr/>
          <p:nvPr/>
        </p:nvSpPr>
        <p:spPr>
          <a:xfrm>
            <a:off x="7255764" y="6236208"/>
            <a:ext cx="27432" cy="27432"/>
          </a:xfrm>
          <a:prstGeom prst="ellipse">
            <a:avLst/>
          </a:prstGeom>
          <a:solidFill>
            <a:srgbClr val="2F3E46"/>
          </a:solidFill>
          <a:ln/>
        </p:spPr>
      </p:sp>
      <p:sp>
        <p:nvSpPr>
          <p:cNvPr id="112" name="Shape 92"/>
          <p:cNvSpPr/>
          <p:nvPr/>
        </p:nvSpPr>
        <p:spPr>
          <a:xfrm>
            <a:off x="8993124" y="6144768"/>
            <a:ext cx="27432" cy="27432"/>
          </a:xfrm>
          <a:prstGeom prst="ellipse">
            <a:avLst/>
          </a:prstGeom>
          <a:solidFill>
            <a:srgbClr val="2F3E46"/>
          </a:solidFill>
          <a:ln/>
        </p:spPr>
      </p:sp>
      <p:sp>
        <p:nvSpPr>
          <p:cNvPr id="113" name="Shape 93"/>
          <p:cNvSpPr/>
          <p:nvPr/>
        </p:nvSpPr>
        <p:spPr>
          <a:xfrm>
            <a:off x="8993124" y="6190488"/>
            <a:ext cx="27432" cy="27432"/>
          </a:xfrm>
          <a:prstGeom prst="ellipse">
            <a:avLst/>
          </a:prstGeom>
          <a:solidFill>
            <a:srgbClr val="2F3E46"/>
          </a:solidFill>
          <a:ln/>
        </p:spPr>
      </p:sp>
      <p:sp>
        <p:nvSpPr>
          <p:cNvPr id="114" name="Shape 94"/>
          <p:cNvSpPr/>
          <p:nvPr/>
        </p:nvSpPr>
        <p:spPr>
          <a:xfrm>
            <a:off x="8993124" y="6236208"/>
            <a:ext cx="27432" cy="27432"/>
          </a:xfrm>
          <a:prstGeom prst="ellipse">
            <a:avLst/>
          </a:prstGeom>
          <a:solidFill>
            <a:srgbClr val="2F3E46"/>
          </a:solidFill>
          <a:ln/>
        </p:spPr>
      </p:sp>
      <p:sp>
        <p:nvSpPr>
          <p:cNvPr id="115" name="Shape 95"/>
          <p:cNvSpPr/>
          <p:nvPr/>
        </p:nvSpPr>
        <p:spPr>
          <a:xfrm>
            <a:off x="8028432" y="73152"/>
            <a:ext cx="219456" cy="219456"/>
          </a:xfrm>
          <a:prstGeom prst="ellipse">
            <a:avLst/>
          </a:prstGeom>
          <a:solidFill>
            <a:srgbClr val="2F3E46"/>
          </a:solidFill>
          <a:ln/>
        </p:spPr>
      </p:sp>
      <p:sp>
        <p:nvSpPr>
          <p:cNvPr id="116" name="Text 96"/>
          <p:cNvSpPr txBox="1"/>
          <p:nvPr/>
        </p:nvSpPr>
        <p:spPr>
          <a:xfrm>
            <a:off x="7882128" y="320040"/>
            <a:ext cx="512064" cy="429768"/>
          </a:xfrm>
          <a:prstGeom prst="roundRect">
            <a:avLst>
              <a:gd name="adj" fmla="val 34043"/>
            </a:avLst>
          </a:prstGeom>
          <a:solidFill>
            <a:srgbClr val="2F3E46"/>
          </a:solidFill>
          <a:ln/>
        </p:spPr>
        <p:txBody>
          <a:bodyPr wrap="square" lIns="0" tIns="0" rIns="0" bIns="0" rtlCol="0" anchor="ctr"/>
          <a:lstStyle/>
          <a:p>
            <a:pPr algn="ctr" indent="0" marL="0">
              <a:buNone/>
            </a:pPr>
            <a:r>
              <a:rPr lang="en-US" sz="1100" dirty="0">
                <a:solidFill>
                  <a:srgbClr val="FFFFFF"/>
                </a:solidFill>
                <a:latin typeface="Cambria" pitchFamily="34" charset="0"/>
                <a:ea typeface="Cambria" pitchFamily="34" charset="-122"/>
                <a:cs typeface="Cambria" pitchFamily="34" charset="-120"/>
              </a:rPr>
              <a:t>User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388620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Mobile App</a:t>
            </a:r>
            <a:endParaRPr lang="en-US" sz="2000" dirty="0"/>
          </a:p>
        </p:txBody>
      </p:sp>
      <p:sp>
        <p:nvSpPr>
          <p:cNvPr id="4" name="Shape 1"/>
          <p:cNvSpPr/>
          <p:nvPr/>
        </p:nvSpPr>
        <p:spPr>
          <a:xfrm>
            <a:off x="1182548" y="960120"/>
            <a:ext cx="2487168" cy="5394960"/>
          </a:xfrm>
          <a:prstGeom prst="roundRect">
            <a:avLst>
              <a:gd name="adj" fmla="val 13235"/>
            </a:avLst>
          </a:prstGeom>
          <a:solidFill>
            <a:srgbClr val="F7F5F0"/>
          </a:solidFill>
          <a:ln/>
          <a:effectLst>
            <a:outerShdw sx="100000" sy="100000" kx="0" ky="0" algn="bl" rotWithShape="0" blurRad="152400" dist="50800" dir="5400000">
              <a:srgbClr val="1E293B">
                <a:alpha val="22000"/>
              </a:srgbClr>
            </a:outerShdw>
          </a:effectLst>
        </p:spPr>
      </p:sp>
      <p:sp>
        <p:nvSpPr>
          <p:cNvPr id="5" name="Shape 2"/>
          <p:cNvSpPr/>
          <p:nvPr/>
        </p:nvSpPr>
        <p:spPr>
          <a:xfrm>
            <a:off x="1347140" y="1289304"/>
            <a:ext cx="2157984" cy="4334256"/>
          </a:xfrm>
          <a:prstGeom prst="roundRect">
            <a:avLst>
              <a:gd name="adj" fmla="val 5085"/>
            </a:avLst>
          </a:prstGeom>
          <a:solidFill>
            <a:srgbClr val="FFFFFF"/>
          </a:solidFill>
          <a:ln w="9525">
            <a:solidFill>
              <a:srgbClr val="D5D9D3"/>
            </a:solidFill>
            <a:prstDash val="solid"/>
          </a:ln>
          <a:effectLst>
            <a:outerShdw sx="100000" sy="100000" kx="0" ky="0" algn="bl" rotWithShape="0" blurRad="76200" dist="25400" dir="5400000">
              <a:srgbClr val="1E293B">
                <a:alpha val="16000"/>
              </a:srgbClr>
            </a:outerShdw>
          </a:effectLst>
        </p:spPr>
      </p:sp>
      <p:sp>
        <p:nvSpPr>
          <p:cNvPr id="6" name="Text 3"/>
          <p:cNvSpPr txBox="1"/>
          <p:nvPr/>
        </p:nvSpPr>
        <p:spPr>
          <a:xfrm>
            <a:off x="1475156" y="1417320"/>
            <a:ext cx="1901952" cy="2249424"/>
          </a:xfrm>
          <a:prstGeom prst="rect">
            <a:avLst/>
          </a:prstGeom>
          <a:noFill/>
          <a:ln/>
        </p:spPr>
        <p:txBody>
          <a:bodyPr wrap="square" lIns="0" tIns="0" rIns="0" bIns="0" rtlCol="0" anchor="t"/>
          <a:lstStyle/>
          <a:p>
            <a:pPr indent="0" marL="0">
              <a:buNone/>
            </a:pPr>
            <a:r>
              <a:rPr lang="en-US" sz="800" b="1" spc="100" kern="0" dirty="0">
                <a:solidFill>
                  <a:srgbClr val="B85042"/>
                </a:solidFill>
                <a:latin typeface="Calibri" pitchFamily="34" charset="0"/>
                <a:ea typeface="Calibri" pitchFamily="34" charset="-122"/>
                <a:cs typeface="Calibri" pitchFamily="34" charset="-120"/>
              </a:rPr>
              <a:t>PLAN  ·  momentum</a:t>
            </a:r>
            <a:endParaRPr lang="en-US" sz="800" dirty="0"/>
          </a:p>
          <a:p>
            <a:pPr indent="0" marL="0">
              <a:spcBef>
                <a:spcPts val="600"/>
              </a:spcBef>
              <a:buNone/>
            </a:pPr>
            <a:r>
              <a:rPr lang="en-US" sz="1500" b="1" dirty="0">
                <a:solidFill>
                  <a:srgbClr val="2F3E46"/>
                </a:solidFill>
                <a:latin typeface="Cambria" pitchFamily="34" charset="0"/>
                <a:ea typeface="Cambria" pitchFamily="34" charset="-122"/>
                <a:cs typeface="Cambria" pitchFamily="34" charset="-120"/>
              </a:rPr>
              <a:t>Consistency guard on every change</a:t>
            </a:r>
            <a:endParaRPr lang="en-US" sz="800" dirty="0"/>
          </a:p>
          <a:p>
            <a:pPr indent="0" marL="0">
              <a:spcBef>
                <a:spcPts val="600"/>
              </a:spcBef>
              <a:buNone/>
            </a:pPr>
            <a:r>
              <a:rPr lang="en-US" sz="950" dirty="0">
                <a:solidFill>
                  <a:srgbClr val="52606A"/>
                </a:solidFill>
                <a:latin typeface="Calibri" pitchFamily="34" charset="0"/>
                <a:ea typeface="Calibri" pitchFamily="34" charset="-122"/>
                <a:cs typeface="Calibri" pitchFamily="34" charset="-120"/>
              </a:rPr>
              <a:t>Reacts to every change in the knowledge base so it stays consistent at all times, despite free access.</a:t>
            </a:r>
            <a:endParaRPr lang="en-US" sz="800" dirty="0"/>
          </a:p>
          <a:p>
            <a:pPr marL="127000" indent="-127000">
              <a:spcBef>
                <a:spcPts val="800"/>
              </a:spcBef>
              <a:buSzPct val="100000"/>
              <a:buChar char="•"/>
            </a:pPr>
            <a:r>
              <a:rPr lang="en-US" sz="950" dirty="0">
                <a:solidFill>
                  <a:srgbClr val="2F3E46"/>
                </a:solidFill>
                <a:latin typeface="Calibri" pitchFamily="34" charset="0"/>
                <a:ea typeface="Calibri" pitchFamily="34" charset="-122"/>
                <a:cs typeface="Calibri" pitchFamily="34" charset="-120"/>
              </a:rPr>
              <a:t>Groups related changes into a transaction</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Validates card limits and references</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Raises what it cannot fix as an issue</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Updates the index and metrics database</a:t>
            </a:r>
            <a:endParaRPr lang="en-US" sz="800" dirty="0"/>
          </a:p>
        </p:txBody>
      </p:sp>
      <p:sp>
        <p:nvSpPr>
          <p:cNvPr id="7" name="Shape 4"/>
          <p:cNvSpPr/>
          <p:nvPr/>
        </p:nvSpPr>
        <p:spPr>
          <a:xfrm>
            <a:off x="2005508" y="4443984"/>
            <a:ext cx="155448" cy="0"/>
          </a:xfrm>
          <a:prstGeom prst="line">
            <a:avLst/>
          </a:prstGeom>
          <a:noFill/>
          <a:ln w="12700">
            <a:solidFill>
              <a:srgbClr val="2F3E46"/>
            </a:solidFill>
            <a:prstDash val="solid"/>
            <a:tailEnd type="triangle"/>
          </a:ln>
        </p:spPr>
      </p:sp>
      <p:sp>
        <p:nvSpPr>
          <p:cNvPr id="8" name="Shape 5"/>
          <p:cNvSpPr/>
          <p:nvPr/>
        </p:nvSpPr>
        <p:spPr>
          <a:xfrm>
            <a:off x="2691308" y="4443984"/>
            <a:ext cx="155448" cy="0"/>
          </a:xfrm>
          <a:prstGeom prst="line">
            <a:avLst/>
          </a:prstGeom>
          <a:noFill/>
          <a:ln w="12700">
            <a:solidFill>
              <a:srgbClr val="2F3E46"/>
            </a:solidFill>
            <a:prstDash val="solid"/>
            <a:tailEnd type="triangle"/>
          </a:ln>
        </p:spPr>
      </p:sp>
      <p:sp>
        <p:nvSpPr>
          <p:cNvPr id="9" name="Shape 6"/>
          <p:cNvSpPr/>
          <p:nvPr/>
        </p:nvSpPr>
        <p:spPr>
          <a:xfrm>
            <a:off x="2426132" y="4626864"/>
            <a:ext cx="0" cy="310896"/>
          </a:xfrm>
          <a:prstGeom prst="line">
            <a:avLst/>
          </a:prstGeom>
          <a:noFill/>
          <a:ln w="12700">
            <a:solidFill>
              <a:srgbClr val="2F3E46"/>
            </a:solidFill>
            <a:prstDash val="solid"/>
            <a:tailEnd type="triangle"/>
          </a:ln>
        </p:spPr>
      </p:sp>
      <p:sp>
        <p:nvSpPr>
          <p:cNvPr id="10" name="Text 7"/>
          <p:cNvSpPr txBox="1"/>
          <p:nvPr/>
        </p:nvSpPr>
        <p:spPr>
          <a:xfrm>
            <a:off x="1475156" y="4261104"/>
            <a:ext cx="530352" cy="365760"/>
          </a:xfrm>
          <a:prstGeom prst="rect">
            <a:avLst/>
          </a:prstGeom>
          <a:solidFill>
            <a:srgbClr val="FFFFFF"/>
          </a:solidFill>
          <a:ln w="9525">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Run</a:t>
            </a:r>
            <a:endParaRPr lang="en-US" sz="850" dirty="0"/>
          </a:p>
        </p:txBody>
      </p:sp>
      <p:sp>
        <p:nvSpPr>
          <p:cNvPr id="11" name="Text 8"/>
          <p:cNvSpPr txBox="1"/>
          <p:nvPr/>
        </p:nvSpPr>
        <p:spPr>
          <a:xfrm>
            <a:off x="2160956" y="4261104"/>
            <a:ext cx="530352" cy="365760"/>
          </a:xfrm>
          <a:prstGeom prst="rect">
            <a:avLst/>
          </a:prstGeom>
          <a:solidFill>
            <a:srgbClr val="FFFFFF"/>
          </a:solidFill>
          <a:ln w="9525">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Guard</a:t>
            </a:r>
            <a:endParaRPr lang="en-US" sz="850" dirty="0"/>
          </a:p>
        </p:txBody>
      </p:sp>
      <p:sp>
        <p:nvSpPr>
          <p:cNvPr id="12" name="Text 9"/>
          <p:cNvSpPr txBox="1"/>
          <p:nvPr/>
        </p:nvSpPr>
        <p:spPr>
          <a:xfrm>
            <a:off x="2846756" y="4261104"/>
            <a:ext cx="530352" cy="365760"/>
          </a:xfrm>
          <a:prstGeom prst="rect">
            <a:avLst/>
          </a:prstGeom>
          <a:solidFill>
            <a:srgbClr val="FFFFFF"/>
          </a:solidFill>
          <a:ln w="9525">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Main line</a:t>
            </a:r>
            <a:endParaRPr lang="en-US" sz="850" dirty="0"/>
          </a:p>
        </p:txBody>
      </p:sp>
      <p:sp>
        <p:nvSpPr>
          <p:cNvPr id="13" name="Text 10"/>
          <p:cNvSpPr txBox="1"/>
          <p:nvPr/>
        </p:nvSpPr>
        <p:spPr>
          <a:xfrm>
            <a:off x="2160956" y="4937760"/>
            <a:ext cx="530352" cy="365760"/>
          </a:xfrm>
          <a:prstGeom prst="rect">
            <a:avLst/>
          </a:prstGeom>
          <a:solidFill>
            <a:srgbClr val="FFFFFF"/>
          </a:solidFill>
          <a:ln w="9525">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Issue</a:t>
            </a:r>
            <a:endParaRPr lang="en-US" sz="850" dirty="0"/>
          </a:p>
        </p:txBody>
      </p:sp>
      <p:sp>
        <p:nvSpPr>
          <p:cNvPr id="14" name="Shape 11"/>
          <p:cNvSpPr/>
          <p:nvPr/>
        </p:nvSpPr>
        <p:spPr>
          <a:xfrm>
            <a:off x="1273988" y="5696712"/>
            <a:ext cx="2304288" cy="566928"/>
          </a:xfrm>
          <a:prstGeom prst="rect">
            <a:avLst/>
          </a:prstGeom>
          <a:solidFill>
            <a:srgbClr val="F7F5F0"/>
          </a:solidFill>
          <a:ln/>
        </p:spPr>
      </p:sp>
      <p:sp>
        <p:nvSpPr>
          <p:cNvPr id="15" name="Shape 12"/>
          <p:cNvSpPr/>
          <p:nvPr/>
        </p:nvSpPr>
        <p:spPr>
          <a:xfrm>
            <a:off x="1273988" y="5696712"/>
            <a:ext cx="2304288" cy="0"/>
          </a:xfrm>
          <a:prstGeom prst="line">
            <a:avLst/>
          </a:prstGeom>
          <a:noFill/>
          <a:ln w="9525">
            <a:solidFill>
              <a:srgbClr val="D5D9D3"/>
            </a:solidFill>
            <a:prstDash val="solid"/>
          </a:ln>
        </p:spPr>
      </p:sp>
      <p:pic>
        <p:nvPicPr>
          <p:cNvPr id="16" name="Image 0" descr="preencoded.png">    </p:cNvPr>
          <p:cNvPicPr>
            <a:picLocks noChangeAspect="1"/>
          </p:cNvPicPr>
          <p:nvPr/>
        </p:nvPicPr>
        <p:blipFill>
          <a:blip r:embed="rId1"/>
          <a:stretch>
            <a:fillRect/>
          </a:stretch>
        </p:blipFill>
        <p:spPr>
          <a:xfrm>
            <a:off x="1412977" y="5788152"/>
            <a:ext cx="182880" cy="182880"/>
          </a:xfrm>
          <a:prstGeom prst="rect">
            <a:avLst/>
          </a:prstGeom>
        </p:spPr>
      </p:pic>
      <p:sp>
        <p:nvSpPr>
          <p:cNvPr id="17" name="Text 13"/>
          <p:cNvSpPr txBox="1"/>
          <p:nvPr/>
        </p:nvSpPr>
        <p:spPr>
          <a:xfrm>
            <a:off x="1273988" y="5989320"/>
            <a:ext cx="460858" cy="164592"/>
          </a:xfrm>
          <a:prstGeom prst="rect">
            <a:avLst/>
          </a:prstGeom>
          <a:noFill/>
          <a:ln/>
        </p:spPr>
        <p:txBody>
          <a:bodyPr wrap="square" lIns="0" tIns="0" rIns="0" bIns="0" rtlCol="0" anchor="ctr"/>
          <a:lstStyle/>
          <a:p>
            <a:pPr algn="ctr" indent="0" marL="0">
              <a:buNone/>
            </a:pPr>
            <a:r>
              <a:rPr lang="en-US" sz="700" b="1" dirty="0">
                <a:solidFill>
                  <a:srgbClr val="B85042"/>
                </a:solidFill>
                <a:latin typeface="Calibri" pitchFamily="34" charset="0"/>
                <a:ea typeface="Calibri" pitchFamily="34" charset="-122"/>
                <a:cs typeface="Calibri" pitchFamily="34" charset="-120"/>
              </a:rPr>
              <a:t>Feed</a:t>
            </a:r>
            <a:endParaRPr lang="en-US" sz="700" dirty="0"/>
          </a:p>
        </p:txBody>
      </p:sp>
      <p:pic>
        <p:nvPicPr>
          <p:cNvPr id="18" name="Image 1" descr="preencoded.png">    </p:cNvPr>
          <p:cNvPicPr>
            <a:picLocks noChangeAspect="1"/>
          </p:cNvPicPr>
          <p:nvPr/>
        </p:nvPicPr>
        <p:blipFill>
          <a:blip r:embed="rId2"/>
          <a:stretch>
            <a:fillRect/>
          </a:stretch>
        </p:blipFill>
        <p:spPr>
          <a:xfrm>
            <a:off x="1873834" y="5788152"/>
            <a:ext cx="182880" cy="182880"/>
          </a:xfrm>
          <a:prstGeom prst="rect">
            <a:avLst/>
          </a:prstGeom>
        </p:spPr>
      </p:pic>
      <p:sp>
        <p:nvSpPr>
          <p:cNvPr id="19" name="Text 14"/>
          <p:cNvSpPr txBox="1"/>
          <p:nvPr/>
        </p:nvSpPr>
        <p:spPr>
          <a:xfrm>
            <a:off x="1734845"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Explorer</a:t>
            </a:r>
            <a:endParaRPr lang="en-US" sz="700" dirty="0"/>
          </a:p>
        </p:txBody>
      </p:sp>
      <p:pic>
        <p:nvPicPr>
          <p:cNvPr id="20" name="Image 2" descr="preencoded.png">    </p:cNvPr>
          <p:cNvPicPr>
            <a:picLocks noChangeAspect="1"/>
          </p:cNvPicPr>
          <p:nvPr/>
        </p:nvPicPr>
        <p:blipFill>
          <a:blip r:embed="rId3"/>
          <a:stretch>
            <a:fillRect/>
          </a:stretch>
        </p:blipFill>
        <p:spPr>
          <a:xfrm>
            <a:off x="2334692" y="5788152"/>
            <a:ext cx="182880" cy="182880"/>
          </a:xfrm>
          <a:prstGeom prst="rect">
            <a:avLst/>
          </a:prstGeom>
        </p:spPr>
      </p:pic>
      <p:sp>
        <p:nvSpPr>
          <p:cNvPr id="21" name="Text 15"/>
          <p:cNvSpPr txBox="1"/>
          <p:nvPr/>
        </p:nvSpPr>
        <p:spPr>
          <a:xfrm>
            <a:off x="2195703"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Chat</a:t>
            </a:r>
            <a:endParaRPr lang="en-US" sz="700" dirty="0"/>
          </a:p>
        </p:txBody>
      </p:sp>
      <p:pic>
        <p:nvPicPr>
          <p:cNvPr id="22" name="Image 3" descr="preencoded.png">    </p:cNvPr>
          <p:cNvPicPr>
            <a:picLocks noChangeAspect="1"/>
          </p:cNvPicPr>
          <p:nvPr/>
        </p:nvPicPr>
        <p:blipFill>
          <a:blip r:embed="rId4"/>
          <a:stretch>
            <a:fillRect/>
          </a:stretch>
        </p:blipFill>
        <p:spPr>
          <a:xfrm>
            <a:off x="2795549" y="5788152"/>
            <a:ext cx="182880" cy="182880"/>
          </a:xfrm>
          <a:prstGeom prst="rect">
            <a:avLst/>
          </a:prstGeom>
        </p:spPr>
      </p:pic>
      <p:sp>
        <p:nvSpPr>
          <p:cNvPr id="23" name="Text 16"/>
          <p:cNvSpPr txBox="1"/>
          <p:nvPr/>
        </p:nvSpPr>
        <p:spPr>
          <a:xfrm>
            <a:off x="2656561"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Metrics</a:t>
            </a:r>
            <a:endParaRPr lang="en-US" sz="700" dirty="0"/>
          </a:p>
        </p:txBody>
      </p:sp>
      <p:pic>
        <p:nvPicPr>
          <p:cNvPr id="24" name="Image 4" descr="preencoded.png">    </p:cNvPr>
          <p:cNvPicPr>
            <a:picLocks noChangeAspect="1"/>
          </p:cNvPicPr>
          <p:nvPr/>
        </p:nvPicPr>
        <p:blipFill>
          <a:blip r:embed="rId5"/>
          <a:stretch>
            <a:fillRect/>
          </a:stretch>
        </p:blipFill>
        <p:spPr>
          <a:xfrm>
            <a:off x="3256407" y="5788152"/>
            <a:ext cx="182880" cy="182880"/>
          </a:xfrm>
          <a:prstGeom prst="rect">
            <a:avLst/>
          </a:prstGeom>
        </p:spPr>
      </p:pic>
      <p:sp>
        <p:nvSpPr>
          <p:cNvPr id="25" name="Text 17"/>
          <p:cNvSpPr txBox="1"/>
          <p:nvPr/>
        </p:nvSpPr>
        <p:spPr>
          <a:xfrm>
            <a:off x="3117418"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Settings</a:t>
            </a:r>
            <a:endParaRPr lang="en-US" sz="700" dirty="0"/>
          </a:p>
        </p:txBody>
      </p:sp>
      <p:sp>
        <p:nvSpPr>
          <p:cNvPr id="26" name="Shape 18"/>
          <p:cNvSpPr/>
          <p:nvPr/>
        </p:nvSpPr>
        <p:spPr>
          <a:xfrm>
            <a:off x="1228268" y="1005840"/>
            <a:ext cx="2395728" cy="5303520"/>
          </a:xfrm>
          <a:prstGeom prst="roundRect">
            <a:avLst>
              <a:gd name="adj" fmla="val 11832"/>
            </a:avLst>
          </a:prstGeom>
          <a:ln w="91440">
            <a:solidFill>
              <a:srgbClr val="2F3E46"/>
            </a:solidFill>
            <a:prstDash val="solid"/>
          </a:ln>
        </p:spPr>
      </p:sp>
      <p:sp>
        <p:nvSpPr>
          <p:cNvPr id="27" name="Shape 19"/>
          <p:cNvSpPr/>
          <p:nvPr/>
        </p:nvSpPr>
        <p:spPr>
          <a:xfrm>
            <a:off x="2078660" y="1088136"/>
            <a:ext cx="694944" cy="128016"/>
          </a:xfrm>
          <a:prstGeom prst="roundRect">
            <a:avLst>
              <a:gd name="adj" fmla="val 50000"/>
            </a:avLst>
          </a:prstGeom>
          <a:solidFill>
            <a:srgbClr val="2F3E46"/>
          </a:solidFill>
          <a:ln/>
        </p:spPr>
      </p:sp>
      <p:sp>
        <p:nvSpPr>
          <p:cNvPr id="28" name="Text 20"/>
          <p:cNvSpPr txBox="1"/>
          <p:nvPr/>
        </p:nvSpPr>
        <p:spPr>
          <a:xfrm>
            <a:off x="816788" y="6400800"/>
            <a:ext cx="3218688"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Entity cards</a:t>
            </a:r>
            <a:endParaRPr lang="en-US" sz="1000" dirty="0"/>
          </a:p>
        </p:txBody>
      </p:sp>
      <p:sp>
        <p:nvSpPr>
          <p:cNvPr id="29" name="Shape 21"/>
          <p:cNvSpPr/>
          <p:nvPr/>
        </p:nvSpPr>
        <p:spPr>
          <a:xfrm>
            <a:off x="4852264" y="960120"/>
            <a:ext cx="2487168" cy="5394960"/>
          </a:xfrm>
          <a:prstGeom prst="roundRect">
            <a:avLst>
              <a:gd name="adj" fmla="val 13235"/>
            </a:avLst>
          </a:prstGeom>
          <a:solidFill>
            <a:srgbClr val="F7F5F0"/>
          </a:solidFill>
          <a:ln/>
          <a:effectLst>
            <a:outerShdw sx="100000" sy="100000" kx="0" ky="0" algn="bl" rotWithShape="0" blurRad="152400" dist="50800" dir="5400000">
              <a:srgbClr val="1E293B">
                <a:alpha val="22000"/>
              </a:srgbClr>
            </a:outerShdw>
          </a:effectLst>
        </p:spPr>
      </p:sp>
      <p:sp>
        <p:nvSpPr>
          <p:cNvPr id="30" name="Shape 22"/>
          <p:cNvSpPr/>
          <p:nvPr/>
        </p:nvSpPr>
        <p:spPr>
          <a:xfrm>
            <a:off x="4943704" y="1051560"/>
            <a:ext cx="2304288" cy="4645152"/>
          </a:xfrm>
          <a:prstGeom prst="rect">
            <a:avLst/>
          </a:prstGeom>
          <a:solidFill>
            <a:srgbClr val="DCE7DF"/>
          </a:solidFill>
          <a:ln/>
        </p:spPr>
      </p:sp>
      <p:sp>
        <p:nvSpPr>
          <p:cNvPr id="31" name="Shape 23"/>
          <p:cNvSpPr/>
          <p:nvPr/>
        </p:nvSpPr>
        <p:spPr>
          <a:xfrm rot="150000">
            <a:off x="5053432" y="1289304"/>
            <a:ext cx="2157984" cy="4334256"/>
          </a:xfrm>
          <a:prstGeom prst="roundRect">
            <a:avLst>
              <a:gd name="adj" fmla="val 5085"/>
            </a:avLst>
          </a:prstGeom>
          <a:solidFill>
            <a:srgbClr val="FFFFFF"/>
          </a:solidFill>
          <a:ln w="9525">
            <a:solidFill>
              <a:srgbClr val="D5D9D3"/>
            </a:solidFill>
            <a:prstDash val="solid"/>
          </a:ln>
          <a:effectLst>
            <a:outerShdw sx="100000" sy="100000" kx="0" ky="0" algn="bl" rotWithShape="0" blurRad="76200" dist="25400" dir="5400000">
              <a:srgbClr val="1E293B">
                <a:alpha val="16000"/>
              </a:srgbClr>
            </a:outerShdw>
          </a:effectLst>
        </p:spPr>
      </p:sp>
      <p:sp>
        <p:nvSpPr>
          <p:cNvPr id="32" name="Text 24"/>
          <p:cNvSpPr txBox="1"/>
          <p:nvPr/>
        </p:nvSpPr>
        <p:spPr>
          <a:xfrm rot="150000">
            <a:off x="5221333" y="1418190"/>
            <a:ext cx="1901952" cy="2249424"/>
          </a:xfrm>
          <a:prstGeom prst="rect">
            <a:avLst/>
          </a:prstGeom>
          <a:noFill/>
          <a:ln/>
        </p:spPr>
        <p:txBody>
          <a:bodyPr wrap="square" lIns="0" tIns="0" rIns="0" bIns="0" rtlCol="0" anchor="t"/>
          <a:lstStyle/>
          <a:p>
            <a:pPr indent="0" marL="0">
              <a:buNone/>
            </a:pPr>
            <a:r>
              <a:rPr lang="en-US" sz="800" b="1" spc="100" kern="0" dirty="0">
                <a:solidFill>
                  <a:srgbClr val="B85042"/>
                </a:solidFill>
                <a:latin typeface="Calibri" pitchFamily="34" charset="0"/>
                <a:ea typeface="Calibri" pitchFamily="34" charset="-122"/>
                <a:cs typeface="Calibri" pitchFamily="34" charset="-120"/>
              </a:rPr>
              <a:t>CHANGE  ·  momentum</a:t>
            </a:r>
            <a:endParaRPr lang="en-US" sz="800" dirty="0"/>
          </a:p>
          <a:p>
            <a:pPr indent="0" marL="0">
              <a:spcBef>
                <a:spcPts val="600"/>
              </a:spcBef>
              <a:buNone/>
            </a:pPr>
            <a:r>
              <a:rPr lang="en-US" sz="1500" b="1" dirty="0">
                <a:solidFill>
                  <a:srgbClr val="2F3E46"/>
                </a:solidFill>
                <a:latin typeface="Cambria" pitchFamily="34" charset="0"/>
                <a:ea typeface="Cambria" pitchFamily="34" charset="-122"/>
                <a:cs typeface="Cambria" pitchFamily="34" charset="-120"/>
              </a:rPr>
              <a:t>Remote access over a private mesh</a:t>
            </a:r>
            <a:endParaRPr lang="en-US" sz="800" dirty="0"/>
          </a:p>
          <a:p>
            <a:pPr indent="0" marL="0">
              <a:spcBef>
                <a:spcPts val="600"/>
              </a:spcBef>
              <a:buNone/>
            </a:pPr>
            <a:r>
              <a:rPr lang="en-US" sz="950" dirty="0">
                <a:solidFill>
                  <a:srgbClr val="52606A"/>
                </a:solidFill>
                <a:latin typeface="Calibri" pitchFamily="34" charset="0"/>
                <a:ea typeface="Calibri" pitchFamily="34" charset="-122"/>
                <a:cs typeface="Calibri" pitchFamily="34" charset="-120"/>
              </a:rPr>
              <a:t>No port is exposed to the public internet; clients reach the machine through a WireGuard mesh.</a:t>
            </a:r>
            <a:endParaRPr lang="en-US" sz="800" dirty="0"/>
          </a:p>
          <a:p>
            <a:pPr marL="127000" indent="-127000">
              <a:spcBef>
                <a:spcPts val="800"/>
              </a:spcBef>
              <a:buSzPct val="100000"/>
              <a:buChar char="•"/>
            </a:pPr>
            <a:r>
              <a:rPr lang="en-US" sz="950" dirty="0">
                <a:solidFill>
                  <a:srgbClr val="2F3E46"/>
                </a:solidFill>
                <a:latin typeface="Calibri" pitchFamily="34" charset="0"/>
                <a:ea typeface="Calibri" pitchFamily="34" charset="-122"/>
                <a:cs typeface="Calibri" pitchFamily="34" charset="-120"/>
              </a:rPr>
              <a:t>API listens only on the mesh</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One key per enrolled device</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Lost devices revoked centrally</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No shared secret in clients</a:t>
            </a:r>
            <a:endParaRPr lang="en-US" sz="800" dirty="0"/>
          </a:p>
        </p:txBody>
      </p:sp>
      <p:sp>
        <p:nvSpPr>
          <p:cNvPr id="33" name="Text 25"/>
          <p:cNvSpPr txBox="1"/>
          <p:nvPr/>
        </p:nvSpPr>
        <p:spPr>
          <a:xfrm rot="150000">
            <a:off x="5142952" y="4187409"/>
            <a:ext cx="658368"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Layer</a:t>
            </a:r>
            <a:endParaRPr lang="en-US" sz="850" dirty="0"/>
          </a:p>
        </p:txBody>
      </p:sp>
      <p:sp>
        <p:nvSpPr>
          <p:cNvPr id="34" name="Text 26"/>
          <p:cNvSpPr txBox="1"/>
          <p:nvPr/>
        </p:nvSpPr>
        <p:spPr>
          <a:xfrm rot="150000">
            <a:off x="5800414" y="4228890"/>
            <a:ext cx="1243584"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Protection</a:t>
            </a:r>
            <a:endParaRPr lang="en-US" sz="850" dirty="0"/>
          </a:p>
        </p:txBody>
      </p:sp>
      <p:sp>
        <p:nvSpPr>
          <p:cNvPr id="35" name="Text 27"/>
          <p:cNvSpPr txBox="1"/>
          <p:nvPr/>
        </p:nvSpPr>
        <p:spPr>
          <a:xfrm rot="150000">
            <a:off x="5130986" y="4461468"/>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Tunnel</a:t>
            </a:r>
            <a:endParaRPr lang="en-US" sz="850" dirty="0"/>
          </a:p>
        </p:txBody>
      </p:sp>
      <p:sp>
        <p:nvSpPr>
          <p:cNvPr id="36" name="Text 28"/>
          <p:cNvSpPr txBox="1"/>
          <p:nvPr/>
        </p:nvSpPr>
        <p:spPr>
          <a:xfrm rot="150000">
            <a:off x="5788449" y="4502949"/>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End-to-end encryption</a:t>
            </a:r>
            <a:endParaRPr lang="en-US" sz="850" dirty="0"/>
          </a:p>
        </p:txBody>
      </p:sp>
      <p:sp>
        <p:nvSpPr>
          <p:cNvPr id="37" name="Text 29"/>
          <p:cNvSpPr txBox="1"/>
          <p:nvPr/>
        </p:nvSpPr>
        <p:spPr>
          <a:xfrm rot="150000">
            <a:off x="5119020" y="4735527"/>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API</a:t>
            </a:r>
            <a:endParaRPr lang="en-US" sz="850" dirty="0"/>
          </a:p>
        </p:txBody>
      </p:sp>
      <p:sp>
        <p:nvSpPr>
          <p:cNvPr id="38" name="Text 30"/>
          <p:cNvSpPr txBox="1"/>
          <p:nvPr/>
        </p:nvSpPr>
        <p:spPr>
          <a:xfrm rot="150000">
            <a:off x="5776483" y="4777008"/>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Per-user session</a:t>
            </a:r>
            <a:endParaRPr lang="en-US" sz="850" dirty="0"/>
          </a:p>
        </p:txBody>
      </p:sp>
      <p:sp>
        <p:nvSpPr>
          <p:cNvPr id="39" name="Text 31"/>
          <p:cNvSpPr txBox="1"/>
          <p:nvPr/>
        </p:nvSpPr>
        <p:spPr>
          <a:xfrm rot="150000">
            <a:off x="5107055" y="5009586"/>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Edge</a:t>
            </a:r>
            <a:endParaRPr lang="en-US" sz="850" dirty="0"/>
          </a:p>
        </p:txBody>
      </p:sp>
      <p:sp>
        <p:nvSpPr>
          <p:cNvPr id="40" name="Text 32"/>
          <p:cNvSpPr txBox="1"/>
          <p:nvPr/>
        </p:nvSpPr>
        <p:spPr>
          <a:xfrm rot="150000">
            <a:off x="5764517" y="5051067"/>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No inbound firewall rule</a:t>
            </a:r>
            <a:endParaRPr lang="en-US" sz="850" dirty="0"/>
          </a:p>
        </p:txBody>
      </p:sp>
      <p:sp>
        <p:nvSpPr>
          <p:cNvPr id="41" name="Text 33"/>
          <p:cNvSpPr txBox="1"/>
          <p:nvPr/>
        </p:nvSpPr>
        <p:spPr>
          <a:xfrm rot="21150000">
            <a:off x="5171067" y="3747748"/>
            <a:ext cx="1005840" cy="292608"/>
          </a:xfrm>
          <a:prstGeom prst="roundRect">
            <a:avLst>
              <a:gd name="adj" fmla="val 18750"/>
            </a:avLst>
          </a:prstGeom>
          <a:solidFill>
            <a:srgbClr val="FFFFFF"/>
          </a:solidFill>
          <a:ln w="25400">
            <a:solidFill>
              <a:srgbClr val="3F6B52"/>
            </a:solidFill>
          </a:ln>
        </p:spPr>
        <p:txBody>
          <a:bodyPr wrap="square" lIns="0" tIns="0" rIns="0" bIns="0" rtlCol="0" anchor="ctr"/>
          <a:lstStyle/>
          <a:p>
            <a:pPr algn="ctr" indent="0" marL="0">
              <a:buNone/>
            </a:pPr>
            <a:r>
              <a:rPr lang="en-US" sz="1000" b="1" spc="150" kern="0" dirty="0">
                <a:solidFill>
                  <a:srgbClr val="3F6B52"/>
                </a:solidFill>
                <a:latin typeface="Calibri" pitchFamily="34" charset="0"/>
                <a:ea typeface="Calibri" pitchFamily="34" charset="-122"/>
                <a:cs typeface="Calibri" pitchFamily="34" charset="-120"/>
              </a:rPr>
              <a:t>APPROVE</a:t>
            </a:r>
            <a:endParaRPr lang="en-US" sz="1000" dirty="0"/>
          </a:p>
        </p:txBody>
      </p:sp>
      <p:sp>
        <p:nvSpPr>
          <p:cNvPr id="42" name="Shape 34"/>
          <p:cNvSpPr/>
          <p:nvPr/>
        </p:nvSpPr>
        <p:spPr>
          <a:xfrm>
            <a:off x="6299703" y="3823915"/>
            <a:ext cx="566928" cy="0"/>
          </a:xfrm>
          <a:prstGeom prst="line">
            <a:avLst/>
          </a:prstGeom>
          <a:noFill/>
          <a:ln w="25400">
            <a:solidFill>
              <a:srgbClr val="2F3E46">
                <a:alpha val="85000"/>
              </a:srgbClr>
            </a:solidFill>
            <a:prstDash val="solid"/>
            <a:tailEnd type="triangle"/>
          </a:ln>
        </p:spPr>
      </p:sp>
      <p:pic>
        <p:nvPicPr>
          <p:cNvPr id="43" name="Image 5" descr="preencoded.png">    </p:cNvPr>
          <p:cNvPicPr>
            <a:picLocks noChangeAspect="1"/>
          </p:cNvPicPr>
          <p:nvPr/>
        </p:nvPicPr>
        <p:blipFill>
          <a:blip r:embed="rId6"/>
          <a:stretch>
            <a:fillRect/>
          </a:stretch>
        </p:blipFill>
        <p:spPr>
          <a:xfrm>
            <a:off x="6793479" y="3869635"/>
            <a:ext cx="237744" cy="237744"/>
          </a:xfrm>
          <a:prstGeom prst="rect">
            <a:avLst/>
          </a:prstGeom>
        </p:spPr>
      </p:pic>
      <p:sp>
        <p:nvSpPr>
          <p:cNvPr id="44" name="Shape 35"/>
          <p:cNvSpPr/>
          <p:nvPr/>
        </p:nvSpPr>
        <p:spPr>
          <a:xfrm>
            <a:off x="4943704" y="5696712"/>
            <a:ext cx="2304288" cy="566928"/>
          </a:xfrm>
          <a:prstGeom prst="rect">
            <a:avLst/>
          </a:prstGeom>
          <a:solidFill>
            <a:srgbClr val="F7F5F0"/>
          </a:solidFill>
          <a:ln/>
        </p:spPr>
      </p:sp>
      <p:sp>
        <p:nvSpPr>
          <p:cNvPr id="45" name="Shape 36"/>
          <p:cNvSpPr/>
          <p:nvPr/>
        </p:nvSpPr>
        <p:spPr>
          <a:xfrm>
            <a:off x="4943704" y="5696712"/>
            <a:ext cx="2304288" cy="0"/>
          </a:xfrm>
          <a:prstGeom prst="line">
            <a:avLst/>
          </a:prstGeom>
          <a:noFill/>
          <a:ln w="9525">
            <a:solidFill>
              <a:srgbClr val="D5D9D3"/>
            </a:solidFill>
            <a:prstDash val="solid"/>
          </a:ln>
        </p:spPr>
      </p:sp>
      <p:pic>
        <p:nvPicPr>
          <p:cNvPr id="46" name="Image 6" descr="preencoded.png">    </p:cNvPr>
          <p:cNvPicPr>
            <a:picLocks noChangeAspect="1"/>
          </p:cNvPicPr>
          <p:nvPr/>
        </p:nvPicPr>
        <p:blipFill>
          <a:blip r:embed="rId7"/>
          <a:stretch>
            <a:fillRect/>
          </a:stretch>
        </p:blipFill>
        <p:spPr>
          <a:xfrm>
            <a:off x="5082692" y="5788152"/>
            <a:ext cx="182880" cy="182880"/>
          </a:xfrm>
          <a:prstGeom prst="rect">
            <a:avLst/>
          </a:prstGeom>
        </p:spPr>
      </p:pic>
      <p:sp>
        <p:nvSpPr>
          <p:cNvPr id="47" name="Text 37"/>
          <p:cNvSpPr txBox="1"/>
          <p:nvPr/>
        </p:nvSpPr>
        <p:spPr>
          <a:xfrm>
            <a:off x="4943704" y="5989320"/>
            <a:ext cx="460858" cy="164592"/>
          </a:xfrm>
          <a:prstGeom prst="rect">
            <a:avLst/>
          </a:prstGeom>
          <a:noFill/>
          <a:ln/>
        </p:spPr>
        <p:txBody>
          <a:bodyPr wrap="square" lIns="0" tIns="0" rIns="0" bIns="0" rtlCol="0" anchor="ctr"/>
          <a:lstStyle/>
          <a:p>
            <a:pPr algn="ctr" indent="0" marL="0">
              <a:buNone/>
            </a:pPr>
            <a:r>
              <a:rPr lang="en-US" sz="700" b="1" dirty="0">
                <a:solidFill>
                  <a:srgbClr val="B85042"/>
                </a:solidFill>
                <a:latin typeface="Calibri" pitchFamily="34" charset="0"/>
                <a:ea typeface="Calibri" pitchFamily="34" charset="-122"/>
                <a:cs typeface="Calibri" pitchFamily="34" charset="-120"/>
              </a:rPr>
              <a:t>Feed</a:t>
            </a:r>
            <a:endParaRPr lang="en-US" sz="700" dirty="0"/>
          </a:p>
        </p:txBody>
      </p:sp>
      <p:pic>
        <p:nvPicPr>
          <p:cNvPr id="48" name="Image 7" descr="preencoded.png">    </p:cNvPr>
          <p:cNvPicPr>
            <a:picLocks noChangeAspect="1"/>
          </p:cNvPicPr>
          <p:nvPr/>
        </p:nvPicPr>
        <p:blipFill>
          <a:blip r:embed="rId8"/>
          <a:stretch>
            <a:fillRect/>
          </a:stretch>
        </p:blipFill>
        <p:spPr>
          <a:xfrm>
            <a:off x="5543550" y="5788152"/>
            <a:ext cx="182880" cy="182880"/>
          </a:xfrm>
          <a:prstGeom prst="rect">
            <a:avLst/>
          </a:prstGeom>
        </p:spPr>
      </p:pic>
      <p:sp>
        <p:nvSpPr>
          <p:cNvPr id="49" name="Text 38"/>
          <p:cNvSpPr txBox="1"/>
          <p:nvPr/>
        </p:nvSpPr>
        <p:spPr>
          <a:xfrm>
            <a:off x="5404561"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Explorer</a:t>
            </a:r>
            <a:endParaRPr lang="en-US" sz="700" dirty="0"/>
          </a:p>
        </p:txBody>
      </p:sp>
      <p:pic>
        <p:nvPicPr>
          <p:cNvPr id="50" name="Image 8" descr="preencoded.png">    </p:cNvPr>
          <p:cNvPicPr>
            <a:picLocks noChangeAspect="1"/>
          </p:cNvPicPr>
          <p:nvPr/>
        </p:nvPicPr>
        <p:blipFill>
          <a:blip r:embed="rId9"/>
          <a:stretch>
            <a:fillRect/>
          </a:stretch>
        </p:blipFill>
        <p:spPr>
          <a:xfrm>
            <a:off x="6004408" y="5788152"/>
            <a:ext cx="182880" cy="182880"/>
          </a:xfrm>
          <a:prstGeom prst="rect">
            <a:avLst/>
          </a:prstGeom>
        </p:spPr>
      </p:pic>
      <p:sp>
        <p:nvSpPr>
          <p:cNvPr id="51" name="Text 39"/>
          <p:cNvSpPr txBox="1"/>
          <p:nvPr/>
        </p:nvSpPr>
        <p:spPr>
          <a:xfrm>
            <a:off x="5865419"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Chat</a:t>
            </a:r>
            <a:endParaRPr lang="en-US" sz="700" dirty="0"/>
          </a:p>
        </p:txBody>
      </p:sp>
      <p:pic>
        <p:nvPicPr>
          <p:cNvPr id="52" name="Image 9" descr="preencoded.png">    </p:cNvPr>
          <p:cNvPicPr>
            <a:picLocks noChangeAspect="1"/>
          </p:cNvPicPr>
          <p:nvPr/>
        </p:nvPicPr>
        <p:blipFill>
          <a:blip r:embed="rId10"/>
          <a:stretch>
            <a:fillRect/>
          </a:stretch>
        </p:blipFill>
        <p:spPr>
          <a:xfrm>
            <a:off x="6465265" y="5788152"/>
            <a:ext cx="182880" cy="182880"/>
          </a:xfrm>
          <a:prstGeom prst="rect">
            <a:avLst/>
          </a:prstGeom>
        </p:spPr>
      </p:pic>
      <p:sp>
        <p:nvSpPr>
          <p:cNvPr id="53" name="Text 40"/>
          <p:cNvSpPr txBox="1"/>
          <p:nvPr/>
        </p:nvSpPr>
        <p:spPr>
          <a:xfrm>
            <a:off x="6326276"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Metrics</a:t>
            </a:r>
            <a:endParaRPr lang="en-US" sz="700" dirty="0"/>
          </a:p>
        </p:txBody>
      </p:sp>
      <p:pic>
        <p:nvPicPr>
          <p:cNvPr id="54" name="Image 10" descr="preencoded.png">    </p:cNvPr>
          <p:cNvPicPr>
            <a:picLocks noChangeAspect="1"/>
          </p:cNvPicPr>
          <p:nvPr/>
        </p:nvPicPr>
        <p:blipFill>
          <a:blip r:embed="rId11"/>
          <a:stretch>
            <a:fillRect/>
          </a:stretch>
        </p:blipFill>
        <p:spPr>
          <a:xfrm>
            <a:off x="6926123" y="5788152"/>
            <a:ext cx="182880" cy="182880"/>
          </a:xfrm>
          <a:prstGeom prst="rect">
            <a:avLst/>
          </a:prstGeom>
        </p:spPr>
      </p:pic>
      <p:sp>
        <p:nvSpPr>
          <p:cNvPr id="55" name="Text 41"/>
          <p:cNvSpPr txBox="1"/>
          <p:nvPr/>
        </p:nvSpPr>
        <p:spPr>
          <a:xfrm>
            <a:off x="6787134"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Settings</a:t>
            </a:r>
            <a:endParaRPr lang="en-US" sz="700" dirty="0"/>
          </a:p>
        </p:txBody>
      </p:sp>
      <p:sp>
        <p:nvSpPr>
          <p:cNvPr id="56" name="Shape 42"/>
          <p:cNvSpPr/>
          <p:nvPr/>
        </p:nvSpPr>
        <p:spPr>
          <a:xfrm>
            <a:off x="4897984" y="1005840"/>
            <a:ext cx="2395728" cy="5303520"/>
          </a:xfrm>
          <a:prstGeom prst="roundRect">
            <a:avLst>
              <a:gd name="adj" fmla="val 11832"/>
            </a:avLst>
          </a:prstGeom>
          <a:ln w="91440">
            <a:solidFill>
              <a:srgbClr val="2F3E46"/>
            </a:solidFill>
            <a:prstDash val="solid"/>
          </a:ln>
        </p:spPr>
      </p:sp>
      <p:sp>
        <p:nvSpPr>
          <p:cNvPr id="57" name="Shape 43"/>
          <p:cNvSpPr/>
          <p:nvPr/>
        </p:nvSpPr>
        <p:spPr>
          <a:xfrm>
            <a:off x="5748376" y="1088136"/>
            <a:ext cx="694944" cy="128016"/>
          </a:xfrm>
          <a:prstGeom prst="roundRect">
            <a:avLst>
              <a:gd name="adj" fmla="val 50000"/>
            </a:avLst>
          </a:prstGeom>
          <a:solidFill>
            <a:srgbClr val="2F3E46"/>
          </a:solidFill>
          <a:ln/>
        </p:spPr>
      </p:sp>
      <p:sp>
        <p:nvSpPr>
          <p:cNvPr id="58" name="Text 44"/>
          <p:cNvSpPr txBox="1"/>
          <p:nvPr/>
        </p:nvSpPr>
        <p:spPr>
          <a:xfrm>
            <a:off x="4486504" y="6400800"/>
            <a:ext cx="3218688"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Swipe right to approve</a:t>
            </a:r>
            <a:endParaRPr lang="en-US" sz="1000" dirty="0"/>
          </a:p>
        </p:txBody>
      </p:sp>
      <p:sp>
        <p:nvSpPr>
          <p:cNvPr id="59" name="Shape 45"/>
          <p:cNvSpPr/>
          <p:nvPr/>
        </p:nvSpPr>
        <p:spPr>
          <a:xfrm>
            <a:off x="8521979" y="960120"/>
            <a:ext cx="2487168" cy="5394960"/>
          </a:xfrm>
          <a:prstGeom prst="roundRect">
            <a:avLst>
              <a:gd name="adj" fmla="val 13235"/>
            </a:avLst>
          </a:prstGeom>
          <a:solidFill>
            <a:srgbClr val="F7F5F0"/>
          </a:solidFill>
          <a:ln/>
          <a:effectLst>
            <a:outerShdw sx="100000" sy="100000" kx="0" ky="0" algn="bl" rotWithShape="0" blurRad="152400" dist="50800" dir="5400000">
              <a:srgbClr val="1E293B">
                <a:alpha val="22000"/>
              </a:srgbClr>
            </a:outerShdw>
          </a:effectLst>
        </p:spPr>
      </p:sp>
      <p:sp>
        <p:nvSpPr>
          <p:cNvPr id="60" name="Shape 46"/>
          <p:cNvSpPr/>
          <p:nvPr/>
        </p:nvSpPr>
        <p:spPr>
          <a:xfrm>
            <a:off x="8613419" y="1051560"/>
            <a:ext cx="2304288" cy="4645152"/>
          </a:xfrm>
          <a:prstGeom prst="rect">
            <a:avLst/>
          </a:prstGeom>
          <a:solidFill>
            <a:srgbClr val="F4DCD6"/>
          </a:solidFill>
          <a:ln/>
        </p:spPr>
      </p:sp>
      <p:sp>
        <p:nvSpPr>
          <p:cNvPr id="61" name="Shape 47"/>
          <p:cNvSpPr/>
          <p:nvPr/>
        </p:nvSpPr>
        <p:spPr>
          <a:xfrm rot="21450000">
            <a:off x="8649995" y="1289304"/>
            <a:ext cx="2157984" cy="4334256"/>
          </a:xfrm>
          <a:prstGeom prst="roundRect">
            <a:avLst>
              <a:gd name="adj" fmla="val 5085"/>
            </a:avLst>
          </a:prstGeom>
          <a:solidFill>
            <a:srgbClr val="FFFFFF"/>
          </a:solidFill>
          <a:ln w="9525">
            <a:solidFill>
              <a:srgbClr val="D5D9D3"/>
            </a:solidFill>
            <a:prstDash val="solid"/>
          </a:ln>
          <a:effectLst>
            <a:outerShdw sx="100000" sy="100000" kx="0" ky="0" algn="bl" rotWithShape="0" blurRad="76200" dist="25400" dir="5400000">
              <a:srgbClr val="1E293B">
                <a:alpha val="16000"/>
              </a:srgbClr>
            </a:outerShdw>
          </a:effectLst>
        </p:spPr>
      </p:sp>
      <p:sp>
        <p:nvSpPr>
          <p:cNvPr id="62" name="Text 48"/>
          <p:cNvSpPr txBox="1"/>
          <p:nvPr/>
        </p:nvSpPr>
        <p:spPr>
          <a:xfrm rot="21450000">
            <a:off x="8738126" y="1418190"/>
            <a:ext cx="1901952" cy="2249424"/>
          </a:xfrm>
          <a:prstGeom prst="rect">
            <a:avLst/>
          </a:prstGeom>
          <a:noFill/>
          <a:ln/>
        </p:spPr>
        <p:txBody>
          <a:bodyPr wrap="square" lIns="0" tIns="0" rIns="0" bIns="0" rtlCol="0" anchor="t"/>
          <a:lstStyle/>
          <a:p>
            <a:pPr indent="0" marL="0">
              <a:buNone/>
            </a:pPr>
            <a:r>
              <a:rPr lang="en-US" sz="800" b="1" spc="100" kern="0" dirty="0">
                <a:solidFill>
                  <a:srgbClr val="B85042"/>
                </a:solidFill>
                <a:latin typeface="Calibri" pitchFamily="34" charset="0"/>
                <a:ea typeface="Calibri" pitchFamily="34" charset="-122"/>
                <a:cs typeface="Calibri" pitchFamily="34" charset="-120"/>
              </a:rPr>
              <a:t>STORY  ·  momentum</a:t>
            </a:r>
            <a:endParaRPr lang="en-US" sz="800" dirty="0"/>
          </a:p>
          <a:p>
            <a:pPr indent="0" marL="0">
              <a:spcBef>
                <a:spcPts val="600"/>
              </a:spcBef>
              <a:buNone/>
            </a:pPr>
            <a:r>
              <a:rPr lang="en-US" sz="1500" b="1" dirty="0">
                <a:solidFill>
                  <a:srgbClr val="2F3E46"/>
                </a:solidFill>
                <a:latin typeface="Cambria" pitchFamily="34" charset="0"/>
                <a:ea typeface="Cambria" pitchFamily="34" charset="-122"/>
                <a:cs typeface="Cambria" pitchFamily="34" charset="-120"/>
              </a:rPr>
              <a:t>Attention feed ranking</a:t>
            </a:r>
            <a:endParaRPr lang="en-US" sz="800" dirty="0"/>
          </a:p>
          <a:p>
            <a:pPr indent="0" marL="0">
              <a:spcBef>
                <a:spcPts val="600"/>
              </a:spcBef>
              <a:buNone/>
            </a:pPr>
            <a:r>
              <a:rPr lang="en-US" sz="950" dirty="0">
                <a:solidFill>
                  <a:srgbClr val="52606A"/>
                </a:solidFill>
                <a:latin typeface="Calibri" pitchFamily="34" charset="0"/>
                <a:ea typeface="Calibri" pitchFamily="34" charset="-122"/>
                <a:cs typeface="Calibri" pitchFamily="34" charset="-120"/>
              </a:rPr>
              <a:t>Ranks what should be done right now so the product ends up the best it can be.</a:t>
            </a:r>
            <a:endParaRPr lang="en-US" sz="800" dirty="0"/>
          </a:p>
          <a:p>
            <a:pPr marL="127000" indent="-127000">
              <a:spcBef>
                <a:spcPts val="800"/>
              </a:spcBef>
              <a:buSzPct val="100000"/>
              <a:buChar char="•"/>
            </a:pPr>
            <a:r>
              <a:rPr lang="en-US" sz="950" dirty="0">
                <a:solidFill>
                  <a:srgbClr val="2F3E46"/>
                </a:solidFill>
                <a:latin typeface="Calibri" pitchFamily="34" charset="0"/>
                <a:ea typeface="Calibri" pitchFamily="34" charset="-122"/>
                <a:cs typeface="Calibri" pitchFamily="34" charset="-120"/>
              </a:rPr>
              <a:t>One feed across enabled projects</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Items are entities of any type</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No project priority</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Read straight from the index</a:t>
            </a:r>
            <a:endParaRPr lang="en-US" sz="800" dirty="0"/>
          </a:p>
        </p:txBody>
      </p:sp>
      <p:sp>
        <p:nvSpPr>
          <p:cNvPr id="63" name="Text 49"/>
          <p:cNvSpPr txBox="1"/>
          <p:nvPr/>
        </p:nvSpPr>
        <p:spPr>
          <a:xfrm rot="21450000">
            <a:off x="8817691" y="4241653"/>
            <a:ext cx="658368"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Parameter</a:t>
            </a:r>
            <a:endParaRPr lang="en-US" sz="850" dirty="0"/>
          </a:p>
        </p:txBody>
      </p:sp>
      <p:sp>
        <p:nvSpPr>
          <p:cNvPr id="64" name="Text 50"/>
          <p:cNvSpPr txBox="1"/>
          <p:nvPr/>
        </p:nvSpPr>
        <p:spPr>
          <a:xfrm rot="21450000">
            <a:off x="9475154" y="4200172"/>
            <a:ext cx="1243584"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Measures</a:t>
            </a:r>
            <a:endParaRPr lang="en-US" sz="850" dirty="0"/>
          </a:p>
        </p:txBody>
      </p:sp>
      <p:sp>
        <p:nvSpPr>
          <p:cNvPr id="65" name="Text 51"/>
          <p:cNvSpPr txBox="1"/>
          <p:nvPr/>
        </p:nvSpPr>
        <p:spPr>
          <a:xfrm rot="21450000">
            <a:off x="8829657" y="4515712"/>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Product</a:t>
            </a:r>
            <a:endParaRPr lang="en-US" sz="850" dirty="0"/>
          </a:p>
        </p:txBody>
      </p:sp>
      <p:sp>
        <p:nvSpPr>
          <p:cNvPr id="66" name="Text 52"/>
          <p:cNvSpPr txBox="1"/>
          <p:nvPr/>
        </p:nvSpPr>
        <p:spPr>
          <a:xfrm rot="21450000">
            <a:off x="9487120" y="4474231"/>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Impact on the product</a:t>
            </a:r>
            <a:endParaRPr lang="en-US" sz="850" dirty="0"/>
          </a:p>
        </p:txBody>
      </p:sp>
      <p:sp>
        <p:nvSpPr>
          <p:cNvPr id="67" name="Text 53"/>
          <p:cNvSpPr txBox="1"/>
          <p:nvPr/>
        </p:nvSpPr>
        <p:spPr>
          <a:xfrm rot="21450000">
            <a:off x="8841622" y="4789771"/>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Timeline</a:t>
            </a:r>
            <a:endParaRPr lang="en-US" sz="850" dirty="0"/>
          </a:p>
        </p:txBody>
      </p:sp>
      <p:sp>
        <p:nvSpPr>
          <p:cNvPr id="68" name="Text 54"/>
          <p:cNvSpPr txBox="1"/>
          <p:nvPr/>
        </p:nvSpPr>
        <p:spPr>
          <a:xfrm rot="21450000">
            <a:off x="9499085" y="4748290"/>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Impact on the timeline</a:t>
            </a:r>
            <a:endParaRPr lang="en-US" sz="850" dirty="0"/>
          </a:p>
        </p:txBody>
      </p:sp>
      <p:sp>
        <p:nvSpPr>
          <p:cNvPr id="69" name="Text 55"/>
          <p:cNvSpPr txBox="1"/>
          <p:nvPr/>
        </p:nvSpPr>
        <p:spPr>
          <a:xfrm rot="21450000">
            <a:off x="8853588" y="5063830"/>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Unlocks</a:t>
            </a:r>
            <a:endParaRPr lang="en-US" sz="850" dirty="0"/>
          </a:p>
        </p:txBody>
      </p:sp>
      <p:sp>
        <p:nvSpPr>
          <p:cNvPr id="70" name="Text 56"/>
          <p:cNvSpPr txBox="1"/>
          <p:nvPr/>
        </p:nvSpPr>
        <p:spPr>
          <a:xfrm rot="21450000">
            <a:off x="9511051" y="5022349"/>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How much it unlocks</a:t>
            </a:r>
            <a:endParaRPr lang="en-US" sz="850" dirty="0"/>
          </a:p>
        </p:txBody>
      </p:sp>
      <p:sp>
        <p:nvSpPr>
          <p:cNvPr id="71" name="Text 57"/>
          <p:cNvSpPr txBox="1"/>
          <p:nvPr/>
        </p:nvSpPr>
        <p:spPr>
          <a:xfrm rot="450000">
            <a:off x="9684504" y="3747748"/>
            <a:ext cx="1005840" cy="292608"/>
          </a:xfrm>
          <a:prstGeom prst="roundRect">
            <a:avLst>
              <a:gd name="adj" fmla="val 18750"/>
            </a:avLst>
          </a:prstGeom>
          <a:solidFill>
            <a:srgbClr val="FFFFFF"/>
          </a:solidFill>
          <a:ln w="25400">
            <a:solidFill>
              <a:srgbClr val="A0402F"/>
            </a:solidFill>
          </a:ln>
        </p:spPr>
        <p:txBody>
          <a:bodyPr wrap="square" lIns="0" tIns="0" rIns="0" bIns="0" rtlCol="0" anchor="ctr"/>
          <a:lstStyle/>
          <a:p>
            <a:pPr algn="ctr" indent="0" marL="0">
              <a:buNone/>
            </a:pPr>
            <a:r>
              <a:rPr lang="en-US" sz="1000" b="1" spc="150" kern="0" dirty="0">
                <a:solidFill>
                  <a:srgbClr val="A0402F"/>
                </a:solidFill>
                <a:latin typeface="Calibri" pitchFamily="34" charset="0"/>
                <a:ea typeface="Calibri" pitchFamily="34" charset="-122"/>
                <a:cs typeface="Calibri" pitchFamily="34" charset="-120"/>
              </a:rPr>
              <a:t>DISAPPROVE</a:t>
            </a:r>
            <a:endParaRPr lang="en-US" sz="1000" dirty="0"/>
          </a:p>
        </p:txBody>
      </p:sp>
      <p:sp>
        <p:nvSpPr>
          <p:cNvPr id="72" name="Shape 58"/>
          <p:cNvSpPr/>
          <p:nvPr/>
        </p:nvSpPr>
        <p:spPr>
          <a:xfrm flipH="1">
            <a:off x="8994780" y="3823915"/>
            <a:ext cx="566928" cy="0"/>
          </a:xfrm>
          <a:prstGeom prst="line">
            <a:avLst/>
          </a:prstGeom>
          <a:noFill/>
          <a:ln w="25400">
            <a:solidFill>
              <a:srgbClr val="2F3E46">
                <a:alpha val="85000"/>
              </a:srgbClr>
            </a:solidFill>
            <a:prstDash val="solid"/>
            <a:tailEnd type="triangle"/>
          </a:ln>
        </p:spPr>
      </p:sp>
      <p:pic>
        <p:nvPicPr>
          <p:cNvPr id="73" name="Image 11" descr="preencoded.png">    </p:cNvPr>
          <p:cNvPicPr>
            <a:picLocks noChangeAspect="1"/>
          </p:cNvPicPr>
          <p:nvPr/>
        </p:nvPicPr>
        <p:blipFill>
          <a:blip r:embed="rId12"/>
          <a:stretch>
            <a:fillRect/>
          </a:stretch>
        </p:blipFill>
        <p:spPr>
          <a:xfrm>
            <a:off x="8848476" y="3869635"/>
            <a:ext cx="237744" cy="237744"/>
          </a:xfrm>
          <a:prstGeom prst="rect">
            <a:avLst/>
          </a:prstGeom>
        </p:spPr>
      </p:pic>
      <p:sp>
        <p:nvSpPr>
          <p:cNvPr id="74" name="Shape 59"/>
          <p:cNvSpPr/>
          <p:nvPr/>
        </p:nvSpPr>
        <p:spPr>
          <a:xfrm>
            <a:off x="8613419" y="5696712"/>
            <a:ext cx="2304288" cy="566928"/>
          </a:xfrm>
          <a:prstGeom prst="rect">
            <a:avLst/>
          </a:prstGeom>
          <a:solidFill>
            <a:srgbClr val="F7F5F0"/>
          </a:solidFill>
          <a:ln/>
        </p:spPr>
      </p:sp>
      <p:sp>
        <p:nvSpPr>
          <p:cNvPr id="75" name="Shape 60"/>
          <p:cNvSpPr/>
          <p:nvPr/>
        </p:nvSpPr>
        <p:spPr>
          <a:xfrm>
            <a:off x="8613419" y="5696712"/>
            <a:ext cx="2304288" cy="0"/>
          </a:xfrm>
          <a:prstGeom prst="line">
            <a:avLst/>
          </a:prstGeom>
          <a:noFill/>
          <a:ln w="9525">
            <a:solidFill>
              <a:srgbClr val="D5D9D3"/>
            </a:solidFill>
            <a:prstDash val="solid"/>
          </a:ln>
        </p:spPr>
      </p:sp>
      <p:pic>
        <p:nvPicPr>
          <p:cNvPr id="76" name="Image 12" descr="preencoded.png">    </p:cNvPr>
          <p:cNvPicPr>
            <a:picLocks noChangeAspect="1"/>
          </p:cNvPicPr>
          <p:nvPr/>
        </p:nvPicPr>
        <p:blipFill>
          <a:blip r:embed="rId13"/>
          <a:stretch>
            <a:fillRect/>
          </a:stretch>
        </p:blipFill>
        <p:spPr>
          <a:xfrm>
            <a:off x="8752408" y="5788152"/>
            <a:ext cx="182880" cy="182880"/>
          </a:xfrm>
          <a:prstGeom prst="rect">
            <a:avLst/>
          </a:prstGeom>
        </p:spPr>
      </p:pic>
      <p:sp>
        <p:nvSpPr>
          <p:cNvPr id="77" name="Text 61"/>
          <p:cNvSpPr txBox="1"/>
          <p:nvPr/>
        </p:nvSpPr>
        <p:spPr>
          <a:xfrm>
            <a:off x="8613419" y="5989320"/>
            <a:ext cx="460858" cy="164592"/>
          </a:xfrm>
          <a:prstGeom prst="rect">
            <a:avLst/>
          </a:prstGeom>
          <a:noFill/>
          <a:ln/>
        </p:spPr>
        <p:txBody>
          <a:bodyPr wrap="square" lIns="0" tIns="0" rIns="0" bIns="0" rtlCol="0" anchor="ctr"/>
          <a:lstStyle/>
          <a:p>
            <a:pPr algn="ctr" indent="0" marL="0">
              <a:buNone/>
            </a:pPr>
            <a:r>
              <a:rPr lang="en-US" sz="700" b="1" dirty="0">
                <a:solidFill>
                  <a:srgbClr val="B85042"/>
                </a:solidFill>
                <a:latin typeface="Calibri" pitchFamily="34" charset="0"/>
                <a:ea typeface="Calibri" pitchFamily="34" charset="-122"/>
                <a:cs typeface="Calibri" pitchFamily="34" charset="-120"/>
              </a:rPr>
              <a:t>Feed</a:t>
            </a:r>
            <a:endParaRPr lang="en-US" sz="700" dirty="0"/>
          </a:p>
        </p:txBody>
      </p:sp>
      <p:pic>
        <p:nvPicPr>
          <p:cNvPr id="78" name="Image 13" descr="preencoded.png">    </p:cNvPr>
          <p:cNvPicPr>
            <a:picLocks noChangeAspect="1"/>
          </p:cNvPicPr>
          <p:nvPr/>
        </p:nvPicPr>
        <p:blipFill>
          <a:blip r:embed="rId14"/>
          <a:stretch>
            <a:fillRect/>
          </a:stretch>
        </p:blipFill>
        <p:spPr>
          <a:xfrm>
            <a:off x="9213266" y="5788152"/>
            <a:ext cx="182880" cy="182880"/>
          </a:xfrm>
          <a:prstGeom prst="rect">
            <a:avLst/>
          </a:prstGeom>
        </p:spPr>
      </p:pic>
      <p:sp>
        <p:nvSpPr>
          <p:cNvPr id="79" name="Text 62"/>
          <p:cNvSpPr txBox="1"/>
          <p:nvPr/>
        </p:nvSpPr>
        <p:spPr>
          <a:xfrm>
            <a:off x="9074277"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Explorer</a:t>
            </a:r>
            <a:endParaRPr lang="en-US" sz="700" dirty="0"/>
          </a:p>
        </p:txBody>
      </p:sp>
      <p:pic>
        <p:nvPicPr>
          <p:cNvPr id="80" name="Image 14" descr="preencoded.png">    </p:cNvPr>
          <p:cNvPicPr>
            <a:picLocks noChangeAspect="1"/>
          </p:cNvPicPr>
          <p:nvPr/>
        </p:nvPicPr>
        <p:blipFill>
          <a:blip r:embed="rId15"/>
          <a:stretch>
            <a:fillRect/>
          </a:stretch>
        </p:blipFill>
        <p:spPr>
          <a:xfrm>
            <a:off x="9674123" y="5788152"/>
            <a:ext cx="182880" cy="182880"/>
          </a:xfrm>
          <a:prstGeom prst="rect">
            <a:avLst/>
          </a:prstGeom>
        </p:spPr>
      </p:pic>
      <p:sp>
        <p:nvSpPr>
          <p:cNvPr id="81" name="Text 63"/>
          <p:cNvSpPr txBox="1"/>
          <p:nvPr/>
        </p:nvSpPr>
        <p:spPr>
          <a:xfrm>
            <a:off x="9535135"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Chat</a:t>
            </a:r>
            <a:endParaRPr lang="en-US" sz="700" dirty="0"/>
          </a:p>
        </p:txBody>
      </p:sp>
      <p:pic>
        <p:nvPicPr>
          <p:cNvPr id="82" name="Image 15" descr="preencoded.png">    </p:cNvPr>
          <p:cNvPicPr>
            <a:picLocks noChangeAspect="1"/>
          </p:cNvPicPr>
          <p:nvPr/>
        </p:nvPicPr>
        <p:blipFill>
          <a:blip r:embed="rId16"/>
          <a:stretch>
            <a:fillRect/>
          </a:stretch>
        </p:blipFill>
        <p:spPr>
          <a:xfrm>
            <a:off x="10134981" y="5788152"/>
            <a:ext cx="182880" cy="182880"/>
          </a:xfrm>
          <a:prstGeom prst="rect">
            <a:avLst/>
          </a:prstGeom>
        </p:spPr>
      </p:pic>
      <p:sp>
        <p:nvSpPr>
          <p:cNvPr id="83" name="Text 64"/>
          <p:cNvSpPr txBox="1"/>
          <p:nvPr/>
        </p:nvSpPr>
        <p:spPr>
          <a:xfrm>
            <a:off x="9995992"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Metrics</a:t>
            </a:r>
            <a:endParaRPr lang="en-US" sz="700" dirty="0"/>
          </a:p>
        </p:txBody>
      </p:sp>
      <p:pic>
        <p:nvPicPr>
          <p:cNvPr id="84" name="Image 16" descr="preencoded.png">    </p:cNvPr>
          <p:cNvPicPr>
            <a:picLocks noChangeAspect="1"/>
          </p:cNvPicPr>
          <p:nvPr/>
        </p:nvPicPr>
        <p:blipFill>
          <a:blip r:embed="rId17"/>
          <a:stretch>
            <a:fillRect/>
          </a:stretch>
        </p:blipFill>
        <p:spPr>
          <a:xfrm>
            <a:off x="10595839" y="5788152"/>
            <a:ext cx="182880" cy="182880"/>
          </a:xfrm>
          <a:prstGeom prst="rect">
            <a:avLst/>
          </a:prstGeom>
        </p:spPr>
      </p:pic>
      <p:sp>
        <p:nvSpPr>
          <p:cNvPr id="85" name="Text 65"/>
          <p:cNvSpPr txBox="1"/>
          <p:nvPr/>
        </p:nvSpPr>
        <p:spPr>
          <a:xfrm>
            <a:off x="10456850"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Settings</a:t>
            </a:r>
            <a:endParaRPr lang="en-US" sz="700" dirty="0"/>
          </a:p>
        </p:txBody>
      </p:sp>
      <p:sp>
        <p:nvSpPr>
          <p:cNvPr id="86" name="Shape 66"/>
          <p:cNvSpPr/>
          <p:nvPr/>
        </p:nvSpPr>
        <p:spPr>
          <a:xfrm>
            <a:off x="8613419" y="1051560"/>
            <a:ext cx="2304288" cy="3255264"/>
          </a:xfrm>
          <a:prstGeom prst="rect">
            <a:avLst/>
          </a:prstGeom>
          <a:solidFill>
            <a:srgbClr val="1E293B">
              <a:alpha val="18000"/>
            </a:srgbClr>
          </a:solidFill>
          <a:ln/>
        </p:spPr>
      </p:sp>
      <p:sp>
        <p:nvSpPr>
          <p:cNvPr id="87" name="Shape 67"/>
          <p:cNvSpPr/>
          <p:nvPr/>
        </p:nvSpPr>
        <p:spPr>
          <a:xfrm>
            <a:off x="8613419" y="4306824"/>
            <a:ext cx="2304288" cy="2029968"/>
          </a:xfrm>
          <a:prstGeom prst="roundRect">
            <a:avLst>
              <a:gd name="adj" fmla="val 11712"/>
            </a:avLst>
          </a:prstGeom>
          <a:solidFill>
            <a:srgbClr val="FFFFFF"/>
          </a:solidFill>
          <a:ln/>
          <a:effectLst>
            <a:outerShdw sx="100000" sy="100000" kx="0" ky="0" algn="bl" rotWithShape="0" blurRad="127000" dist="38100" dir="16200000">
              <a:srgbClr val="1E293B">
                <a:alpha val="20000"/>
              </a:srgbClr>
            </a:outerShdw>
          </a:effectLst>
        </p:spPr>
      </p:sp>
      <p:sp>
        <p:nvSpPr>
          <p:cNvPr id="88" name="Shape 68"/>
          <p:cNvSpPr/>
          <p:nvPr/>
        </p:nvSpPr>
        <p:spPr>
          <a:xfrm>
            <a:off x="9491243" y="4398264"/>
            <a:ext cx="548640" cy="45720"/>
          </a:xfrm>
          <a:prstGeom prst="roundRect">
            <a:avLst>
              <a:gd name="adj" fmla="val 50000"/>
            </a:avLst>
          </a:prstGeom>
          <a:solidFill>
            <a:srgbClr val="D5D9D3"/>
          </a:solidFill>
          <a:ln/>
        </p:spPr>
      </p:sp>
      <p:sp>
        <p:nvSpPr>
          <p:cNvPr id="89" name="Text 69"/>
          <p:cNvSpPr txBox="1"/>
          <p:nvPr/>
        </p:nvSpPr>
        <p:spPr>
          <a:xfrm>
            <a:off x="8778011" y="4507992"/>
            <a:ext cx="1975104" cy="420624"/>
          </a:xfrm>
          <a:prstGeom prst="rect">
            <a:avLst/>
          </a:prstGeom>
          <a:noFill/>
          <a:ln/>
        </p:spPr>
        <p:txBody>
          <a:bodyPr wrap="square" lIns="0" tIns="0" rIns="0" bIns="0" rtlCol="0" anchor="ctr"/>
          <a:lstStyle/>
          <a:p>
            <a:pPr indent="0" marL="0">
              <a:buNone/>
            </a:pPr>
            <a:r>
              <a:rPr lang="en-US" sz="1300" b="1" dirty="0">
                <a:solidFill>
                  <a:srgbClr val="2F3E46"/>
                </a:solidFill>
                <a:latin typeface="Cambria" pitchFamily="34" charset="0"/>
                <a:ea typeface="Cambria" pitchFamily="34" charset="-122"/>
                <a:cs typeface="Cambria" pitchFamily="34" charset="-120"/>
              </a:rPr>
              <a:t>Disapprove</a:t>
            </a:r>
            <a:endParaRPr lang="en-US" sz="1300" dirty="0"/>
          </a:p>
        </p:txBody>
      </p:sp>
      <p:sp>
        <p:nvSpPr>
          <p:cNvPr id="90" name="Text 70"/>
          <p:cNvSpPr txBox="1"/>
          <p:nvPr/>
        </p:nvSpPr>
        <p:spPr>
          <a:xfrm>
            <a:off x="8778011" y="4983480"/>
            <a:ext cx="1975104" cy="566928"/>
          </a:xfrm>
          <a:prstGeom prst="roundRect">
            <a:avLst>
              <a:gd name="adj" fmla="val 12903"/>
            </a:avLst>
          </a:prstGeom>
          <a:solidFill>
            <a:srgbClr val="F7F5F0"/>
          </a:solidFill>
          <a:ln w="12700">
            <a:solidFill>
              <a:srgbClr val="B85042"/>
            </a:solidFill>
          </a:ln>
        </p:spPr>
        <p:txBody>
          <a:bodyPr wrap="square" lIns="101600" tIns="101600" rIns="101600" bIns="101600" rtlCol="0" anchor="t"/>
          <a:lstStyle/>
          <a:p>
            <a:pPr indent="0" marL="0">
              <a:buNone/>
            </a:pPr>
            <a:r>
              <a:rPr lang="en-US" sz="900" dirty="0">
                <a:solidFill>
                  <a:srgbClr val="2F3E46"/>
                </a:solidFill>
                <a:latin typeface="Calibri" pitchFamily="34" charset="0"/>
                <a:ea typeface="Calibri" pitchFamily="34" charset="-122"/>
                <a:cs typeface="Calibri" pitchFamily="34" charset="-120"/>
              </a:rPr>
              <a:t>Rank by the Importance Rank instead: dependencies, stability, performance, priority and velocity.</a:t>
            </a:r>
            <a:endParaRPr lang="en-US" sz="900" dirty="0"/>
          </a:p>
        </p:txBody>
      </p:sp>
      <p:sp>
        <p:nvSpPr>
          <p:cNvPr id="91" name="Text 71"/>
          <p:cNvSpPr txBox="1"/>
          <p:nvPr/>
        </p:nvSpPr>
        <p:spPr>
          <a:xfrm>
            <a:off x="8778011" y="5660136"/>
            <a:ext cx="932688" cy="347472"/>
          </a:xfrm>
          <a:prstGeom prst="roundRect">
            <a:avLst>
              <a:gd name="adj" fmla="val 50000"/>
            </a:avLst>
          </a:prstGeom>
          <a:solidFill>
            <a:srgbClr val="FFFFFF"/>
          </a:solidFill>
          <a:ln w="12700">
            <a:solidFill>
              <a:srgbClr val="D5D9D3"/>
            </a:solidFill>
          </a:ln>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Cancel</a:t>
            </a:r>
            <a:endParaRPr lang="en-US" sz="1000" dirty="0"/>
          </a:p>
        </p:txBody>
      </p:sp>
      <p:sp>
        <p:nvSpPr>
          <p:cNvPr id="92" name="Text 72"/>
          <p:cNvSpPr txBox="1"/>
          <p:nvPr/>
        </p:nvSpPr>
        <p:spPr>
          <a:xfrm>
            <a:off x="9820427" y="5660136"/>
            <a:ext cx="932688" cy="347472"/>
          </a:xfrm>
          <a:prstGeom prst="roundRect">
            <a:avLst>
              <a:gd name="adj" fmla="val 50000"/>
            </a:avLst>
          </a:prstGeom>
          <a:solidFill>
            <a:srgbClr val="B85042"/>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Send back</a:t>
            </a:r>
            <a:endParaRPr lang="en-US" sz="1000" dirty="0"/>
          </a:p>
        </p:txBody>
      </p:sp>
      <p:sp>
        <p:nvSpPr>
          <p:cNvPr id="93" name="Shape 73"/>
          <p:cNvSpPr/>
          <p:nvPr/>
        </p:nvSpPr>
        <p:spPr>
          <a:xfrm>
            <a:off x="8567699" y="1005840"/>
            <a:ext cx="2395728" cy="5303520"/>
          </a:xfrm>
          <a:prstGeom prst="roundRect">
            <a:avLst>
              <a:gd name="adj" fmla="val 11832"/>
            </a:avLst>
          </a:prstGeom>
          <a:ln w="91440">
            <a:solidFill>
              <a:srgbClr val="2F3E46"/>
            </a:solidFill>
            <a:prstDash val="solid"/>
          </a:ln>
        </p:spPr>
      </p:sp>
      <p:sp>
        <p:nvSpPr>
          <p:cNvPr id="94" name="Shape 74"/>
          <p:cNvSpPr/>
          <p:nvPr/>
        </p:nvSpPr>
        <p:spPr>
          <a:xfrm>
            <a:off x="9418091" y="1088136"/>
            <a:ext cx="694944" cy="128016"/>
          </a:xfrm>
          <a:prstGeom prst="roundRect">
            <a:avLst>
              <a:gd name="adj" fmla="val 50000"/>
            </a:avLst>
          </a:prstGeom>
          <a:solidFill>
            <a:srgbClr val="2F3E46"/>
          </a:solidFill>
          <a:ln/>
        </p:spPr>
      </p:sp>
      <p:sp>
        <p:nvSpPr>
          <p:cNvPr id="95" name="Text 75"/>
          <p:cNvSpPr txBox="1"/>
          <p:nvPr/>
        </p:nvSpPr>
        <p:spPr>
          <a:xfrm>
            <a:off x="8156219" y="6400800"/>
            <a:ext cx="3218688"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Swipe left to disapprove with a comment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How everything works together</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Entities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Entity types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Entity states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Automations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Triggers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Automation management</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Summarization</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Consistency gate</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Issue types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Git</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User actions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Settings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Harness &amp; Products</dc:title>
  <dc:subject>PptxGenJS Presentation</dc:subject>
  <dc:creator>PptxGenJS</dc:creator>
  <cp:lastModifiedBy>PptxGenJS</cp:lastModifiedBy>
  <cp:revision>1</cp:revision>
  <dcterms:created xsi:type="dcterms:W3CDTF">2026-10-02T08:30:19Z</dcterms:created>
  <dcterms:modified xsi:type="dcterms:W3CDTF">2026-10-02T08:30:19Z</dcterms:modified>
</cp:coreProperties>
</file>