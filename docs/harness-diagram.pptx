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guard validates the transaction and lands it as one commit; the index follows the main line and the feed ranks what is unverified; the user approves, sends back or chats. A card the user commits needs no run and no guard: it lands as committed, with the verification its frontmatter says, unverified by default, and the consistency check reads it like any other.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research, patterns and reports of what runs removed. Wherever the app names an entity, in a card, a chat, an answer or a list, it shows this glyph and colour and opens it on a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Twelve automations around the knowledge graph, each with its trigger: schedule, event, the user, the Stop hook or enabling the project. Interview and search start only when the user asks; search answers in one turn and is not a run.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Nine automations have a trigger entity in each workspace, holding its schedule, its events and whether it starts on demand; the optimization trigger exists in the harness workspace only, and a trigger counts once the user has approved it. Exploration every two hours, preparation every two hours at half past, validation at 02:00 and after every implementation, consistency check at 03:00, retention at 04:00, optimization at 05:00. An approved entity with nothing implementing it starts implementation; a finished implementation starts validation. Chat and interview start only when the user asks. Summarization runs in the Stop hook of every run, graph build while the project is enabled, and search answers in one turn without a run, so none of the three has a trigger entity. Scheduled loops and the graph build pause while the feed is at its limit; events still start their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An edit the user commits lands on the main line as committed. A definition change optimization proposes passes the consistency guard and lands unverified: it is in effect as it lands, materialized into every project from the harness main line, and waits in the feed for the user's review; a trigger change takes effect only once the user approves the trigger. Optimization reads every chat and proposes a skill, memory, sub-agent or definition change only for a pattern seen at least three times, as a Harness/Pattern with its evidence; nothing is learnt from one chat. Runs start on demand through the voice tools, for automations whose approved trigger allows it, and stop from the chat; models and concurrency are settings, and the Settings tab leads to the rest in the knowledge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run's own checkout with the project's settings. momentum-kb is an in-process MCP server over the knowledge base: search (full text, semantic, expanded along references), read, references, types, write (validated as it writes) and record_agent_metric. momentum-run carries what the run reports to the harness: the graph build's progress and documents, and an interview's next question. The summarization sub-agent takes the run's artifacts over through the Agent tool at Stop, and the harness checks it ran before trusting it. Hooks wrap the tools: after every write the consistency guard returns its issues at once; at Stop the run summarizes, fixes what the guard cannot accept and writes its commit message. The momentum MCP server over HTTP is not for runs: it gives the user's voice tools the API's handlers, ask included, without the UI; only reading a repository file, changing a logo and signing out have no tool. A question typed in the explorer search is not a run: the search finds the entities, and the search automation answers from them in one turn without tools, linking each it drew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completeness. How complete a project's knowledge graph is, measured by the harness on the main line and never estimated by a run: the mean of two halves. Understanding is the questions every product's graph must answer, eight slots, each filled by an entity of one of its types: what the product is, what it is for, what it does, how it is built, where the code is, where it runs, how it is tested, and what rules and decisions shape it. Territory is every area of the repository accounted for: a top-level directory, or each child of one that holds only directories, with the files at the root as one more. An area counts by its parts, its direct subdirectories and its own files, and weighs the logarithm of its file count. An entity accounts for a part by listing it, anything in it, or a directory above it as an artifact, so one card listing examples claims the whole of it. Cards of implementation-detail types, a file, a class, a function, claim nothing: the graph exists to spare the reader those. Each graph build run is told what is missing; it reports complete only once nothing missing can be filled from the repository. The Settings tab shows the score, the questions answered, the share of the repository accounted for and what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guard. Every write is checked while the run works. When it ends, the transaction passes the guard: type, references, the links on each card, and diagrams in PlantUML, never mermaid. Everything lands as one commit; what fails carries an issue entity; in the harness repository a file outside the automation's scope is put back and named in it.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 links missing from the references,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an automation on demand through the voice tools where its trigger allows,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and links into the knowledge graph, where the automations, entity types, risk rules, triggers and patterns are kept.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Feed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Ranked cards of all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right to approve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left to send back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resolved by option</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Domain and type tree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Search by words, meaning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Answers from the graph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Linked entities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Chats and interviews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 parts as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Spoken by the mic</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at any time</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Timeline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you did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event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runs removed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the harness did</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Share of the usage limits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Entities by state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Runs per automation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24 h, 7 d or 30 d</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Projects and graph build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 and 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Concurrent runs</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Typed routes, OpenAPI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on every route but sign-in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Voice sockets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MCP tools</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Triggers due, feed room left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Events start runs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automation per project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Your runs at once</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Runner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Claude Code, one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Own main-line checkout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hook summarizes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Lost runs resume</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Consistency Guard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Checks every write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commit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conflicts, reports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Index true to the main line</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625328" y="197510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625328" y="339242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Understanding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625328" y="485546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Implementation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Ranking</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Approval</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Guard</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16009" y="4375404"/>
            <a:ext cx="155448" cy="155448"/>
          </a:xfrm>
          <a:prstGeom prst="rect">
            <a:avLst/>
          </a:prstGeom>
        </p:spPr>
      </p:pic>
      <p:sp>
        <p:nvSpPr>
          <p:cNvPr id="90" name="Text 74"/>
          <p:cNvSpPr txBox="1"/>
          <p:nvPr/>
        </p:nvSpPr>
        <p:spPr>
          <a:xfrm>
            <a:off x="7235465" y="4306824"/>
            <a:ext cx="424646"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Chats</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6890311" y="4741164"/>
            <a:ext cx="155448" cy="155448"/>
          </a:xfrm>
          <a:prstGeom prst="rect">
            <a:avLst/>
          </a:prstGeom>
        </p:spPr>
      </p:pic>
      <p:sp>
        <p:nvSpPr>
          <p:cNvPr id="93" name="Text 76"/>
          <p:cNvSpPr txBox="1"/>
          <p:nvPr/>
        </p:nvSpPr>
        <p:spPr>
          <a:xfrm>
            <a:off x="7109767" y="4672584"/>
            <a:ext cx="67604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Interviews</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7023760" y="5106924"/>
            <a:ext cx="155448" cy="155448"/>
          </a:xfrm>
          <a:prstGeom prst="rect">
            <a:avLst/>
          </a:prstGeom>
        </p:spPr>
      </p:pic>
      <p:sp>
        <p:nvSpPr>
          <p:cNvPr id="96" name="Text 78"/>
          <p:cNvSpPr txBox="1"/>
          <p:nvPr/>
        </p:nvSpPr>
        <p:spPr>
          <a:xfrm>
            <a:off x="7243216" y="5038344"/>
            <a:ext cx="409143"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Plans</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27450" y="5472684"/>
            <a:ext cx="155448" cy="155448"/>
          </a:xfrm>
          <a:prstGeom prst="rect">
            <a:avLst/>
          </a:prstGeom>
        </p:spPr>
      </p:pic>
      <p:sp>
        <p:nvSpPr>
          <p:cNvPr id="99" name="Text 80"/>
          <p:cNvSpPr txBox="1"/>
          <p:nvPr/>
        </p:nvSpPr>
        <p:spPr>
          <a:xfrm>
            <a:off x="7246906" y="5404104"/>
            <a:ext cx="401764"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Code</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865196" y="5838444"/>
            <a:ext cx="155448" cy="155448"/>
          </a:xfrm>
          <a:prstGeom prst="rect">
            <a:avLst/>
          </a:prstGeom>
        </p:spPr>
      </p:pic>
      <p:sp>
        <p:nvSpPr>
          <p:cNvPr id="102" name="Text 82"/>
          <p:cNvSpPr txBox="1"/>
          <p:nvPr/>
        </p:nvSpPr>
        <p:spPr>
          <a:xfrm>
            <a:off x="7084652" y="5769864"/>
            <a:ext cx="726271"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Documents</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Chat</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Interview</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Graph Build</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Summarization</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Orchestrator</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COMPONENT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types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412977" y="5788152"/>
            <a:ext cx="182880" cy="182880"/>
          </a:xfrm>
          <a:prstGeom prst="rect">
            <a:avLst/>
          </a:prstGeom>
        </p:spPr>
      </p:pic>
      <p:sp>
        <p:nvSpPr>
          <p:cNvPr id="17" name="Text 13"/>
          <p:cNvSpPr txBox="1"/>
          <p:nvPr/>
        </p:nvSpPr>
        <p:spPr>
          <a:xfrm>
            <a:off x="1273988"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873834" y="5788152"/>
            <a:ext cx="182880" cy="182880"/>
          </a:xfrm>
          <a:prstGeom prst="rect">
            <a:avLst/>
          </a:prstGeom>
        </p:spPr>
      </p:pic>
      <p:sp>
        <p:nvSpPr>
          <p:cNvPr id="19" name="Text 14"/>
          <p:cNvSpPr txBox="1"/>
          <p:nvPr/>
        </p:nvSpPr>
        <p:spPr>
          <a:xfrm>
            <a:off x="173484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334692" y="5788152"/>
            <a:ext cx="182880" cy="182880"/>
          </a:xfrm>
          <a:prstGeom prst="rect">
            <a:avLst/>
          </a:prstGeom>
        </p:spPr>
      </p:pic>
      <p:sp>
        <p:nvSpPr>
          <p:cNvPr id="21" name="Text 15"/>
          <p:cNvSpPr txBox="1"/>
          <p:nvPr/>
        </p:nvSpPr>
        <p:spPr>
          <a:xfrm>
            <a:off x="2195703"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795549" y="5788152"/>
            <a:ext cx="182880" cy="182880"/>
          </a:xfrm>
          <a:prstGeom prst="rect">
            <a:avLst/>
          </a:prstGeom>
        </p:spPr>
      </p:pic>
      <p:sp>
        <p:nvSpPr>
          <p:cNvPr id="23" name="Text 16"/>
          <p:cNvSpPr txBox="1"/>
          <p:nvPr/>
        </p:nvSpPr>
        <p:spPr>
          <a:xfrm>
            <a:off x="2656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24" name="Image 4" descr="preencoded.png">    </p:cNvPr>
          <p:cNvPicPr>
            <a:picLocks noChangeAspect="1"/>
          </p:cNvPicPr>
          <p:nvPr/>
        </p:nvPicPr>
        <p:blipFill>
          <a:blip r:embed="rId5"/>
          <a:stretch>
            <a:fillRect/>
          </a:stretch>
        </p:blipFill>
        <p:spPr>
          <a:xfrm>
            <a:off x="3256407" y="5788152"/>
            <a:ext cx="182880" cy="182880"/>
          </a:xfrm>
          <a:prstGeom prst="rect">
            <a:avLst/>
          </a:prstGeom>
        </p:spPr>
      </p:pic>
      <p:sp>
        <p:nvSpPr>
          <p:cNvPr id="25" name="Text 17"/>
          <p:cNvSpPr txBox="1"/>
          <p:nvPr/>
        </p:nvSpPr>
        <p:spPr>
          <a:xfrm>
            <a:off x="3117418"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sp>
        <p:nvSpPr>
          <p:cNvPr id="26" name="Shape 18"/>
          <p:cNvSpPr/>
          <p:nvPr/>
        </p:nvSpPr>
        <p:spPr>
          <a:xfrm>
            <a:off x="1228268" y="1005840"/>
            <a:ext cx="2395728" cy="5303520"/>
          </a:xfrm>
          <a:prstGeom prst="roundRect">
            <a:avLst>
              <a:gd name="adj" fmla="val 11832"/>
            </a:avLst>
          </a:prstGeom>
          <a:ln w="91440">
            <a:solidFill>
              <a:srgbClr val="2F3E46"/>
            </a:solidFill>
            <a:prstDash val="solid"/>
          </a:ln>
        </p:spPr>
      </p:sp>
      <p:sp>
        <p:nvSpPr>
          <p:cNvPr id="27" name="Shape 19"/>
          <p:cNvSpPr/>
          <p:nvPr/>
        </p:nvSpPr>
        <p:spPr>
          <a:xfrm>
            <a:off x="2078660" y="1088136"/>
            <a:ext cx="694944" cy="128016"/>
          </a:xfrm>
          <a:prstGeom prst="roundRect">
            <a:avLst>
              <a:gd name="adj" fmla="val 50000"/>
            </a:avLst>
          </a:prstGeom>
          <a:solidFill>
            <a:srgbClr val="2F3E46"/>
          </a:solidFill>
          <a:ln/>
        </p:spPr>
      </p:sp>
      <p:sp>
        <p:nvSpPr>
          <p:cNvPr id="28" name="Text 20"/>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29" name="Shape 21"/>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0" name="Shape 22"/>
          <p:cNvSpPr/>
          <p:nvPr/>
        </p:nvSpPr>
        <p:spPr>
          <a:xfrm>
            <a:off x="4943704" y="1051560"/>
            <a:ext cx="2304288" cy="4645152"/>
          </a:xfrm>
          <a:prstGeom prst="rect">
            <a:avLst/>
          </a:prstGeom>
          <a:solidFill>
            <a:srgbClr val="DCE7DF"/>
          </a:solidFill>
          <a:ln/>
        </p:spPr>
      </p:sp>
      <p:sp>
        <p:nvSpPr>
          <p:cNvPr id="31" name="Shape 23"/>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2" name="Text 24"/>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DECISION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3" name="Text 25"/>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4" name="Text 26"/>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5" name="Text 27"/>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6" name="Text 28"/>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7" name="Text 29"/>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38" name="Text 30"/>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39" name="Text 31"/>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0" name="Text 32"/>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1" name="Text 33"/>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2" name="Shape 34"/>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3" name="Image 5" descr="preencoded.png">    </p:cNvPr>
          <p:cNvPicPr>
            <a:picLocks noChangeAspect="1"/>
          </p:cNvPicPr>
          <p:nvPr/>
        </p:nvPicPr>
        <p:blipFill>
          <a:blip r:embed="rId6"/>
          <a:stretch>
            <a:fillRect/>
          </a:stretch>
        </p:blipFill>
        <p:spPr>
          <a:xfrm>
            <a:off x="6793479" y="3869635"/>
            <a:ext cx="237744" cy="237744"/>
          </a:xfrm>
          <a:prstGeom prst="rect">
            <a:avLst/>
          </a:prstGeom>
        </p:spPr>
      </p:pic>
      <p:sp>
        <p:nvSpPr>
          <p:cNvPr id="44" name="Shape 35"/>
          <p:cNvSpPr/>
          <p:nvPr/>
        </p:nvSpPr>
        <p:spPr>
          <a:xfrm>
            <a:off x="4943704" y="5696712"/>
            <a:ext cx="2304288" cy="566928"/>
          </a:xfrm>
          <a:prstGeom prst="rect">
            <a:avLst/>
          </a:prstGeom>
          <a:solidFill>
            <a:srgbClr val="F7F5F0"/>
          </a:solidFill>
          <a:ln/>
        </p:spPr>
      </p:sp>
      <p:sp>
        <p:nvSpPr>
          <p:cNvPr id="45" name="Shape 36"/>
          <p:cNvSpPr/>
          <p:nvPr/>
        </p:nvSpPr>
        <p:spPr>
          <a:xfrm>
            <a:off x="4943704" y="5696712"/>
            <a:ext cx="2304288" cy="0"/>
          </a:xfrm>
          <a:prstGeom prst="line">
            <a:avLst/>
          </a:prstGeom>
          <a:noFill/>
          <a:ln w="9525">
            <a:solidFill>
              <a:srgbClr val="D5D9D3"/>
            </a:solidFill>
            <a:prstDash val="solid"/>
          </a:ln>
        </p:spPr>
      </p:sp>
      <p:pic>
        <p:nvPicPr>
          <p:cNvPr id="46" name="Image 6" descr="preencoded.png">    </p:cNvPr>
          <p:cNvPicPr>
            <a:picLocks noChangeAspect="1"/>
          </p:cNvPicPr>
          <p:nvPr/>
        </p:nvPicPr>
        <p:blipFill>
          <a:blip r:embed="rId7"/>
          <a:stretch>
            <a:fillRect/>
          </a:stretch>
        </p:blipFill>
        <p:spPr>
          <a:xfrm>
            <a:off x="5082692" y="5788152"/>
            <a:ext cx="182880" cy="182880"/>
          </a:xfrm>
          <a:prstGeom prst="rect">
            <a:avLst/>
          </a:prstGeom>
        </p:spPr>
      </p:pic>
      <p:sp>
        <p:nvSpPr>
          <p:cNvPr id="47" name="Text 37"/>
          <p:cNvSpPr txBox="1"/>
          <p:nvPr/>
        </p:nvSpPr>
        <p:spPr>
          <a:xfrm>
            <a:off x="4943704"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48" name="Image 7" descr="preencoded.png">    </p:cNvPr>
          <p:cNvPicPr>
            <a:picLocks noChangeAspect="1"/>
          </p:cNvPicPr>
          <p:nvPr/>
        </p:nvPicPr>
        <p:blipFill>
          <a:blip r:embed="rId8"/>
          <a:stretch>
            <a:fillRect/>
          </a:stretch>
        </p:blipFill>
        <p:spPr>
          <a:xfrm>
            <a:off x="5543550" y="5788152"/>
            <a:ext cx="182880" cy="182880"/>
          </a:xfrm>
          <a:prstGeom prst="rect">
            <a:avLst/>
          </a:prstGeom>
        </p:spPr>
      </p:pic>
      <p:sp>
        <p:nvSpPr>
          <p:cNvPr id="49" name="Text 38"/>
          <p:cNvSpPr txBox="1"/>
          <p:nvPr/>
        </p:nvSpPr>
        <p:spPr>
          <a:xfrm>
            <a:off x="5404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0" name="Image 8" descr="preencoded.png">    </p:cNvPr>
          <p:cNvPicPr>
            <a:picLocks noChangeAspect="1"/>
          </p:cNvPicPr>
          <p:nvPr/>
        </p:nvPicPr>
        <p:blipFill>
          <a:blip r:embed="rId9"/>
          <a:stretch>
            <a:fillRect/>
          </a:stretch>
        </p:blipFill>
        <p:spPr>
          <a:xfrm>
            <a:off x="6004408" y="5788152"/>
            <a:ext cx="182880" cy="182880"/>
          </a:xfrm>
          <a:prstGeom prst="rect">
            <a:avLst/>
          </a:prstGeom>
        </p:spPr>
      </p:pic>
      <p:sp>
        <p:nvSpPr>
          <p:cNvPr id="51" name="Text 39"/>
          <p:cNvSpPr txBox="1"/>
          <p:nvPr/>
        </p:nvSpPr>
        <p:spPr>
          <a:xfrm>
            <a:off x="5865419"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2" name="Image 9" descr="preencoded.png">    </p:cNvPr>
          <p:cNvPicPr>
            <a:picLocks noChangeAspect="1"/>
          </p:cNvPicPr>
          <p:nvPr/>
        </p:nvPicPr>
        <p:blipFill>
          <a:blip r:embed="rId10"/>
          <a:stretch>
            <a:fillRect/>
          </a:stretch>
        </p:blipFill>
        <p:spPr>
          <a:xfrm>
            <a:off x="6465265" y="5788152"/>
            <a:ext cx="182880" cy="182880"/>
          </a:xfrm>
          <a:prstGeom prst="rect">
            <a:avLst/>
          </a:prstGeom>
        </p:spPr>
      </p:pic>
      <p:sp>
        <p:nvSpPr>
          <p:cNvPr id="53" name="Text 40"/>
          <p:cNvSpPr txBox="1"/>
          <p:nvPr/>
        </p:nvSpPr>
        <p:spPr>
          <a:xfrm>
            <a:off x="6326276"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54" name="Image 10" descr="preencoded.png">    </p:cNvPr>
          <p:cNvPicPr>
            <a:picLocks noChangeAspect="1"/>
          </p:cNvPicPr>
          <p:nvPr/>
        </p:nvPicPr>
        <p:blipFill>
          <a:blip r:embed="rId11"/>
          <a:stretch>
            <a:fillRect/>
          </a:stretch>
        </p:blipFill>
        <p:spPr>
          <a:xfrm>
            <a:off x="6926123" y="5788152"/>
            <a:ext cx="182880" cy="182880"/>
          </a:xfrm>
          <a:prstGeom prst="rect">
            <a:avLst/>
          </a:prstGeom>
        </p:spPr>
      </p:pic>
      <p:sp>
        <p:nvSpPr>
          <p:cNvPr id="55" name="Text 41"/>
          <p:cNvSpPr txBox="1"/>
          <p:nvPr/>
        </p:nvSpPr>
        <p:spPr>
          <a:xfrm>
            <a:off x="6787134"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sp>
        <p:nvSpPr>
          <p:cNvPr id="56" name="Shape 42"/>
          <p:cNvSpPr/>
          <p:nvPr/>
        </p:nvSpPr>
        <p:spPr>
          <a:xfrm>
            <a:off x="4897984" y="1005840"/>
            <a:ext cx="2395728" cy="5303520"/>
          </a:xfrm>
          <a:prstGeom prst="roundRect">
            <a:avLst>
              <a:gd name="adj" fmla="val 11832"/>
            </a:avLst>
          </a:prstGeom>
          <a:ln w="91440">
            <a:solidFill>
              <a:srgbClr val="2F3E46"/>
            </a:solidFill>
            <a:prstDash val="solid"/>
          </a:ln>
        </p:spPr>
      </p:sp>
      <p:sp>
        <p:nvSpPr>
          <p:cNvPr id="57" name="Shape 43"/>
          <p:cNvSpPr/>
          <p:nvPr/>
        </p:nvSpPr>
        <p:spPr>
          <a:xfrm>
            <a:off x="5748376" y="1088136"/>
            <a:ext cx="694944" cy="128016"/>
          </a:xfrm>
          <a:prstGeom prst="roundRect">
            <a:avLst>
              <a:gd name="adj" fmla="val 50000"/>
            </a:avLst>
          </a:prstGeom>
          <a:solidFill>
            <a:srgbClr val="2F3E46"/>
          </a:solidFill>
          <a:ln/>
        </p:spPr>
      </p:sp>
      <p:sp>
        <p:nvSpPr>
          <p:cNvPr id="58" name="Text 44"/>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59" name="Shape 45"/>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0" name="Shape 46"/>
          <p:cNvSpPr/>
          <p:nvPr/>
        </p:nvSpPr>
        <p:spPr>
          <a:xfrm>
            <a:off x="8613419" y="1051560"/>
            <a:ext cx="2304288" cy="4645152"/>
          </a:xfrm>
          <a:prstGeom prst="rect">
            <a:avLst/>
          </a:prstGeom>
          <a:solidFill>
            <a:srgbClr val="F4DCD6"/>
          </a:solidFill>
          <a:ln/>
        </p:spPr>
      </p:sp>
      <p:sp>
        <p:nvSpPr>
          <p:cNvPr id="61" name="Shape 47"/>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2" name="Text 48"/>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FEATURE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3" name="Text 49"/>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4" name="Text 50"/>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5" name="Text 51"/>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66" name="Text 52"/>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67" name="Text 53"/>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68" name="Text 54"/>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69" name="Text 55"/>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0" name="Text 56"/>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1" name="Text 57"/>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2" name="Shape 58"/>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3" name="Image 11" descr="preencoded.png">    </p:cNvPr>
          <p:cNvPicPr>
            <a:picLocks noChangeAspect="1"/>
          </p:cNvPicPr>
          <p:nvPr/>
        </p:nvPicPr>
        <p:blipFill>
          <a:blip r:embed="rId12"/>
          <a:stretch>
            <a:fillRect/>
          </a:stretch>
        </p:blipFill>
        <p:spPr>
          <a:xfrm>
            <a:off x="8848476" y="3869635"/>
            <a:ext cx="237744" cy="237744"/>
          </a:xfrm>
          <a:prstGeom prst="rect">
            <a:avLst/>
          </a:prstGeom>
        </p:spPr>
      </p:pic>
      <p:sp>
        <p:nvSpPr>
          <p:cNvPr id="74" name="Shape 59"/>
          <p:cNvSpPr/>
          <p:nvPr/>
        </p:nvSpPr>
        <p:spPr>
          <a:xfrm>
            <a:off x="8613419" y="5696712"/>
            <a:ext cx="2304288" cy="566928"/>
          </a:xfrm>
          <a:prstGeom prst="rect">
            <a:avLst/>
          </a:prstGeom>
          <a:solidFill>
            <a:srgbClr val="F7F5F0"/>
          </a:solidFill>
          <a:ln/>
        </p:spPr>
      </p:sp>
      <p:sp>
        <p:nvSpPr>
          <p:cNvPr id="75" name="Shape 60"/>
          <p:cNvSpPr/>
          <p:nvPr/>
        </p:nvSpPr>
        <p:spPr>
          <a:xfrm>
            <a:off x="8613419" y="5696712"/>
            <a:ext cx="2304288" cy="0"/>
          </a:xfrm>
          <a:prstGeom prst="line">
            <a:avLst/>
          </a:prstGeom>
          <a:noFill/>
          <a:ln w="9525">
            <a:solidFill>
              <a:srgbClr val="D5D9D3"/>
            </a:solidFill>
            <a:prstDash val="solid"/>
          </a:ln>
        </p:spPr>
      </p:sp>
      <p:pic>
        <p:nvPicPr>
          <p:cNvPr id="76" name="Image 12" descr="preencoded.png">    </p:cNvPr>
          <p:cNvPicPr>
            <a:picLocks noChangeAspect="1"/>
          </p:cNvPicPr>
          <p:nvPr/>
        </p:nvPicPr>
        <p:blipFill>
          <a:blip r:embed="rId13"/>
          <a:stretch>
            <a:fillRect/>
          </a:stretch>
        </p:blipFill>
        <p:spPr>
          <a:xfrm>
            <a:off x="8752408" y="5788152"/>
            <a:ext cx="182880" cy="182880"/>
          </a:xfrm>
          <a:prstGeom prst="rect">
            <a:avLst/>
          </a:prstGeom>
        </p:spPr>
      </p:pic>
      <p:sp>
        <p:nvSpPr>
          <p:cNvPr id="77" name="Text 61"/>
          <p:cNvSpPr txBox="1"/>
          <p:nvPr/>
        </p:nvSpPr>
        <p:spPr>
          <a:xfrm>
            <a:off x="8613419"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78" name="Image 13" descr="preencoded.png">    </p:cNvPr>
          <p:cNvPicPr>
            <a:picLocks noChangeAspect="1"/>
          </p:cNvPicPr>
          <p:nvPr/>
        </p:nvPicPr>
        <p:blipFill>
          <a:blip r:embed="rId14"/>
          <a:stretch>
            <a:fillRect/>
          </a:stretch>
        </p:blipFill>
        <p:spPr>
          <a:xfrm>
            <a:off x="9213266" y="5788152"/>
            <a:ext cx="182880" cy="182880"/>
          </a:xfrm>
          <a:prstGeom prst="rect">
            <a:avLst/>
          </a:prstGeom>
        </p:spPr>
      </p:pic>
      <p:sp>
        <p:nvSpPr>
          <p:cNvPr id="79" name="Text 62"/>
          <p:cNvSpPr txBox="1"/>
          <p:nvPr/>
        </p:nvSpPr>
        <p:spPr>
          <a:xfrm>
            <a:off x="9074277"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0" name="Image 14" descr="preencoded.png">    </p:cNvPr>
          <p:cNvPicPr>
            <a:picLocks noChangeAspect="1"/>
          </p:cNvPicPr>
          <p:nvPr/>
        </p:nvPicPr>
        <p:blipFill>
          <a:blip r:embed="rId15"/>
          <a:stretch>
            <a:fillRect/>
          </a:stretch>
        </p:blipFill>
        <p:spPr>
          <a:xfrm>
            <a:off x="9674123" y="5788152"/>
            <a:ext cx="182880" cy="182880"/>
          </a:xfrm>
          <a:prstGeom prst="rect">
            <a:avLst/>
          </a:prstGeom>
        </p:spPr>
      </p:pic>
      <p:sp>
        <p:nvSpPr>
          <p:cNvPr id="81" name="Text 63"/>
          <p:cNvSpPr txBox="1"/>
          <p:nvPr/>
        </p:nvSpPr>
        <p:spPr>
          <a:xfrm>
            <a:off x="953513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2" name="Image 15" descr="preencoded.png">    </p:cNvPr>
          <p:cNvPicPr>
            <a:picLocks noChangeAspect="1"/>
          </p:cNvPicPr>
          <p:nvPr/>
        </p:nvPicPr>
        <p:blipFill>
          <a:blip r:embed="rId16"/>
          <a:stretch>
            <a:fillRect/>
          </a:stretch>
        </p:blipFill>
        <p:spPr>
          <a:xfrm>
            <a:off x="10134981" y="5788152"/>
            <a:ext cx="182880" cy="182880"/>
          </a:xfrm>
          <a:prstGeom prst="rect">
            <a:avLst/>
          </a:prstGeom>
        </p:spPr>
      </p:pic>
      <p:sp>
        <p:nvSpPr>
          <p:cNvPr id="83" name="Text 64"/>
          <p:cNvSpPr txBox="1"/>
          <p:nvPr/>
        </p:nvSpPr>
        <p:spPr>
          <a:xfrm>
            <a:off x="9995992"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84" name="Image 16" descr="preencoded.png">    </p:cNvPr>
          <p:cNvPicPr>
            <a:picLocks noChangeAspect="1"/>
          </p:cNvPicPr>
          <p:nvPr/>
        </p:nvPicPr>
        <p:blipFill>
          <a:blip r:embed="rId17"/>
          <a:stretch>
            <a:fillRect/>
          </a:stretch>
        </p:blipFill>
        <p:spPr>
          <a:xfrm>
            <a:off x="10595839" y="5788152"/>
            <a:ext cx="182880" cy="182880"/>
          </a:xfrm>
          <a:prstGeom prst="rect">
            <a:avLst/>
          </a:prstGeom>
        </p:spPr>
      </p:pic>
      <p:sp>
        <p:nvSpPr>
          <p:cNvPr id="85" name="Text 65"/>
          <p:cNvSpPr txBox="1"/>
          <p:nvPr/>
        </p:nvSpPr>
        <p:spPr>
          <a:xfrm>
            <a:off x="10456850"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sp>
        <p:nvSpPr>
          <p:cNvPr id="86" name="Shape 66"/>
          <p:cNvSpPr/>
          <p:nvPr/>
        </p:nvSpPr>
        <p:spPr>
          <a:xfrm>
            <a:off x="8613419" y="1051560"/>
            <a:ext cx="2304288" cy="3255264"/>
          </a:xfrm>
          <a:prstGeom prst="rect">
            <a:avLst/>
          </a:prstGeom>
          <a:solidFill>
            <a:srgbClr val="1E293B">
              <a:alpha val="18000"/>
            </a:srgbClr>
          </a:solidFill>
          <a:ln/>
        </p:spPr>
      </p:sp>
      <p:sp>
        <p:nvSpPr>
          <p:cNvPr id="87" name="Shape 67"/>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88" name="Shape 68"/>
          <p:cNvSpPr/>
          <p:nvPr/>
        </p:nvSpPr>
        <p:spPr>
          <a:xfrm>
            <a:off x="9491243" y="4398264"/>
            <a:ext cx="548640" cy="45720"/>
          </a:xfrm>
          <a:prstGeom prst="roundRect">
            <a:avLst>
              <a:gd name="adj" fmla="val 50000"/>
            </a:avLst>
          </a:prstGeom>
          <a:solidFill>
            <a:srgbClr val="D5D9D3"/>
          </a:solidFill>
          <a:ln/>
        </p:spPr>
      </p:sp>
      <p:sp>
        <p:nvSpPr>
          <p:cNvPr id="89" name="Text 69"/>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0" name="Text 70"/>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Put issues above features when their scores tie.</a:t>
            </a:r>
            <a:endParaRPr lang="en-US" sz="900" dirty="0"/>
          </a:p>
        </p:txBody>
      </p:sp>
      <p:sp>
        <p:nvSpPr>
          <p:cNvPr id="91" name="Text 71"/>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2" name="Text 72"/>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3" name="Shape 73"/>
          <p:cNvSpPr/>
          <p:nvPr/>
        </p:nvSpPr>
        <p:spPr>
          <a:xfrm>
            <a:off x="8567699" y="1005840"/>
            <a:ext cx="2395728" cy="5303520"/>
          </a:xfrm>
          <a:prstGeom prst="roundRect">
            <a:avLst>
              <a:gd name="adj" fmla="val 11832"/>
            </a:avLst>
          </a:prstGeom>
          <a:ln w="91440">
            <a:solidFill>
              <a:srgbClr val="2F3E46"/>
            </a:solidFill>
            <a:prstDash val="solid"/>
          </a:ln>
        </p:spPr>
      </p:sp>
      <p:sp>
        <p:nvSpPr>
          <p:cNvPr id="94" name="Shape 74"/>
          <p:cNvSpPr/>
          <p:nvPr/>
        </p:nvSpPr>
        <p:spPr>
          <a:xfrm>
            <a:off x="9418091" y="1088136"/>
            <a:ext cx="694944" cy="128016"/>
          </a:xfrm>
          <a:prstGeom prst="roundRect">
            <a:avLst>
              <a:gd name="adj" fmla="val 50000"/>
            </a:avLst>
          </a:prstGeom>
          <a:solidFill>
            <a:srgbClr val="2F3E46"/>
          </a:solidFill>
          <a:ln/>
        </p:spPr>
      </p:sp>
      <p:sp>
        <p:nvSpPr>
          <p:cNvPr id="95" name="Text 75"/>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Graph completeness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guard</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2026-10-06T16:45:25Z</dcterms:created>
  <dcterms:modified xsi:type="dcterms:W3CDTF">2026-10-06T16:45:25Z</dcterms:modified>
</cp:coreProperties>
</file>