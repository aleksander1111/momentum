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Style: Terracotta Editorial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Style: Terracotta Editorial — mobile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20040" y="274320"/>
            <a:ext cx="3886200" cy="457200"/>
          </a:xfrm>
          <a:prstGeom prst="rect">
            <a:avLst/>
          </a:prstGeom>
          <a:solidFill>
            <a:srgbClr val="2F3E46"/>
          </a:solidFill>
          <a:ln/>
        </p:spPr>
        <p:txBody>
          <a:bodyPr wrap="square" lIns="177800" tIns="63500" rIns="17780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389120" y="274320"/>
            <a:ext cx="192024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 wrap="square" lIns="177800" tIns="63500" rIns="17780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20040" y="914400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projects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size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47088" y="98755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68" y="1056132"/>
            <a:ext cx="137160" cy="137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331720" y="914400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331720" y="914400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Explorer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browsing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search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navigation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858768" y="98755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48" y="1056132"/>
            <a:ext cx="137160" cy="1371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0040" y="2024482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320040" y="2024482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Rank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847088" y="209763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668" y="2166214"/>
            <a:ext cx="137160" cy="1371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331720" y="2024482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2331720" y="2024482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steering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launching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858768" y="209763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348" y="2166214"/>
            <a:ext cx="137160" cy="1371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0040" y="3134563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320040" y="3134563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issues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cost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duration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1847088" y="3207715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668" y="3276295"/>
            <a:ext cx="137160" cy="13716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2331720" y="3134563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2331720" y="3134563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extraction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extraction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extraction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858768" y="3207715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348" y="3276295"/>
            <a:ext cx="137160" cy="13716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320040" y="4244645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320040" y="4244645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deployment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1847088" y="4317797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5668" y="4386377"/>
            <a:ext cx="137160" cy="13716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2331720" y="4244645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34" name="Text 24"/>
          <p:cNvSpPr txBox="1"/>
          <p:nvPr/>
        </p:nvSpPr>
        <p:spPr>
          <a:xfrm>
            <a:off x="2331720" y="4244645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entry point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polling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results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858768" y="4317797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7348" y="4386377"/>
            <a:ext cx="137160" cy="13716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20040" y="5354726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38" name="Text 27"/>
          <p:cNvSpPr txBox="1"/>
          <p:nvPr/>
        </p:nvSpPr>
        <p:spPr>
          <a:xfrm>
            <a:off x="320040" y="5354726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Tools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capability access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UI-free control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1847088" y="542787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5668" y="5496458"/>
            <a:ext cx="137160" cy="13716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2331720" y="5354726"/>
            <a:ext cx="1874520" cy="1000354"/>
          </a:xfrm>
          <a:prstGeom prst="rect">
            <a:avLst/>
          </a:prstGeom>
          <a:solidFill>
            <a:srgbClr val="EEF1EC"/>
          </a:solidFill>
          <a:ln/>
        </p:spPr>
      </p:sp>
      <p:sp>
        <p:nvSpPr>
          <p:cNvPr id="42" name="Text 30"/>
          <p:cNvSpPr txBox="1"/>
          <p:nvPr/>
        </p:nvSpPr>
        <p:spPr>
          <a:xfrm>
            <a:off x="2331720" y="5354726"/>
            <a:ext cx="1527048" cy="1000354"/>
          </a:xfrm>
          <a:prstGeom prst="rect">
            <a:avLst/>
          </a:prstGeom>
          <a:noFill/>
          <a:ln/>
        </p:spPr>
        <p:txBody>
          <a:bodyPr wrap="square" lIns="101600" tIns="38100" rIns="76200" bIns="508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retrieval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context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context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traversal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3858768" y="542787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7348" y="5496458"/>
            <a:ext cx="137160" cy="13716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4389120" y="914400"/>
            <a:ext cx="7498080" cy="1828800"/>
          </a:xfrm>
          <a:prstGeom prst="rect">
            <a:avLst/>
          </a:prstGeom>
          <a:solidFill>
            <a:srgbClr val="F4DCD6"/>
          </a:solidFill>
          <a:ln/>
        </p:spPr>
      </p:sp>
      <p:sp>
        <p:nvSpPr>
          <p:cNvPr id="46" name="Text 33"/>
          <p:cNvSpPr txBox="1"/>
          <p:nvPr/>
        </p:nvSpPr>
        <p:spPr>
          <a:xfrm>
            <a:off x="1088136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0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300" dirty="0"/>
          </a:p>
        </p:txBody>
      </p:sp>
      <p:sp>
        <p:nvSpPr>
          <p:cNvPr id="47" name="Shape 34"/>
          <p:cNvSpPr/>
          <p:nvPr/>
        </p:nvSpPr>
        <p:spPr>
          <a:xfrm>
            <a:off x="4389120" y="2743200"/>
            <a:ext cx="7498080" cy="1143000"/>
          </a:xfrm>
          <a:prstGeom prst="rect">
            <a:avLst/>
          </a:prstGeom>
          <a:solidFill>
            <a:srgbClr val="EFE8D2"/>
          </a:solidFill>
          <a:ln/>
        </p:spPr>
      </p:sp>
      <p:sp>
        <p:nvSpPr>
          <p:cNvPr id="48" name="Text 35"/>
          <p:cNvSpPr txBox="1"/>
          <p:nvPr/>
        </p:nvSpPr>
        <p:spPr>
          <a:xfrm>
            <a:off x="10881360" y="3081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6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C6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300" dirty="0"/>
          </a:p>
        </p:txBody>
      </p:sp>
      <p:sp>
        <p:nvSpPr>
          <p:cNvPr id="49" name="Shape 36"/>
          <p:cNvSpPr/>
          <p:nvPr/>
        </p:nvSpPr>
        <p:spPr>
          <a:xfrm>
            <a:off x="4389120" y="3886200"/>
            <a:ext cx="7498080" cy="2468880"/>
          </a:xfrm>
          <a:prstGeom prst="rect">
            <a:avLst/>
          </a:prstGeom>
          <a:solidFill>
            <a:srgbClr val="DCE7DF"/>
          </a:solidFill>
          <a:ln/>
        </p:spPr>
      </p:sp>
      <p:sp>
        <p:nvSpPr>
          <p:cNvPr id="50" name="Text 37"/>
          <p:cNvSpPr txBox="1"/>
          <p:nvPr/>
        </p:nvSpPr>
        <p:spPr>
          <a:xfrm>
            <a:off x="108813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300" dirty="0"/>
          </a:p>
        </p:txBody>
      </p:sp>
      <p:sp>
        <p:nvSpPr>
          <p:cNvPr id="51" name="Shape 38"/>
          <p:cNvSpPr/>
          <p:nvPr/>
        </p:nvSpPr>
        <p:spPr>
          <a:xfrm>
            <a:off x="8138160" y="1627632"/>
            <a:ext cx="0" cy="4727448"/>
          </a:xfrm>
          <a:prstGeom prst="line">
            <a:avLst/>
          </a:prstGeom>
          <a:noFill/>
          <a:ln w="15875">
            <a:solidFill>
              <a:srgbClr val="B85042"/>
            </a:solidFill>
            <a:prstDash val="dash"/>
          </a:ln>
        </p:spPr>
      </p:sp>
      <p:sp>
        <p:nvSpPr>
          <p:cNvPr id="52" name="Text 39"/>
          <p:cNvSpPr txBox="1"/>
          <p:nvPr/>
        </p:nvSpPr>
        <p:spPr>
          <a:xfrm>
            <a:off x="6236208" y="1024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6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</a:t>
            </a:r>
            <a:endParaRPr lang="en-US" sz="120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9320" y="1069848"/>
            <a:ext cx="182880" cy="182880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9518904" y="1024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2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2016" y="1069848"/>
            <a:ext cx="182880" cy="18288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7360920" y="6400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border</a:t>
            </a:r>
            <a:endParaRPr lang="en-US" sz="1000" dirty="0"/>
          </a:p>
        </p:txBody>
      </p:sp>
      <p:sp>
        <p:nvSpPr>
          <p:cNvPr id="57" name="Shape 42"/>
          <p:cNvSpPr/>
          <p:nvPr/>
        </p:nvSpPr>
        <p:spPr>
          <a:xfrm>
            <a:off x="8138160" y="749808"/>
            <a:ext cx="0" cy="45720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58" name="Shape 43"/>
          <p:cNvSpPr/>
          <p:nvPr/>
        </p:nvSpPr>
        <p:spPr>
          <a:xfrm flipV="1">
            <a:off x="7423404" y="1627632"/>
            <a:ext cx="469392" cy="402336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59" name="Shape 44"/>
          <p:cNvSpPr/>
          <p:nvPr/>
        </p:nvSpPr>
        <p:spPr>
          <a:xfrm>
            <a:off x="8383524" y="1627632"/>
            <a:ext cx="469392" cy="402336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0" name="Shape 45"/>
          <p:cNvSpPr/>
          <p:nvPr/>
        </p:nvSpPr>
        <p:spPr>
          <a:xfrm flipV="1">
            <a:off x="6480126" y="2450592"/>
            <a:ext cx="527148" cy="649224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1" name="Shape 46"/>
          <p:cNvSpPr/>
          <p:nvPr/>
        </p:nvSpPr>
        <p:spPr>
          <a:xfrm>
            <a:off x="6949440" y="3310128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headEnd type="triangle"/>
            <a:tailEnd type="triangle"/>
          </a:ln>
        </p:spPr>
      </p:sp>
      <p:sp>
        <p:nvSpPr>
          <p:cNvPr id="62" name="Shape 47"/>
          <p:cNvSpPr/>
          <p:nvPr/>
        </p:nvSpPr>
        <p:spPr>
          <a:xfrm>
            <a:off x="8778240" y="3310128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headEnd type="triangle"/>
            <a:tailEnd type="triangle"/>
          </a:ln>
        </p:spPr>
      </p:sp>
      <p:sp>
        <p:nvSpPr>
          <p:cNvPr id="63" name="Shape 48"/>
          <p:cNvSpPr/>
          <p:nvPr/>
        </p:nvSpPr>
        <p:spPr>
          <a:xfrm>
            <a:off x="9269046" y="2450592"/>
            <a:ext cx="527148" cy="649224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4" name="Shape 49"/>
          <p:cNvSpPr/>
          <p:nvPr/>
        </p:nvSpPr>
        <p:spPr>
          <a:xfrm>
            <a:off x="10055203" y="3520440"/>
            <a:ext cx="943814" cy="2249424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5" name="Shape 50"/>
          <p:cNvSpPr/>
          <p:nvPr/>
        </p:nvSpPr>
        <p:spPr>
          <a:xfrm flipV="1">
            <a:off x="5277303" y="3520440"/>
            <a:ext cx="943814" cy="2249424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6" name="Shape 51"/>
          <p:cNvSpPr/>
          <p:nvPr/>
        </p:nvSpPr>
        <p:spPr>
          <a:xfrm flipH="1">
            <a:off x="7863840" y="4315968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7" name="Shape 52"/>
          <p:cNvSpPr/>
          <p:nvPr/>
        </p:nvSpPr>
        <p:spPr>
          <a:xfrm flipH="1">
            <a:off x="7863840" y="4718304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8" name="Shape 53"/>
          <p:cNvSpPr/>
          <p:nvPr/>
        </p:nvSpPr>
        <p:spPr>
          <a:xfrm flipH="1">
            <a:off x="7863840" y="5120640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69" name="Shape 54"/>
          <p:cNvSpPr/>
          <p:nvPr/>
        </p:nvSpPr>
        <p:spPr>
          <a:xfrm flipH="1">
            <a:off x="7863840" y="5522976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0" name="Shape 55"/>
          <p:cNvSpPr/>
          <p:nvPr/>
        </p:nvSpPr>
        <p:spPr>
          <a:xfrm flipH="1">
            <a:off x="7863840" y="5925312"/>
            <a:ext cx="54864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1" name="Shape 56"/>
          <p:cNvSpPr/>
          <p:nvPr/>
        </p:nvSpPr>
        <p:spPr>
          <a:xfrm>
            <a:off x="9601200" y="4315968"/>
            <a:ext cx="868680" cy="1609344"/>
          </a:xfrm>
          <a:custGeom>
            <a:avLst/>
            <a:gdLst/>
            <a:ahLst/>
            <a:cxnLst/>
            <a:rect l="l" t="t" r="r" b="b"/>
            <a:pathLst>
              <a:path w="868680" h="1609344">
                <a:moveTo>
                  <a:pt x="868680" y="1609344"/>
                </a:moveTo>
                <a:cubicBezTo>
                  <a:pt x="390906" y="1609344"/>
                  <a:pt x="477774" y="0"/>
                  <a:pt x="0" y="0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2" name="Shape 57"/>
          <p:cNvSpPr/>
          <p:nvPr/>
        </p:nvSpPr>
        <p:spPr>
          <a:xfrm>
            <a:off x="5806440" y="4315968"/>
            <a:ext cx="868680" cy="1609344"/>
          </a:xfrm>
          <a:custGeom>
            <a:avLst/>
            <a:gdLst/>
            <a:ahLst/>
            <a:cxnLst/>
            <a:rect l="l" t="t" r="r" b="b"/>
            <a:pathLst>
              <a:path w="868680" h="1609344">
                <a:moveTo>
                  <a:pt x="868680" y="0"/>
                </a:moveTo>
                <a:cubicBezTo>
                  <a:pt x="390906" y="0"/>
                  <a:pt x="477774" y="1609344"/>
                  <a:pt x="0" y="1609344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3" name="Shape 58"/>
          <p:cNvSpPr/>
          <p:nvPr/>
        </p:nvSpPr>
        <p:spPr>
          <a:xfrm>
            <a:off x="9601200" y="4718304"/>
            <a:ext cx="868680" cy="1207008"/>
          </a:xfrm>
          <a:custGeom>
            <a:avLst/>
            <a:gdLst/>
            <a:ahLst/>
            <a:cxnLst/>
            <a:rect l="l" t="t" r="r" b="b"/>
            <a:pathLst>
              <a:path w="868680" h="1207008">
                <a:moveTo>
                  <a:pt x="868680" y="1207008"/>
                </a:moveTo>
                <a:cubicBezTo>
                  <a:pt x="390906" y="1207008"/>
                  <a:pt x="477774" y="0"/>
                  <a:pt x="0" y="0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4" name="Shape 59"/>
          <p:cNvSpPr/>
          <p:nvPr/>
        </p:nvSpPr>
        <p:spPr>
          <a:xfrm>
            <a:off x="5806440" y="4718304"/>
            <a:ext cx="868680" cy="1207008"/>
          </a:xfrm>
          <a:custGeom>
            <a:avLst/>
            <a:gdLst/>
            <a:ahLst/>
            <a:cxnLst/>
            <a:rect l="l" t="t" r="r" b="b"/>
            <a:pathLst>
              <a:path w="868680" h="1207008">
                <a:moveTo>
                  <a:pt x="868680" y="0"/>
                </a:moveTo>
                <a:cubicBezTo>
                  <a:pt x="390906" y="0"/>
                  <a:pt x="477774" y="1207008"/>
                  <a:pt x="0" y="1207008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5" name="Shape 60"/>
          <p:cNvSpPr/>
          <p:nvPr/>
        </p:nvSpPr>
        <p:spPr>
          <a:xfrm>
            <a:off x="9601200" y="5120640"/>
            <a:ext cx="868680" cy="804672"/>
          </a:xfrm>
          <a:custGeom>
            <a:avLst/>
            <a:gdLst/>
            <a:ahLst/>
            <a:cxnLst/>
            <a:rect l="l" t="t" r="r" b="b"/>
            <a:pathLst>
              <a:path w="868680" h="804672">
                <a:moveTo>
                  <a:pt x="868680" y="804672"/>
                </a:moveTo>
                <a:cubicBezTo>
                  <a:pt x="390906" y="804672"/>
                  <a:pt x="477774" y="0"/>
                  <a:pt x="0" y="0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6" name="Shape 61"/>
          <p:cNvSpPr/>
          <p:nvPr/>
        </p:nvSpPr>
        <p:spPr>
          <a:xfrm>
            <a:off x="5806440" y="5120640"/>
            <a:ext cx="868680" cy="804672"/>
          </a:xfrm>
          <a:custGeom>
            <a:avLst/>
            <a:gdLst/>
            <a:ahLst/>
            <a:cxnLst/>
            <a:rect l="l" t="t" r="r" b="b"/>
            <a:pathLst>
              <a:path w="868680" h="804672">
                <a:moveTo>
                  <a:pt x="868680" y="0"/>
                </a:moveTo>
                <a:cubicBezTo>
                  <a:pt x="390906" y="0"/>
                  <a:pt x="477774" y="804672"/>
                  <a:pt x="0" y="804672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7" name="Shape 62"/>
          <p:cNvSpPr/>
          <p:nvPr/>
        </p:nvSpPr>
        <p:spPr>
          <a:xfrm>
            <a:off x="9601200" y="5522976"/>
            <a:ext cx="868680" cy="402336"/>
          </a:xfrm>
          <a:custGeom>
            <a:avLst/>
            <a:gdLst/>
            <a:ahLst/>
            <a:cxnLst/>
            <a:rect l="l" t="t" r="r" b="b"/>
            <a:pathLst>
              <a:path w="868680" h="402336">
                <a:moveTo>
                  <a:pt x="868680" y="402336"/>
                </a:moveTo>
                <a:cubicBezTo>
                  <a:pt x="390906" y="402336"/>
                  <a:pt x="477774" y="0"/>
                  <a:pt x="0" y="0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8" name="Shape 63"/>
          <p:cNvSpPr/>
          <p:nvPr/>
        </p:nvSpPr>
        <p:spPr>
          <a:xfrm>
            <a:off x="5806440" y="5522976"/>
            <a:ext cx="868680" cy="402336"/>
          </a:xfrm>
          <a:custGeom>
            <a:avLst/>
            <a:gdLst/>
            <a:ahLst/>
            <a:cxnLst/>
            <a:rect l="l" t="t" r="r" b="b"/>
            <a:pathLst>
              <a:path w="868680" h="402336">
                <a:moveTo>
                  <a:pt x="868680" y="0"/>
                </a:moveTo>
                <a:cubicBezTo>
                  <a:pt x="390906" y="0"/>
                  <a:pt x="477774" y="402336"/>
                  <a:pt x="0" y="402336"/>
                </a:cubicBezTo>
              </a:path>
            </a:pathLst>
          </a:custGeom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79" name="Shape 64"/>
          <p:cNvSpPr/>
          <p:nvPr/>
        </p:nvSpPr>
        <p:spPr>
          <a:xfrm flipH="1">
            <a:off x="9601200" y="5925312"/>
            <a:ext cx="86868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80" name="Shape 65"/>
          <p:cNvSpPr/>
          <p:nvPr/>
        </p:nvSpPr>
        <p:spPr>
          <a:xfrm flipH="1">
            <a:off x="5806440" y="5925312"/>
            <a:ext cx="868680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81" name="Text 66"/>
          <p:cNvSpPr txBox="1"/>
          <p:nvPr/>
        </p:nvSpPr>
        <p:spPr>
          <a:xfrm>
            <a:off x="7498080" y="1207008"/>
            <a:ext cx="1280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Feed</a:t>
            </a:r>
            <a:endParaRPr lang="en-US" sz="1050" dirty="0"/>
          </a:p>
        </p:txBody>
      </p:sp>
      <p:sp>
        <p:nvSpPr>
          <p:cNvPr id="82" name="Text 67"/>
          <p:cNvSpPr txBox="1"/>
          <p:nvPr/>
        </p:nvSpPr>
        <p:spPr>
          <a:xfrm>
            <a:off x="6537960" y="2029968"/>
            <a:ext cx="1280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Prioritizer</a:t>
            </a:r>
            <a:endParaRPr lang="en-US" sz="1050" dirty="0"/>
          </a:p>
        </p:txBody>
      </p:sp>
      <p:sp>
        <p:nvSpPr>
          <p:cNvPr id="83" name="Text 68"/>
          <p:cNvSpPr txBox="1"/>
          <p:nvPr/>
        </p:nvSpPr>
        <p:spPr>
          <a:xfrm>
            <a:off x="8458200" y="2029968"/>
            <a:ext cx="1280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84" name="Text 69"/>
          <p:cNvSpPr txBox="1"/>
          <p:nvPr/>
        </p:nvSpPr>
        <p:spPr>
          <a:xfrm>
            <a:off x="5669280" y="3099816"/>
            <a:ext cx="1280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</a:t>
            </a:r>
            <a:endParaRPr lang="en-US" sz="1050" dirty="0"/>
          </a:p>
        </p:txBody>
      </p:sp>
      <p:sp>
        <p:nvSpPr>
          <p:cNvPr id="85" name="Text 70"/>
          <p:cNvSpPr txBox="1"/>
          <p:nvPr/>
        </p:nvSpPr>
        <p:spPr>
          <a:xfrm>
            <a:off x="7498080" y="3099816"/>
            <a:ext cx="1280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Gate</a:t>
            </a:r>
            <a:endParaRPr lang="en-US" sz="1050" dirty="0"/>
          </a:p>
        </p:txBody>
      </p:sp>
      <p:sp>
        <p:nvSpPr>
          <p:cNvPr id="86" name="Text 71"/>
          <p:cNvSpPr txBox="1"/>
          <p:nvPr/>
        </p:nvSpPr>
        <p:spPr>
          <a:xfrm>
            <a:off x="9326880" y="3099816"/>
            <a:ext cx="1280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50" dirty="0"/>
          </a:p>
        </p:txBody>
      </p:sp>
      <p:sp>
        <p:nvSpPr>
          <p:cNvPr id="87" name="Shape 72"/>
          <p:cNvSpPr/>
          <p:nvPr/>
        </p:nvSpPr>
        <p:spPr>
          <a:xfrm>
            <a:off x="6675120" y="4160520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  <a:prstDash val="solid"/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</p:sp>
      <p:pic>
        <p:nvPicPr>
          <p:cNvPr id="8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4939" y="4238244"/>
            <a:ext cx="155448" cy="155448"/>
          </a:xfrm>
          <a:prstGeom prst="rect">
            <a:avLst/>
          </a:prstGeom>
        </p:spPr>
      </p:pic>
      <p:sp>
        <p:nvSpPr>
          <p:cNvPr id="89" name="Text 73"/>
          <p:cNvSpPr txBox="1"/>
          <p:nvPr/>
        </p:nvSpPr>
        <p:spPr>
          <a:xfrm>
            <a:off x="7244395" y="4160520"/>
            <a:ext cx="406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</p:txBody>
      </p:sp>
      <p:sp>
        <p:nvSpPr>
          <p:cNvPr id="90" name="Shape 74"/>
          <p:cNvSpPr/>
          <p:nvPr/>
        </p:nvSpPr>
        <p:spPr>
          <a:xfrm>
            <a:off x="6675120" y="4562856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  <a:prstDash val="solid"/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</p:sp>
      <p:pic>
        <p:nvPicPr>
          <p:cNvPr id="9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96" y="4640580"/>
            <a:ext cx="155448" cy="155448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7268052" y="4562856"/>
            <a:ext cx="35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93" name="Shape 76"/>
          <p:cNvSpPr/>
          <p:nvPr/>
        </p:nvSpPr>
        <p:spPr>
          <a:xfrm>
            <a:off x="6675120" y="4965192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  <a:prstDash val="solid"/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</p:sp>
      <p:pic>
        <p:nvPicPr>
          <p:cNvPr id="9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7268" y="5042916"/>
            <a:ext cx="155448" cy="155448"/>
          </a:xfrm>
          <a:prstGeom prst="rect">
            <a:avLst/>
          </a:prstGeom>
        </p:spPr>
      </p:pic>
      <p:sp>
        <p:nvSpPr>
          <p:cNvPr id="95" name="Text 77"/>
          <p:cNvSpPr txBox="1"/>
          <p:nvPr/>
        </p:nvSpPr>
        <p:spPr>
          <a:xfrm>
            <a:off x="7186724" y="4965192"/>
            <a:ext cx="5221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96" name="Shape 78"/>
          <p:cNvSpPr/>
          <p:nvPr/>
        </p:nvSpPr>
        <p:spPr>
          <a:xfrm>
            <a:off x="6675120" y="5367528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  <a:prstDash val="solid"/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1960" y="5445252"/>
            <a:ext cx="155448" cy="155448"/>
          </a:xfrm>
          <a:prstGeom prst="rect">
            <a:avLst/>
          </a:prstGeom>
        </p:spPr>
      </p:pic>
      <p:sp>
        <p:nvSpPr>
          <p:cNvPr id="98" name="Text 79"/>
          <p:cNvSpPr txBox="1"/>
          <p:nvPr/>
        </p:nvSpPr>
        <p:spPr>
          <a:xfrm>
            <a:off x="7281416" y="5367528"/>
            <a:ext cx="3327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000" dirty="0"/>
          </a:p>
        </p:txBody>
      </p:sp>
      <p:sp>
        <p:nvSpPr>
          <p:cNvPr id="99" name="Shape 80"/>
          <p:cNvSpPr/>
          <p:nvPr/>
        </p:nvSpPr>
        <p:spPr>
          <a:xfrm>
            <a:off x="6675120" y="5769864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  <a:prstDash val="solid"/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</p:sp>
      <p:pic>
        <p:nvPicPr>
          <p:cNvPr id="10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0137" y="5847588"/>
            <a:ext cx="155448" cy="155448"/>
          </a:xfrm>
          <a:prstGeom prst="rect">
            <a:avLst/>
          </a:prstGeom>
        </p:spPr>
      </p:pic>
      <p:sp>
        <p:nvSpPr>
          <p:cNvPr id="101" name="Text 81"/>
          <p:cNvSpPr txBox="1"/>
          <p:nvPr/>
        </p:nvSpPr>
        <p:spPr>
          <a:xfrm>
            <a:off x="7159593" y="5769864"/>
            <a:ext cx="576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000" dirty="0"/>
          </a:p>
        </p:txBody>
      </p:sp>
      <p:sp>
        <p:nvSpPr>
          <p:cNvPr id="102" name="Text 82"/>
          <p:cNvSpPr txBox="1"/>
          <p:nvPr/>
        </p:nvSpPr>
        <p:spPr>
          <a:xfrm>
            <a:off x="8412480" y="4160520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000" dirty="0"/>
          </a:p>
        </p:txBody>
      </p:sp>
      <p:sp>
        <p:nvSpPr>
          <p:cNvPr id="103" name="Text 83"/>
          <p:cNvSpPr txBox="1"/>
          <p:nvPr/>
        </p:nvSpPr>
        <p:spPr>
          <a:xfrm>
            <a:off x="8412480" y="4562856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104" name="Text 84"/>
          <p:cNvSpPr txBox="1"/>
          <p:nvPr/>
        </p:nvSpPr>
        <p:spPr>
          <a:xfrm>
            <a:off x="8412480" y="4965192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05" name="Text 85"/>
          <p:cNvSpPr txBox="1"/>
          <p:nvPr/>
        </p:nvSpPr>
        <p:spPr>
          <a:xfrm>
            <a:off x="8412480" y="5367528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06" name="Text 86"/>
          <p:cNvSpPr txBox="1"/>
          <p:nvPr/>
        </p:nvSpPr>
        <p:spPr>
          <a:xfrm>
            <a:off x="8412480" y="5769864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07" name="Text 87"/>
          <p:cNvSpPr txBox="1"/>
          <p:nvPr/>
        </p:nvSpPr>
        <p:spPr>
          <a:xfrm>
            <a:off x="4617720" y="5769864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1000" dirty="0"/>
          </a:p>
        </p:txBody>
      </p:sp>
      <p:sp>
        <p:nvSpPr>
          <p:cNvPr id="108" name="Text 88"/>
          <p:cNvSpPr txBox="1"/>
          <p:nvPr/>
        </p:nvSpPr>
        <p:spPr>
          <a:xfrm>
            <a:off x="10469880" y="5769864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  <a:effectLst>
            <a:outerShdw sx="100000" sy="100000" kx="0" ky="0" algn="bl" rotWithShape="0" blurRad="38100" dist="19050" dir="5400000">
              <a:srgbClr val="1E293B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109" name="Shape 89"/>
          <p:cNvSpPr/>
          <p:nvPr/>
        </p:nvSpPr>
        <p:spPr>
          <a:xfrm>
            <a:off x="7255764" y="6144768"/>
            <a:ext cx="27432" cy="27432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0" name="Shape 90"/>
          <p:cNvSpPr/>
          <p:nvPr/>
        </p:nvSpPr>
        <p:spPr>
          <a:xfrm>
            <a:off x="7255764" y="6190488"/>
            <a:ext cx="27432" cy="27432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1" name="Shape 91"/>
          <p:cNvSpPr/>
          <p:nvPr/>
        </p:nvSpPr>
        <p:spPr>
          <a:xfrm>
            <a:off x="7255764" y="6236208"/>
            <a:ext cx="27432" cy="27432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2" name="Shape 92"/>
          <p:cNvSpPr/>
          <p:nvPr/>
        </p:nvSpPr>
        <p:spPr>
          <a:xfrm>
            <a:off x="8993124" y="6144768"/>
            <a:ext cx="27432" cy="27432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3" name="Shape 93"/>
          <p:cNvSpPr/>
          <p:nvPr/>
        </p:nvSpPr>
        <p:spPr>
          <a:xfrm>
            <a:off x="8993124" y="6190488"/>
            <a:ext cx="27432" cy="27432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4" name="Shape 94"/>
          <p:cNvSpPr/>
          <p:nvPr/>
        </p:nvSpPr>
        <p:spPr>
          <a:xfrm>
            <a:off x="8993124" y="6236208"/>
            <a:ext cx="27432" cy="27432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5" name="Shape 95"/>
          <p:cNvSpPr/>
          <p:nvPr/>
        </p:nvSpPr>
        <p:spPr>
          <a:xfrm>
            <a:off x="8028432" y="73152"/>
            <a:ext cx="219456" cy="219456"/>
          </a:xfrm>
          <a:prstGeom prst="ellipse">
            <a:avLst/>
          </a:prstGeom>
          <a:solidFill>
            <a:srgbClr val="2F3E46"/>
          </a:solidFill>
          <a:ln/>
        </p:spPr>
      </p:sp>
      <p:sp>
        <p:nvSpPr>
          <p:cNvPr id="116" name="Text 96"/>
          <p:cNvSpPr txBox="1"/>
          <p:nvPr/>
        </p:nvSpPr>
        <p:spPr>
          <a:xfrm>
            <a:off x="7882128" y="320040"/>
            <a:ext cx="512064" cy="429768"/>
          </a:xfrm>
          <a:prstGeom prst="roundRect">
            <a:avLst>
              <a:gd name="adj" fmla="val 34043"/>
            </a:avLst>
          </a:prstGeom>
          <a:solidFill>
            <a:srgbClr val="2F3E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20040" y="274320"/>
            <a:ext cx="3886200" cy="457200"/>
          </a:xfrm>
          <a:prstGeom prst="rect">
            <a:avLst/>
          </a:prstGeom>
          <a:solidFill>
            <a:srgbClr val="2F3E46"/>
          </a:solidFill>
          <a:ln/>
        </p:spPr>
        <p:txBody>
          <a:bodyPr wrap="square" lIns="177800" tIns="63500" rIns="17780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182548" y="960120"/>
            <a:ext cx="2487168" cy="5394960"/>
          </a:xfrm>
          <a:prstGeom prst="roundRect">
            <a:avLst>
              <a:gd name="adj" fmla="val 13235"/>
            </a:avLst>
          </a:prstGeom>
          <a:solidFill>
            <a:srgbClr val="F7F5F0"/>
          </a:solidFill>
          <a:ln/>
          <a:effectLst>
            <a:outerShdw sx="100000" sy="100000" kx="0" ky="0" algn="bl" rotWithShape="0" blurRad="152400" dist="50800" dir="5400000">
              <a:srgbClr val="1E293B">
                <a:alpha val="2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47140" y="1289304"/>
            <a:ext cx="2157984" cy="433425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5D9D3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475156" y="1417320"/>
            <a:ext cx="190195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·  momentum</a:t>
            </a:r>
            <a:endParaRPr lang="en-US" sz="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guard on every change</a:t>
            </a:r>
            <a:endParaRPr lang="en-US" sz="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every change in the knowledge base so it stays consistent at all times, despite free access.</a:t>
            </a:r>
            <a:endParaRPr lang="en-US" sz="800" dirty="0"/>
          </a:p>
          <a:p>
            <a:pPr marL="127000" indent="-127000">
              <a:spcBef>
                <a:spcPts val="8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changes into a transaction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summary limits and references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what it cannot fix as an issue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index and metrics database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005508" y="4443984"/>
            <a:ext cx="155448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91308" y="4443984"/>
            <a:ext cx="155448" cy="0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26132" y="4626864"/>
            <a:ext cx="0" cy="310896"/>
          </a:xfrm>
          <a:prstGeom prst="line">
            <a:avLst/>
          </a:prstGeom>
          <a:noFill/>
          <a:ln w="12700">
            <a:solidFill>
              <a:srgbClr val="2F3E46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1475156" y="4261104"/>
            <a:ext cx="5303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160956" y="4261104"/>
            <a:ext cx="5303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846756" y="4261104"/>
            <a:ext cx="5303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line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2160956" y="4937760"/>
            <a:ext cx="5303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F3E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273988" y="5696712"/>
            <a:ext cx="2304288" cy="566928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273988" y="5696712"/>
            <a:ext cx="2304288" cy="0"/>
          </a:xfrm>
          <a:prstGeom prst="line">
            <a:avLst/>
          </a:prstGeom>
          <a:noFill/>
          <a:ln w="9525">
            <a:solidFill>
              <a:srgbClr val="D5D9D3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977" y="5788152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73988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34" y="578815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4845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7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692" y="5788152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195703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549" y="578815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656561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407" y="578815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117418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1228268" y="1005840"/>
            <a:ext cx="2395728" cy="5303520"/>
          </a:xfrm>
          <a:prstGeom prst="roundRect">
            <a:avLst>
              <a:gd name="adj" fmla="val 11832"/>
            </a:avLst>
          </a:prstGeom>
          <a:ln w="91440">
            <a:solidFill>
              <a:srgbClr val="2F3E46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2078660" y="1088136"/>
            <a:ext cx="694944" cy="128016"/>
          </a:xfrm>
          <a:prstGeom prst="roundRect">
            <a:avLst>
              <a:gd name="adj" fmla="val 50000"/>
            </a:avLst>
          </a:prstGeom>
          <a:solidFill>
            <a:srgbClr val="2F3E46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816788" y="64008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852264" y="960120"/>
            <a:ext cx="2487168" cy="5394960"/>
          </a:xfrm>
          <a:prstGeom prst="roundRect">
            <a:avLst>
              <a:gd name="adj" fmla="val 13235"/>
            </a:avLst>
          </a:prstGeom>
          <a:solidFill>
            <a:srgbClr val="F7F5F0"/>
          </a:solidFill>
          <a:ln/>
          <a:effectLst>
            <a:outerShdw sx="100000" sy="100000" kx="0" ky="0" algn="bl" rotWithShape="0" blurRad="152400" dist="50800" dir="5400000">
              <a:srgbClr val="1E293B">
                <a:alpha val="2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943704" y="1051560"/>
            <a:ext cx="2304288" cy="4645152"/>
          </a:xfrm>
          <a:prstGeom prst="rect">
            <a:avLst/>
          </a:prstGeom>
          <a:solidFill>
            <a:srgbClr val="DCE7DF"/>
          </a:solidFill>
          <a:ln/>
        </p:spPr>
      </p:sp>
      <p:sp>
        <p:nvSpPr>
          <p:cNvPr id="31" name="Shape 23"/>
          <p:cNvSpPr/>
          <p:nvPr/>
        </p:nvSpPr>
        <p:spPr>
          <a:xfrm rot="150000">
            <a:off x="5053432" y="1289304"/>
            <a:ext cx="2157984" cy="433425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5D9D3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6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 rot="150000">
            <a:off x="5221333" y="1418190"/>
            <a:ext cx="190195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 ·  momentum</a:t>
            </a:r>
            <a:endParaRPr lang="en-US" sz="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access over a private mesh</a:t>
            </a:r>
            <a:endParaRPr lang="en-US" sz="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 is exposed to the public internet; clients reach the machine through a WireGuard mesh.</a:t>
            </a:r>
            <a:endParaRPr lang="en-US" sz="800" dirty="0"/>
          </a:p>
          <a:p>
            <a:pPr marL="127000" indent="-127000">
              <a:spcBef>
                <a:spcPts val="8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listens only on the mesh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per enrolled device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devices revoked centrally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secret in clients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 rot="150000">
            <a:off x="5142952" y="4187409"/>
            <a:ext cx="658368" cy="274320"/>
          </a:xfrm>
          <a:prstGeom prst="rect">
            <a:avLst/>
          </a:prstGeom>
          <a:solidFill>
            <a:srgbClr val="EEF1EC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 rot="150000">
            <a:off x="5800414" y="4228890"/>
            <a:ext cx="1243584" cy="274320"/>
          </a:xfrm>
          <a:prstGeom prst="rect">
            <a:avLst/>
          </a:prstGeom>
          <a:solidFill>
            <a:srgbClr val="EEF1EC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 rot="150000">
            <a:off x="5130986" y="4461468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 rot="150000">
            <a:off x="5788449" y="4502949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850" dirty="0"/>
          </a:p>
        </p:txBody>
      </p:sp>
      <p:sp>
        <p:nvSpPr>
          <p:cNvPr id="37" name="Text 29"/>
          <p:cNvSpPr txBox="1"/>
          <p:nvPr/>
        </p:nvSpPr>
        <p:spPr>
          <a:xfrm rot="150000">
            <a:off x="5119020" y="4735527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38" name="Text 30"/>
          <p:cNvSpPr txBox="1"/>
          <p:nvPr/>
        </p:nvSpPr>
        <p:spPr>
          <a:xfrm rot="150000">
            <a:off x="5776483" y="4777008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session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 rot="150000">
            <a:off x="5107055" y="5009586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850" dirty="0"/>
          </a:p>
        </p:txBody>
      </p:sp>
      <p:sp>
        <p:nvSpPr>
          <p:cNvPr id="40" name="Text 32"/>
          <p:cNvSpPr txBox="1"/>
          <p:nvPr/>
        </p:nvSpPr>
        <p:spPr>
          <a:xfrm rot="150000">
            <a:off x="5764517" y="5051067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inbound firewall rule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 rot="21150000">
            <a:off x="5171067" y="37477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3F6B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299703" y="3823915"/>
            <a:ext cx="566928" cy="0"/>
          </a:xfrm>
          <a:prstGeom prst="line">
            <a:avLst/>
          </a:prstGeom>
          <a:noFill/>
          <a:ln w="25400">
            <a:solidFill>
              <a:srgbClr val="2F3E46">
                <a:alpha val="85000"/>
              </a:srgbClr>
            </a:solidFill>
            <a:prstDash val="solid"/>
            <a:tailEnd type="triangle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479" y="3869635"/>
            <a:ext cx="237744" cy="237744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4943704" y="5696712"/>
            <a:ext cx="2304288" cy="566928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5" name="Shape 36"/>
          <p:cNvSpPr/>
          <p:nvPr/>
        </p:nvSpPr>
        <p:spPr>
          <a:xfrm>
            <a:off x="4943704" y="5696712"/>
            <a:ext cx="2304288" cy="0"/>
          </a:xfrm>
          <a:prstGeom prst="line">
            <a:avLst/>
          </a:prstGeom>
          <a:noFill/>
          <a:ln w="9525">
            <a:solidFill>
              <a:srgbClr val="D5D9D3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2692" y="5788152"/>
            <a:ext cx="182880" cy="18288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4943704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7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3550" y="5788152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5404561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7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4408" y="5788152"/>
            <a:ext cx="182880" cy="18288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5865419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5265" y="5788152"/>
            <a:ext cx="182880" cy="18288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6326276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0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6123" y="5788152"/>
            <a:ext cx="182880" cy="18288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6787134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700" dirty="0"/>
          </a:p>
        </p:txBody>
      </p:sp>
      <p:sp>
        <p:nvSpPr>
          <p:cNvPr id="56" name="Shape 42"/>
          <p:cNvSpPr/>
          <p:nvPr/>
        </p:nvSpPr>
        <p:spPr>
          <a:xfrm>
            <a:off x="4897984" y="1005840"/>
            <a:ext cx="2395728" cy="5303520"/>
          </a:xfrm>
          <a:prstGeom prst="roundRect">
            <a:avLst>
              <a:gd name="adj" fmla="val 11832"/>
            </a:avLst>
          </a:prstGeom>
          <a:ln w="91440">
            <a:solidFill>
              <a:srgbClr val="2F3E46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5748376" y="1088136"/>
            <a:ext cx="694944" cy="128016"/>
          </a:xfrm>
          <a:prstGeom prst="roundRect">
            <a:avLst>
              <a:gd name="adj" fmla="val 50000"/>
            </a:avLst>
          </a:prstGeom>
          <a:solidFill>
            <a:srgbClr val="2F3E46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4486504" y="64008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to approve</a:t>
            </a:r>
            <a:endParaRPr lang="en-US" sz="1000" dirty="0"/>
          </a:p>
        </p:txBody>
      </p:sp>
      <p:sp>
        <p:nvSpPr>
          <p:cNvPr id="59" name="Shape 45"/>
          <p:cNvSpPr/>
          <p:nvPr/>
        </p:nvSpPr>
        <p:spPr>
          <a:xfrm>
            <a:off x="8521979" y="960120"/>
            <a:ext cx="2487168" cy="5394960"/>
          </a:xfrm>
          <a:prstGeom prst="roundRect">
            <a:avLst>
              <a:gd name="adj" fmla="val 13235"/>
            </a:avLst>
          </a:prstGeom>
          <a:solidFill>
            <a:srgbClr val="F7F5F0"/>
          </a:solidFill>
          <a:ln/>
          <a:effectLst>
            <a:outerShdw sx="100000" sy="100000" kx="0" ky="0" algn="bl" rotWithShape="0" blurRad="152400" dist="50800" dir="5400000">
              <a:srgbClr val="1E293B">
                <a:alpha val="22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8613419" y="1051560"/>
            <a:ext cx="2304288" cy="4645152"/>
          </a:xfrm>
          <a:prstGeom prst="rect">
            <a:avLst/>
          </a:prstGeom>
          <a:solidFill>
            <a:srgbClr val="F4DCD6"/>
          </a:solidFill>
          <a:ln/>
        </p:spPr>
      </p:sp>
      <p:sp>
        <p:nvSpPr>
          <p:cNvPr id="61" name="Shape 47"/>
          <p:cNvSpPr/>
          <p:nvPr/>
        </p:nvSpPr>
        <p:spPr>
          <a:xfrm rot="21450000">
            <a:off x="8649995" y="1289304"/>
            <a:ext cx="2157984" cy="4334256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5D9D3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6000"/>
              </a:srgbClr>
            </a:outerShdw>
          </a:effectLst>
        </p:spPr>
      </p:sp>
      <p:sp>
        <p:nvSpPr>
          <p:cNvPr id="62" name="Text 48"/>
          <p:cNvSpPr txBox="1"/>
          <p:nvPr/>
        </p:nvSpPr>
        <p:spPr>
          <a:xfrm rot="21450000">
            <a:off x="8738126" y="1418190"/>
            <a:ext cx="190195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 ·  momentum</a:t>
            </a:r>
            <a:endParaRPr lang="en-US" sz="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feed ranking</a:t>
            </a:r>
            <a:endParaRPr lang="en-US" sz="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what should be done right now so the product ends up the best it can be.</a:t>
            </a:r>
            <a:endParaRPr lang="en-US" sz="800" dirty="0"/>
          </a:p>
          <a:p>
            <a:pPr marL="127000" indent="-127000">
              <a:spcBef>
                <a:spcPts val="8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 across enabled projects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summaries of any type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priority</a:t>
            </a:r>
            <a:endParaRPr lang="en-US" sz="800" dirty="0"/>
          </a:p>
          <a:p>
            <a:pPr marL="127000" indent="-127000">
              <a:spcBef>
                <a:spcPts val="300"/>
              </a:spcBef>
              <a:buSzPct val="100000"/>
              <a:buChar char="•"/>
            </a:pPr>
            <a:r>
              <a:rPr lang="en-US" sz="9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from the index</a:t>
            </a:r>
            <a:endParaRPr lang="en-US" sz="800" dirty="0"/>
          </a:p>
        </p:txBody>
      </p:sp>
      <p:sp>
        <p:nvSpPr>
          <p:cNvPr id="63" name="Text 49"/>
          <p:cNvSpPr txBox="1"/>
          <p:nvPr/>
        </p:nvSpPr>
        <p:spPr>
          <a:xfrm rot="21450000">
            <a:off x="8817691" y="4241653"/>
            <a:ext cx="658368" cy="274320"/>
          </a:xfrm>
          <a:prstGeom prst="rect">
            <a:avLst/>
          </a:prstGeom>
          <a:solidFill>
            <a:srgbClr val="EEF1EC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850" dirty="0"/>
          </a:p>
        </p:txBody>
      </p:sp>
      <p:sp>
        <p:nvSpPr>
          <p:cNvPr id="64" name="Text 50"/>
          <p:cNvSpPr txBox="1"/>
          <p:nvPr/>
        </p:nvSpPr>
        <p:spPr>
          <a:xfrm rot="21450000">
            <a:off x="9475154" y="4200172"/>
            <a:ext cx="1243584" cy="274320"/>
          </a:xfrm>
          <a:prstGeom prst="rect">
            <a:avLst/>
          </a:prstGeom>
          <a:solidFill>
            <a:srgbClr val="EEF1EC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850" dirty="0"/>
          </a:p>
        </p:txBody>
      </p:sp>
      <p:sp>
        <p:nvSpPr>
          <p:cNvPr id="65" name="Text 51"/>
          <p:cNvSpPr txBox="1"/>
          <p:nvPr/>
        </p:nvSpPr>
        <p:spPr>
          <a:xfrm rot="21450000">
            <a:off x="8829657" y="4515712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66" name="Text 52"/>
          <p:cNvSpPr txBox="1"/>
          <p:nvPr/>
        </p:nvSpPr>
        <p:spPr>
          <a:xfrm rot="21450000">
            <a:off x="9487120" y="4474231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product</a:t>
            </a:r>
            <a:endParaRPr lang="en-US" sz="850" dirty="0"/>
          </a:p>
        </p:txBody>
      </p:sp>
      <p:sp>
        <p:nvSpPr>
          <p:cNvPr id="67" name="Text 53"/>
          <p:cNvSpPr txBox="1"/>
          <p:nvPr/>
        </p:nvSpPr>
        <p:spPr>
          <a:xfrm rot="21450000">
            <a:off x="8841622" y="4789771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50" dirty="0"/>
          </a:p>
        </p:txBody>
      </p:sp>
      <p:sp>
        <p:nvSpPr>
          <p:cNvPr id="68" name="Text 54"/>
          <p:cNvSpPr txBox="1"/>
          <p:nvPr/>
        </p:nvSpPr>
        <p:spPr>
          <a:xfrm rot="21450000">
            <a:off x="9499085" y="4748290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timeline</a:t>
            </a:r>
            <a:endParaRPr lang="en-US" sz="850" dirty="0"/>
          </a:p>
        </p:txBody>
      </p:sp>
      <p:sp>
        <p:nvSpPr>
          <p:cNvPr id="69" name="Text 55"/>
          <p:cNvSpPr txBox="1"/>
          <p:nvPr/>
        </p:nvSpPr>
        <p:spPr>
          <a:xfrm rot="21450000">
            <a:off x="8853588" y="5063830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</a:t>
            </a:r>
            <a:endParaRPr lang="en-US" sz="850" dirty="0"/>
          </a:p>
        </p:txBody>
      </p:sp>
      <p:sp>
        <p:nvSpPr>
          <p:cNvPr id="70" name="Text 56"/>
          <p:cNvSpPr txBox="1"/>
          <p:nvPr/>
        </p:nvSpPr>
        <p:spPr>
          <a:xfrm rot="21450000">
            <a:off x="9511051" y="5022349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3"/>
            </a:solidFill>
          </a:ln>
        </p:spPr>
        <p:txBody>
          <a:bodyPr wrap="square" lIns="0" tIns="63500" rIns="635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unlocks</a:t>
            </a:r>
            <a:endParaRPr lang="en-US" sz="850" dirty="0"/>
          </a:p>
        </p:txBody>
      </p:sp>
      <p:sp>
        <p:nvSpPr>
          <p:cNvPr id="71" name="Text 57"/>
          <p:cNvSpPr txBox="1"/>
          <p:nvPr/>
        </p:nvSpPr>
        <p:spPr>
          <a:xfrm rot="450000">
            <a:off x="9684504" y="37477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A040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A0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DISAPPROVE</a:t>
            </a:r>
            <a:endParaRPr lang="en-US" sz="1000" dirty="0"/>
          </a:p>
        </p:txBody>
      </p:sp>
      <p:sp>
        <p:nvSpPr>
          <p:cNvPr id="72" name="Shape 58"/>
          <p:cNvSpPr/>
          <p:nvPr/>
        </p:nvSpPr>
        <p:spPr>
          <a:xfrm flipH="1">
            <a:off x="8994780" y="3823915"/>
            <a:ext cx="566928" cy="0"/>
          </a:xfrm>
          <a:prstGeom prst="line">
            <a:avLst/>
          </a:prstGeom>
          <a:noFill/>
          <a:ln w="25400">
            <a:solidFill>
              <a:srgbClr val="2F3E46">
                <a:alpha val="85000"/>
              </a:srgbClr>
            </a:solidFill>
            <a:prstDash val="solid"/>
            <a:tailEnd type="triangle"/>
          </a:ln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48476" y="3869635"/>
            <a:ext cx="237744" cy="237744"/>
          </a:xfrm>
          <a:prstGeom prst="rect">
            <a:avLst/>
          </a:prstGeom>
        </p:spPr>
      </p:pic>
      <p:sp>
        <p:nvSpPr>
          <p:cNvPr id="74" name="Shape 59"/>
          <p:cNvSpPr/>
          <p:nvPr/>
        </p:nvSpPr>
        <p:spPr>
          <a:xfrm>
            <a:off x="8613419" y="5696712"/>
            <a:ext cx="2304288" cy="566928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75" name="Shape 60"/>
          <p:cNvSpPr/>
          <p:nvPr/>
        </p:nvSpPr>
        <p:spPr>
          <a:xfrm>
            <a:off x="8613419" y="5696712"/>
            <a:ext cx="2304288" cy="0"/>
          </a:xfrm>
          <a:prstGeom prst="line">
            <a:avLst/>
          </a:prstGeom>
          <a:noFill/>
          <a:ln w="9525">
            <a:solidFill>
              <a:srgbClr val="D5D9D3"/>
            </a:solidFill>
            <a:prstDash val="solid"/>
          </a:ln>
        </p:spPr>
      </p:sp>
      <p:pic>
        <p:nvPicPr>
          <p:cNvPr id="7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2408" y="5788152"/>
            <a:ext cx="182880" cy="182880"/>
          </a:xfrm>
          <a:prstGeom prst="rect">
            <a:avLst/>
          </a:prstGeom>
        </p:spPr>
      </p:pic>
      <p:sp>
        <p:nvSpPr>
          <p:cNvPr id="77" name="Text 61"/>
          <p:cNvSpPr txBox="1"/>
          <p:nvPr/>
        </p:nvSpPr>
        <p:spPr>
          <a:xfrm>
            <a:off x="8613419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700" dirty="0"/>
          </a:p>
        </p:txBody>
      </p:sp>
      <p:pic>
        <p:nvPicPr>
          <p:cNvPr id="7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13266" y="5788152"/>
            <a:ext cx="182880" cy="182880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9074277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700" dirty="0"/>
          </a:p>
        </p:txBody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4123" y="5788152"/>
            <a:ext cx="182880" cy="182880"/>
          </a:xfrm>
          <a:prstGeom prst="rect">
            <a:avLst/>
          </a:prstGeom>
        </p:spPr>
      </p:pic>
      <p:sp>
        <p:nvSpPr>
          <p:cNvPr id="81" name="Text 63"/>
          <p:cNvSpPr txBox="1"/>
          <p:nvPr/>
        </p:nvSpPr>
        <p:spPr>
          <a:xfrm>
            <a:off x="9535135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00" dirty="0"/>
          </a:p>
        </p:txBody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34981" y="5788152"/>
            <a:ext cx="182880" cy="182880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9995992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00" dirty="0"/>
          </a:p>
        </p:txBody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95839" y="5788152"/>
            <a:ext cx="182880" cy="182880"/>
          </a:xfrm>
          <a:prstGeom prst="rect">
            <a:avLst/>
          </a:prstGeom>
        </p:spPr>
      </p:pic>
      <p:sp>
        <p:nvSpPr>
          <p:cNvPr id="85" name="Text 65"/>
          <p:cNvSpPr txBox="1"/>
          <p:nvPr/>
        </p:nvSpPr>
        <p:spPr>
          <a:xfrm>
            <a:off x="10456850" y="5989320"/>
            <a:ext cx="46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700" dirty="0"/>
          </a:p>
        </p:txBody>
      </p:sp>
      <p:sp>
        <p:nvSpPr>
          <p:cNvPr id="86" name="Shape 66"/>
          <p:cNvSpPr/>
          <p:nvPr/>
        </p:nvSpPr>
        <p:spPr>
          <a:xfrm>
            <a:off x="8613419" y="1051560"/>
            <a:ext cx="2304288" cy="3255264"/>
          </a:xfrm>
          <a:prstGeom prst="rect">
            <a:avLst/>
          </a:prstGeom>
          <a:solidFill>
            <a:srgbClr val="1E293B">
              <a:alpha val="18000"/>
            </a:srgbClr>
          </a:solidFill>
          <a:ln/>
        </p:spPr>
      </p:sp>
      <p:sp>
        <p:nvSpPr>
          <p:cNvPr id="87" name="Shape 67"/>
          <p:cNvSpPr/>
          <p:nvPr/>
        </p:nvSpPr>
        <p:spPr>
          <a:xfrm>
            <a:off x="8613419" y="4306824"/>
            <a:ext cx="2304288" cy="2029968"/>
          </a:xfrm>
          <a:prstGeom prst="roundRect">
            <a:avLst>
              <a:gd name="adj" fmla="val 11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1E293B">
                <a:alpha val="20000"/>
              </a:srgbClr>
            </a:outerShdw>
          </a:effectLst>
        </p:spPr>
      </p:sp>
      <p:sp>
        <p:nvSpPr>
          <p:cNvPr id="88" name="Shape 68"/>
          <p:cNvSpPr/>
          <p:nvPr/>
        </p:nvSpPr>
        <p:spPr>
          <a:xfrm>
            <a:off x="9491243" y="4398264"/>
            <a:ext cx="548640" cy="45720"/>
          </a:xfrm>
          <a:prstGeom prst="roundRect">
            <a:avLst>
              <a:gd name="adj" fmla="val 50000"/>
            </a:avLst>
          </a:prstGeom>
          <a:solidFill>
            <a:srgbClr val="D5D9D3"/>
          </a:solidFill>
          <a:ln/>
        </p:spPr>
      </p:sp>
      <p:sp>
        <p:nvSpPr>
          <p:cNvPr id="89" name="Text 69"/>
          <p:cNvSpPr txBox="1"/>
          <p:nvPr/>
        </p:nvSpPr>
        <p:spPr>
          <a:xfrm>
            <a:off x="8778011" y="45079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Disapprove</a:t>
            </a:r>
            <a:endParaRPr lang="en-US" sz="1300" dirty="0"/>
          </a:p>
        </p:txBody>
      </p:sp>
      <p:sp>
        <p:nvSpPr>
          <p:cNvPr id="90" name="Text 70"/>
          <p:cNvSpPr txBox="1"/>
          <p:nvPr/>
        </p:nvSpPr>
        <p:spPr>
          <a:xfrm>
            <a:off x="8778011" y="4983480"/>
            <a:ext cx="1975104" cy="566928"/>
          </a:xfrm>
          <a:prstGeom prst="roundRect">
            <a:avLst>
              <a:gd name="adj" fmla="val 12903"/>
            </a:avLst>
          </a:prstGeom>
          <a:solidFill>
            <a:srgbClr val="F7F5F0"/>
          </a:solidFill>
          <a:ln w="12700">
            <a:solidFill>
              <a:srgbClr val="B85042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the Importance Rank instead: dependencies, stability, performance, priority and velocity.</a:t>
            </a:r>
            <a:endParaRPr lang="en-US" sz="900" dirty="0"/>
          </a:p>
        </p:txBody>
      </p:sp>
      <p:sp>
        <p:nvSpPr>
          <p:cNvPr id="91" name="Text 71"/>
          <p:cNvSpPr txBox="1"/>
          <p:nvPr/>
        </p:nvSpPr>
        <p:spPr>
          <a:xfrm>
            <a:off x="8778011" y="5660136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3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000" dirty="0"/>
          </a:p>
        </p:txBody>
      </p:sp>
      <p:sp>
        <p:nvSpPr>
          <p:cNvPr id="92" name="Text 72"/>
          <p:cNvSpPr txBox="1"/>
          <p:nvPr/>
        </p:nvSpPr>
        <p:spPr>
          <a:xfrm>
            <a:off x="9820427" y="5660136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</a:t>
            </a:r>
            <a:endParaRPr lang="en-US" sz="1000" dirty="0"/>
          </a:p>
        </p:txBody>
      </p:sp>
      <p:sp>
        <p:nvSpPr>
          <p:cNvPr id="93" name="Shape 73"/>
          <p:cNvSpPr/>
          <p:nvPr/>
        </p:nvSpPr>
        <p:spPr>
          <a:xfrm>
            <a:off x="8567699" y="1005840"/>
            <a:ext cx="2395728" cy="5303520"/>
          </a:xfrm>
          <a:prstGeom prst="roundRect">
            <a:avLst>
              <a:gd name="adj" fmla="val 11832"/>
            </a:avLst>
          </a:prstGeom>
          <a:ln w="91440">
            <a:solidFill>
              <a:srgbClr val="2F3E46"/>
            </a:solidFill>
            <a:prstDash val="solid"/>
          </a:ln>
        </p:spPr>
      </p:sp>
      <p:sp>
        <p:nvSpPr>
          <p:cNvPr id="94" name="Shape 74"/>
          <p:cNvSpPr/>
          <p:nvPr/>
        </p:nvSpPr>
        <p:spPr>
          <a:xfrm>
            <a:off x="9418091" y="1088136"/>
            <a:ext cx="694944" cy="128016"/>
          </a:xfrm>
          <a:prstGeom prst="roundRect">
            <a:avLst>
              <a:gd name="adj" fmla="val 50000"/>
            </a:avLst>
          </a:prstGeom>
          <a:solidFill>
            <a:srgbClr val="2F3E46"/>
          </a:solidFill>
          <a:ln/>
        </p:spPr>
      </p:sp>
      <p:sp>
        <p:nvSpPr>
          <p:cNvPr id="95" name="Text 75"/>
          <p:cNvSpPr txBox="1"/>
          <p:nvPr/>
        </p:nvSpPr>
        <p:spPr>
          <a:xfrm>
            <a:off x="8156219" y="640080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 to disapprove with a comment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&amp; Products</dc:title>
  <dc:subject>PptxGenJS Presentation</dc:subject>
  <dc:creator>PptxGenJS</dc:creator>
  <cp:lastModifiedBy>PptxGenJS</cp:lastModifiedBy>
  <cp:revision>1</cp:revision>
  <dcterms:created xsi:type="dcterms:W3CDTF">2026-09-30T11:19:21Z</dcterms:created>
  <dcterms:modified xsi:type="dcterms:W3CDTF">2026-09-30T11:19:21Z</dcterms:modified>
</cp:coreProperties>
</file>